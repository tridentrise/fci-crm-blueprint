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463040"/>
            <a:ext cx="4572000" cy="4572000"/>
          </a:xfrm>
          <a:prstGeom prst="ellipse">
            <a:avLst/>
          </a:prstGeom>
          <a:solidFill>
            <a:srgbClr val="1D4ED8">
              <a:alpha val="40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200400" cy="3200400"/>
          </a:xfrm>
          <a:prstGeom prst="ellipse">
            <a:avLst/>
          </a:prstGeom>
          <a:solidFill>
            <a:srgbClr val="1D4ED8">
              <a:alpha val="30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spc="1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FCI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640080" y="184708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CYBERSECURITY FOR FINANCIAL SERVICES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267712"/>
            <a:ext cx="1280160" cy="228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231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enforced.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proven.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way financial firms actually work.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fcicyber.com   ·   SOC 2 Type 1   ·   100% SecurityScorecard   ·   30+ Years Financial Services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firms operate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differently from every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industry.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2395728"/>
            <a:ext cx="4023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advisors work from independent offices. Your agents operate through field networks you do not own. Your registered reps use devices your IT team has never touched.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expect proof that controls reach all of them. Most firms cannot produce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749808"/>
            <a:ext cx="39319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0" y="749808"/>
            <a:ext cx="64008" cy="135331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4920" y="9326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gap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074920" y="126187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consistent view of devices, users, and access across branch offices and BYOD environments.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0" y="2231136"/>
            <a:ext cx="39319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2231136"/>
            <a:ext cx="64008" cy="135331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24140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gap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74920" y="27432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and audit documentation built by hand, weeks before the regulator arrives — never fully ready.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46320" y="3712464"/>
            <a:ext cx="39319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3712464"/>
            <a:ext cx="64008" cy="135331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389534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gap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074920" y="422452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policies exist on paper. Controls are not consistently deployed to every endpoint.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STAKES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regulatory and insurance landscape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tightening — fast.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2651760" cy="2560320"/>
          </a:xfrm>
          <a:prstGeom prst="rect">
            <a:avLst/>
          </a:prstGeom>
          <a:solidFill>
            <a:srgbClr val="1D4ED8">
              <a:alpha val="7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148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85800" y="2816352"/>
            <a:ext cx="640080" cy="228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2926080"/>
            <a:ext cx="2331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S-P amendments require documented cybersecurity programs and incident response procedures for every registered investment adviser.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55848" y="2011680"/>
            <a:ext cx="2651760" cy="2560320"/>
          </a:xfrm>
          <a:prstGeom prst="rect">
            <a:avLst/>
          </a:prstGeom>
          <a:solidFill>
            <a:srgbClr val="1D4ED8">
              <a:alpha val="7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38728" y="2148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FINRA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3538728" y="2816352"/>
            <a:ext cx="640080" cy="228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2926080"/>
            <a:ext cx="2331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exams now routinely request evidence of MFA, endpoint controls, VPN enforcement, and BYOD policy for every rep location.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08776" y="2011680"/>
            <a:ext cx="2651760" cy="2560320"/>
          </a:xfrm>
          <a:prstGeom prst="rect">
            <a:avLst/>
          </a:prstGeom>
          <a:solidFill>
            <a:srgbClr val="1D4ED8">
              <a:alpha val="7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91656" y="2148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NAIC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391656" y="2816352"/>
            <a:ext cx="640080" cy="228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2926080"/>
            <a:ext cx="2331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Data Security Model Law is adopted in 20+ states. Carriers and agencies must document controls for every appointed agent.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FCI'S ANSWER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financial firms need. All three, delivered together.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1508760"/>
            <a:ext cx="272491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508760"/>
            <a:ext cx="272491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756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25877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to every device, every user, every location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127248"/>
            <a:ext cx="2331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MFA, Always-On VPN, Zero Trust access, and endpoint protection deployed automatically across your entire distributed network — including BYOD, home offices, and branch locations you do not own.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325112"/>
            <a:ext cx="233172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43251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40,000+ endpoints under management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508760"/>
            <a:ext cx="272491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508760"/>
            <a:ext cx="272491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1691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01568" y="20756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401568" y="25877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documentation, built continuously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01568" y="3127248"/>
            <a:ext cx="2331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CISO Portal assembles your compliance evidence in real time — mapped to what SEC, FINRA, NYDFS, and NAIC examiners actually ask for. You open the portal. The documentation is there.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01568" y="4325112"/>
            <a:ext cx="233172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43251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faster implementation via CISO Portal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53328" y="1508760"/>
            <a:ext cx="272491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53328" y="1508760"/>
            <a:ext cx="272491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54496" y="1691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54496" y="20756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254496" y="25877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24x7 human-led detection and response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54496" y="3127248"/>
            <a:ext cx="2331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security operations center watches every endpoint around the clock. When something is detected, trained analysts respond — not just automated alerts. Every incident is documented for your records.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54496" y="4325112"/>
            <a:ext cx="233172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27648" y="43251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1 · 100% SecurityScorecard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FCI manages the full lifecycle — discovery to evidence.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993392" y="1709928"/>
            <a:ext cx="219456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1298448"/>
            <a:ext cx="822960" cy="8229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29844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7472" y="228600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05256" y="2651760"/>
            <a:ext cx="54864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2761488"/>
            <a:ext cx="16642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every device, user, and access path across your field network. Most firms discover unknown exposure on day one.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03320" y="1709928"/>
            <a:ext cx="219456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78024" y="1298448"/>
            <a:ext cx="822960" cy="8229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78024" y="129844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57400" y="228600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615184" y="2651760"/>
            <a:ext cx="54864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57400" y="2761488"/>
            <a:ext cx="16642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NIST CSF-mapped controls: MFA, VPN, endpoint protection, Zero Trust access, and email security — automatically.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13248" y="1709928"/>
            <a:ext cx="219456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87952" y="1298448"/>
            <a:ext cx="822960" cy="8229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87952" y="129844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767328" y="228600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325112" y="2651760"/>
            <a:ext cx="54864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67328" y="2761488"/>
            <a:ext cx="16642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24x7 SOC watches every endpoint for threats and policy violations. Human analysts review alerts and respond.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23176" y="1709928"/>
            <a:ext cx="219456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97880" y="1298448"/>
            <a:ext cx="822960" cy="8229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29844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77256" y="228600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035040" y="2651760"/>
            <a:ext cx="54864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77256" y="2761488"/>
            <a:ext cx="16642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logged and stored in the CISO Portal — mapped to SEC, FINRA, NYDFS, and NAIC frameworks.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607808" y="1298448"/>
            <a:ext cx="822960" cy="8229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07808" y="129844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187184" y="228600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744968" y="2651760"/>
            <a:ext cx="54864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87184" y="2761488"/>
            <a:ext cx="16642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examiner asks for evidence, you open the portal and show a complete, audit-ready compliance record.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ADVANTAGE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CISO Portal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compliance evidence is assembled manually — spreadsheets, screenshots, exported logs, stitched together under exam pressure.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FCI's CISO Portal assembles it continuously, as a byproduct of the managed service itself. When an examiner asks for your cybersecurity documentation, the answer takes minutes, not weeks.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950208"/>
            <a:ext cx="1920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400507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44074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implementation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3950208"/>
            <a:ext cx="1920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97480" y="400507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97480" y="44074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monthly management time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92040" y="1444752"/>
            <a:ext cx="19933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1444752"/>
            <a:ext cx="45720" cy="7132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499616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endpoint visibility dashboard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76872" y="1444752"/>
            <a:ext cx="19933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76872" y="1444752"/>
            <a:ext cx="45720" cy="7132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14032" y="1499616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 control status — always current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92040" y="2295144"/>
            <a:ext cx="19933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2295144"/>
            <a:ext cx="45720" cy="7132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350008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SEC, FINRA, NYDFS, and NAIC framework mapping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76872" y="2295144"/>
            <a:ext cx="19933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76872" y="2295144"/>
            <a:ext cx="45720" cy="7132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14032" y="2350008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evidence package — one click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92040" y="3145536"/>
            <a:ext cx="19933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3145536"/>
            <a:ext cx="45720" cy="7132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320040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insurance renewal documentation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976872" y="3145536"/>
            <a:ext cx="19933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76872" y="3145536"/>
            <a:ext cx="45720" cy="7132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14032" y="320040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log and response timeline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92040" y="3995928"/>
            <a:ext cx="19933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3995928"/>
            <a:ext cx="45720" cy="7132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4050792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due diligence file (SOC 2, SecurityScorecard)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976872" y="3995928"/>
            <a:ext cx="19933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976872" y="3995928"/>
            <a:ext cx="45720" cy="7132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14032" y="4050792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enforcement and exception tracking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SERVE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firms with distributed field operations.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1417320"/>
            <a:ext cx="272491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17320"/>
            <a:ext cx="2724912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8132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Investment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Advisers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30352" y="2395728"/>
            <a:ext cx="237744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9572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 · SEC · FINRA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2743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contact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30352" y="2944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 principals, CCOs, and operations leaders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0352" y="33375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for them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30352" y="3538728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advisors keep their workflow. Your compliance team gets the exam evidence. Your clients never know there was a threat.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0" y="1417320"/>
            <a:ext cx="272491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417320"/>
            <a:ext cx="2724912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48132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Broker-Dealers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3383280" y="2395728"/>
            <a:ext cx="237744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1568" y="239572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FINRA · SEC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83280" y="2743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contact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83280" y="2944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CCOs and supervision officers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83280" y="33375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for them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83280" y="3538728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FCI enforces controls across your entire rep network and builds the FINRA and SEC exam documentation while your reps are working.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53328" y="1417320"/>
            <a:ext cx="272491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53328" y="1417320"/>
            <a:ext cx="2724912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148132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Carriers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Agencies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236208" y="2395728"/>
            <a:ext cx="237744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239572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NAIC · NYDFS · State Regulators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36208" y="2743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contact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236208" y="2944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and compliance leaders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36208" y="33375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for them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36208" y="3538728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FCI produces the documentation your insurer expects — continuously, before a claim is ever filed.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financial firms choose FCI over a generic MSSP.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1417320"/>
            <a:ext cx="3931920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generic managed security provider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416052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28032" y="14173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FCI — built for financial field compliance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7472" y="196596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0253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financial services as one vertical among many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965960"/>
            <a:ext cx="416052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965960"/>
            <a:ext cx="54864" cy="548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00253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Exclusively serves financial services for 30+ years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2560320"/>
            <a:ext cx="393192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9689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awareness of distributed field office risk model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560320"/>
            <a:ext cx="416052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560320"/>
            <a:ext cx="54864" cy="548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59689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operationally for BYOD, remote reps, and field agencies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" y="315468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19125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compliance mappings, not exam-specific artifacts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3154680"/>
            <a:ext cx="416052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3154680"/>
            <a:ext cx="54864" cy="548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19125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 Portal produces SEC, FINRA, NYDFS, and NAIC evidence continuously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" y="3749040"/>
            <a:ext cx="393192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8561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preparation is your team's problem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749040"/>
            <a:ext cx="416052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749040"/>
            <a:ext cx="54864" cy="548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78561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documentation assembles itself as a byproduct of the service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7472" y="434340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37997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insurance questionnaires filled out independently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4343400"/>
            <a:ext cx="416052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4343400"/>
            <a:ext cx="54864" cy="548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437997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documentation pre-formatted to carrier questionnaire structure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years of operational proof — not marketing claims.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146304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63040"/>
            <a:ext cx="201168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627632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-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40,000+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93776" y="2304288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management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87168" y="146304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87168" y="1463040"/>
            <a:ext cx="201168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33472" y="1627632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-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33472" y="2304288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serving financial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exclusively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146304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1463040"/>
            <a:ext cx="201168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1627632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-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773168" y="2304288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implementation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CISO Portal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146304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1463040"/>
            <a:ext cx="201168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12864" y="1627632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-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912864" y="2304288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monthly compliance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time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364992"/>
            <a:ext cx="2743200" cy="1426464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" y="3364992"/>
            <a:ext cx="27432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51129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1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48640" y="396849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Certified. Controls independently verified by external auditor.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91256" y="3364992"/>
            <a:ext cx="2743200" cy="1426464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91256" y="3364992"/>
            <a:ext cx="27432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92424" y="351129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SecurityScorecard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3392424" y="396849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rating across all security risk categories.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3364992"/>
            <a:ext cx="2743200" cy="1426464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3364992"/>
            <a:ext cx="27432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36208" y="351129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 Aligned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236208" y="396849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control mapped to the NIST Cybersecurity Framework.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0"/>
            <a:ext cx="4206240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1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advisors will not</a:t>
            </a:r>
            <a:endParaRPr lang="en-US" sz="3300" dirty="0"/>
          </a:p>
          <a:p>
            <a:pPr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difference.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examiner will.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109728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71246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3968496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30-minute Risk Assessment.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57800" y="4754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RECEIVE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257800" y="82296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30-minute assessment, you will receive: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257800" y="1545336"/>
            <a:ext cx="109728" cy="1097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1453896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 of your current field exposure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57800" y="2121408"/>
            <a:ext cx="109728" cy="1097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2029968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exam readiness gap analysis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257800" y="2697480"/>
            <a:ext cx="109728" cy="1097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2606040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FINRA, SEC, or NAIC items at risk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257800" y="3273552"/>
            <a:ext cx="109728" cy="1097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3182112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recommended control priority list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57800" y="3849624"/>
            <a:ext cx="109728" cy="1097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3758184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of your CISO Portal evidence view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57800" y="4389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fcicyber.com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2D6B"/>
          </a:solidFill>
          <a:ln w="12700">
            <a:solidFill>
              <a:srgbClr val="162D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1 Certified   ·   100% SecurityScorecard   ·   30+ Years Financial Services   ·   SEC · FINRA · NYDFS · NAIC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728B7CB0AB0F44AD07F77726D618CF" ma:contentTypeVersion="18" ma:contentTypeDescription="Create a new document." ma:contentTypeScope="" ma:versionID="d64584f67956fb6c7123727cde55f32d">
  <xsd:schema xmlns:xsd="http://www.w3.org/2001/XMLSchema" xmlns:xs="http://www.w3.org/2001/XMLSchema" xmlns:p="http://schemas.microsoft.com/office/2006/metadata/properties" xmlns:ns2="702a17bc-2da2-4fb7-a4fb-c10936b8d7de" xmlns:ns3="7e81ff0a-7b47-4573-8501-a4583f78be9e" targetNamespace="http://schemas.microsoft.com/office/2006/metadata/properties" ma:root="true" ma:fieldsID="7e724edce0b58e36071777a41bee58bd" ns2:_="" ns3:_="">
    <xsd:import namespace="702a17bc-2da2-4fb7-a4fb-c10936b8d7de"/>
    <xsd:import namespace="7e81ff0a-7b47-4573-8501-a4583f78be9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2a17bc-2da2-4fb7-a4fb-c10936b8d7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18a034fc-6895-452d-a915-0a000c850d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81ff0a-7b47-4573-8501-a4583f78be9e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9d230236-568f-48c0-ac19-1179709fa75a}" ma:internalName="TaxCatchAll" ma:showField="CatchAllData" ma:web="7e81ff0a-7b47-4573-8501-a4583f78be9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02a17bc-2da2-4fb7-a4fb-c10936b8d7de">
      <Terms xmlns="http://schemas.microsoft.com/office/infopath/2007/PartnerControls"/>
    </lcf76f155ced4ddcb4097134ff3c332f>
    <TaxCatchAll xmlns="7e81ff0a-7b47-4573-8501-a4583f78be9e" xsi:nil="true"/>
  </documentManagement>
</p:properties>
</file>

<file path=customXml/itemProps1.xml><?xml version="1.0" encoding="utf-8"?>
<ds:datastoreItem xmlns:ds="http://schemas.openxmlformats.org/officeDocument/2006/customXml" ds:itemID="{3C6FB25E-2CA7-4EA4-BD33-428BB2595C44}"/>
</file>

<file path=customXml/itemProps2.xml><?xml version="1.0" encoding="utf-8"?>
<ds:datastoreItem xmlns:ds="http://schemas.openxmlformats.org/officeDocument/2006/customXml" ds:itemID="{0E8547B0-411D-47AD-A981-DA06B204121A}"/>
</file>

<file path=customXml/itemProps3.xml><?xml version="1.0" encoding="utf-8"?>
<ds:datastoreItem xmlns:ds="http://schemas.openxmlformats.org/officeDocument/2006/customXml" ds:itemID="{E40A5CF1-5A6C-4B0A-8472-557A80C3A40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FCI — Executive Overview</dc:title>
  <dc:subject>Managed Cybersecurity for Financial Services</dc:subject>
  <dc:creator>FCI</dc:creator>
  <cp:lastModifiedBy>FCI</cp:lastModifiedBy>
  <cp:revision>1</cp:revision>
  <dcterms:created xsi:type="dcterms:W3CDTF">2026-03-27T13:23:03Z</dcterms:created>
  <dcterms:modified xsi:type="dcterms:W3CDTF">2026-03-27T13:23:03Z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0x01010029728B7CB0AB0F44AD07F77726D618CF</vt:lpwstr>
  </property>
</Properties>
</file>