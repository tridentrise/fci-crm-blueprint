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679"/>
  </p:normalViewPr>
  <p:slideViewPr>
    <p:cSldViewPr snapToGrid="0">
      <p:cViewPr>
        <p:scale>
          <a:sx n="230" d="100"/>
          <a:sy n="230" d="100"/>
        </p:scale>
        <p:origin x="840" y="-2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2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7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8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7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5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4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6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1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8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9D48F-F3DF-F149-B151-0E0E574F4A9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49E37-EA7A-914D-8318-0A147B21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0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0451-CBB4-AFB8-047C-D353CABB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1FDBD-748F-178A-02E0-86D541892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2400" b="1" dirty="0"/>
              <a:t>Portal Architecture and Demo Environment</a:t>
            </a:r>
            <a:endParaRPr lang="en-US" sz="3200" dirty="0"/>
          </a:p>
          <a:p>
            <a:r>
              <a:rPr lang="en-US" sz="2400" b="1" dirty="0"/>
              <a:t>Comprehensive demo environment</a:t>
            </a:r>
            <a:r>
              <a:rPr lang="en-US" sz="2400" dirty="0"/>
              <a:t> designed specifically for audit-only clients with sophisticated fake data management that automatically updates date fields to maintain realistic device check-in status (00:00)</a:t>
            </a:r>
            <a:endParaRPr lang="en-US" sz="5400" dirty="0"/>
          </a:p>
          <a:p>
            <a:pPr lvl="1"/>
            <a:r>
              <a:rPr lang="en-US" dirty="0"/>
              <a:t>Addresses previous </a:t>
            </a:r>
            <a:r>
              <a:rPr lang="en-US" b="1" dirty="0" err="1"/>
              <a:t>BrightGauge</a:t>
            </a:r>
            <a:r>
              <a:rPr lang="en-US" b="1" dirty="0"/>
              <a:t> limitations</a:t>
            </a:r>
            <a:r>
              <a:rPr lang="en-US" dirty="0"/>
              <a:t> where stale fake data caused gauge malfunctions and unrealistic presentations</a:t>
            </a:r>
            <a:endParaRPr lang="en-US" sz="3600" dirty="0"/>
          </a:p>
          <a:p>
            <a:pPr lvl="1"/>
            <a:r>
              <a:rPr lang="en-US" b="1" dirty="0"/>
              <a:t>Dynamic data refresh system</a:t>
            </a:r>
            <a:r>
              <a:rPr lang="en-US" dirty="0"/>
              <a:t> ensures devices appear to check in regularly, maintaining gauge functionality for realistic client demonstrations</a:t>
            </a:r>
            <a:endParaRPr lang="en-US" sz="3600" dirty="0"/>
          </a:p>
          <a:p>
            <a:pPr lvl="1"/>
            <a:r>
              <a:rPr lang="en-US" b="1" dirty="0"/>
              <a:t>Separate maintenance protocol</a:t>
            </a:r>
            <a:r>
              <a:rPr lang="en-US" dirty="0"/>
              <a:t> established specifically for demo environment to ensure consistent performance during client presentations</a:t>
            </a:r>
            <a:endParaRPr lang="en-US" sz="3600" dirty="0"/>
          </a:p>
          <a:p>
            <a:pPr lvl="1"/>
            <a:r>
              <a:rPr lang="en-US" b="1" dirty="0"/>
              <a:t>Client type flexibility</a:t>
            </a:r>
            <a:r>
              <a:rPr lang="en-US" dirty="0"/>
              <a:t> allows switching between audit-only (ACME core) and enforcement clients to demonstrate different implementation stages</a:t>
            </a:r>
            <a:endParaRPr lang="en-US" sz="3600" dirty="0"/>
          </a:p>
          <a:p>
            <a:r>
              <a:rPr lang="en-US" sz="2400" b="1" dirty="0"/>
              <a:t>Compliance Management and Risk Assessment Framework</a:t>
            </a:r>
            <a:endParaRPr lang="en-US" sz="3200" dirty="0"/>
          </a:p>
          <a:p>
            <a:r>
              <a:rPr lang="en-US" sz="2400" b="1" dirty="0"/>
              <a:t>Risk-based alert categorization</a:t>
            </a:r>
            <a:r>
              <a:rPr lang="en-US" sz="2400" dirty="0"/>
              <a:t> system presents security issues in </a:t>
            </a:r>
            <a:r>
              <a:rPr lang="en-US" sz="2400" b="1" dirty="0"/>
              <a:t>high risk, informational, and low risk</a:t>
            </a:r>
            <a:r>
              <a:rPr lang="en-US" sz="2400" dirty="0"/>
              <a:t> categories with most critical items automatically prioritized at top (03:33)</a:t>
            </a:r>
            <a:endParaRPr lang="en-US" sz="5400" dirty="0"/>
          </a:p>
          <a:p>
            <a:pPr lvl="1"/>
            <a:r>
              <a:rPr lang="en-US" b="1" dirty="0"/>
              <a:t>28 compliance alerts</a:t>
            </a:r>
            <a:r>
              <a:rPr lang="en-US" dirty="0"/>
              <a:t> currently displayed for demo client, matching previous </a:t>
            </a:r>
            <a:r>
              <a:rPr lang="en-US" dirty="0" err="1"/>
              <a:t>BrightGauge</a:t>
            </a:r>
            <a:r>
              <a:rPr lang="en-US" dirty="0"/>
              <a:t> coverage but with enhanced presentation format</a:t>
            </a:r>
            <a:endParaRPr lang="en-US" sz="3600" dirty="0"/>
          </a:p>
          <a:p>
            <a:pPr lvl="1"/>
            <a:r>
              <a:rPr lang="en-US" b="1" dirty="0"/>
              <a:t>100% compliance target</a:t>
            </a:r>
            <a:r>
              <a:rPr lang="en-US" dirty="0"/>
              <a:t> established as goal, though </a:t>
            </a:r>
            <a:r>
              <a:rPr lang="en-US" b="1" dirty="0"/>
              <a:t>95-98% compliance</a:t>
            </a:r>
            <a:r>
              <a:rPr lang="en-US" dirty="0"/>
              <a:t> generally acceptable for regulatory purposes in enterprise environments with 800+ devices</a:t>
            </a:r>
            <a:endParaRPr lang="en-US" sz="3600" dirty="0"/>
          </a:p>
          <a:p>
            <a:pPr lvl="1"/>
            <a:r>
              <a:rPr lang="en-US" b="1" dirty="0"/>
              <a:t>Educational hover functionality</a:t>
            </a:r>
            <a:r>
              <a:rPr lang="en-US" dirty="0"/>
              <a:t> provides detailed explanations for each alert type, accommodating security officers with varying technical expertise levels</a:t>
            </a:r>
            <a:endParaRPr lang="en-US" sz="3600" dirty="0"/>
          </a:p>
          <a:p>
            <a:pPr lvl="1"/>
            <a:r>
              <a:rPr lang="en-US" b="1" dirty="0"/>
              <a:t>Contextual information system</a:t>
            </a:r>
            <a:r>
              <a:rPr lang="en-US" dirty="0"/>
              <a:t> explains what each alert monitors, why it's important, and potential business impact</a:t>
            </a:r>
            <a:endParaRPr lang="en-US" sz="3600" dirty="0"/>
          </a:p>
          <a:p>
            <a:r>
              <a:rPr lang="en-US" sz="2400" b="1" dirty="0"/>
              <a:t>Advanced filtering capabilities</a:t>
            </a:r>
            <a:r>
              <a:rPr lang="en-US" sz="2400" dirty="0"/>
              <a:t> dramatically improve actionable intelligence and compliance reporting accuracy (06:40)</a:t>
            </a:r>
            <a:endParaRPr lang="en-US" sz="5400" dirty="0"/>
          </a:p>
          <a:p>
            <a:pPr lvl="1"/>
            <a:r>
              <a:rPr lang="en-US" b="1" dirty="0"/>
              <a:t>Active device filtering</a:t>
            </a:r>
            <a:r>
              <a:rPr lang="en-US" dirty="0"/>
              <a:t> removes devices inactive for 6+ months, improving compliance percentages from problematic ranges to </a:t>
            </a:r>
            <a:r>
              <a:rPr lang="en-US" b="1" dirty="0"/>
              <a:t>98-100%</a:t>
            </a:r>
            <a:r>
              <a:rPr lang="en-US" dirty="0"/>
              <a:t> for actionable devices</a:t>
            </a:r>
            <a:endParaRPr lang="en-US" sz="3600" dirty="0"/>
          </a:p>
          <a:p>
            <a:pPr lvl="1"/>
            <a:r>
              <a:rPr lang="en-US" b="1" dirty="0"/>
              <a:t>New device exclusion</a:t>
            </a:r>
            <a:r>
              <a:rPr lang="en-US" dirty="0"/>
              <a:t> hides devices checked in within last 30 days that haven't had sufficient time for security procedure implementation</a:t>
            </a:r>
            <a:endParaRPr lang="en-US" sz="3600" dirty="0"/>
          </a:p>
          <a:p>
            <a:pPr lvl="1"/>
            <a:r>
              <a:rPr lang="en-US" b="1" dirty="0"/>
              <a:t>Inactive device identification</a:t>
            </a:r>
            <a:r>
              <a:rPr lang="en-US" dirty="0"/>
              <a:t> shows </a:t>
            </a:r>
            <a:r>
              <a:rPr lang="en-US" b="1" dirty="0"/>
              <a:t>235 devices</a:t>
            </a:r>
            <a:r>
              <a:rPr lang="en-US" dirty="0"/>
              <a:t> not checked in for 90+ days as informational metric for potential decommissioning consideration</a:t>
            </a:r>
            <a:endParaRPr lang="en-US" sz="3600" dirty="0"/>
          </a:p>
          <a:p>
            <a:pPr lvl="1"/>
            <a:r>
              <a:rPr lang="en-US" b="1" dirty="0"/>
              <a:t>Edge case management</a:t>
            </a:r>
            <a:r>
              <a:rPr lang="en-US" dirty="0"/>
              <a:t> acknowledges that 3-5 problematic devices out of 800+ represents realistic operational challenges requiring individual attention</a:t>
            </a:r>
            <a:endParaRPr lang="en-US" sz="3600" dirty="0"/>
          </a:p>
          <a:p>
            <a:r>
              <a:rPr lang="en-US" sz="2400" b="1" dirty="0"/>
              <a:t>Device Management and Operational Efficiency</a:t>
            </a:r>
            <a:endParaRPr lang="en-US" sz="3200" dirty="0"/>
          </a:p>
          <a:p>
            <a:r>
              <a:rPr lang="en-US" sz="2400" b="1" dirty="0"/>
              <a:t>Comprehensive device drill-down functionality</a:t>
            </a:r>
            <a:r>
              <a:rPr lang="en-US" sz="2400" dirty="0"/>
              <a:t> provides complete security posture visibility for individual assets (25:53)</a:t>
            </a:r>
            <a:endParaRPr lang="en-US" sz="5400" dirty="0"/>
          </a:p>
          <a:p>
            <a:pPr lvl="1"/>
            <a:r>
              <a:rPr lang="en-US" b="1" dirty="0"/>
              <a:t>Multi-issue presentation</a:t>
            </a:r>
            <a:r>
              <a:rPr lang="en-US" dirty="0"/>
              <a:t> displays all compliance problems for single device rather than requiring navigation between multiple alert pages</a:t>
            </a:r>
            <a:endParaRPr lang="en-US" sz="3600" dirty="0"/>
          </a:p>
          <a:p>
            <a:pPr lvl="1"/>
            <a:r>
              <a:rPr lang="en-US" b="1" dirty="0"/>
              <a:t>Detailed device information</a:t>
            </a:r>
            <a:r>
              <a:rPr lang="en-US" dirty="0"/>
              <a:t> includes hardware specifications, OS types, network data, and endpoint protection status from Sophos integration</a:t>
            </a:r>
            <a:endParaRPr lang="en-US" sz="3600" dirty="0"/>
          </a:p>
          <a:p>
            <a:pPr lvl="1"/>
            <a:r>
              <a:rPr lang="en-US" b="1" dirty="0"/>
              <a:t>Search and filtering capabilities</a:t>
            </a:r>
            <a:r>
              <a:rPr lang="en-US" dirty="0"/>
              <a:t> enable finding specific devices by username, device name, or any searchable criteria within individual alerts</a:t>
            </a:r>
            <a:endParaRPr lang="en-US" sz="3600" dirty="0"/>
          </a:p>
          <a:p>
            <a:pPr lvl="1"/>
            <a:r>
              <a:rPr lang="en-US" b="1" dirty="0"/>
              <a:t>Export and filtering options</a:t>
            </a:r>
            <a:r>
              <a:rPr lang="en-US" dirty="0"/>
              <a:t> allow customized reporting with CPU speed thresholds, Windows readiness capabilities, and other technical specifications</a:t>
            </a:r>
            <a:endParaRPr lang="en-US" sz="3600" dirty="0"/>
          </a:p>
          <a:p>
            <a:r>
              <a:rPr lang="en-US" sz="2400" b="1" dirty="0"/>
              <a:t>Revolutionary decommissioning workflow</a:t>
            </a:r>
            <a:r>
              <a:rPr lang="en-US" sz="2400" dirty="0"/>
              <a:t> eliminates manual processes and provides immediate compliance benefits (29:26)</a:t>
            </a:r>
            <a:endParaRPr lang="en-US" sz="5400" dirty="0"/>
          </a:p>
          <a:p>
            <a:pPr lvl="1"/>
            <a:r>
              <a:rPr lang="en-US" b="1" dirty="0"/>
              <a:t>Automated form population</a:t>
            </a:r>
            <a:r>
              <a:rPr lang="en-US" dirty="0"/>
              <a:t> fills device serial numbers and basic information, requiring only status selection and note-taking from security officer</a:t>
            </a:r>
            <a:endParaRPr lang="en-US" sz="3600" dirty="0"/>
          </a:p>
          <a:p>
            <a:pPr lvl="1"/>
            <a:r>
              <a:rPr lang="en-US" b="1" dirty="0"/>
              <a:t>Immediate system updates</a:t>
            </a:r>
            <a:r>
              <a:rPr lang="en-US" dirty="0"/>
              <a:t> remove decommissioned devices from compliance alerts and active device pages within seconds of processing</a:t>
            </a:r>
            <a:endParaRPr lang="en-US" sz="3600" dirty="0"/>
          </a:p>
          <a:p>
            <a:pPr lvl="1"/>
            <a:r>
              <a:rPr lang="en-US" b="1" dirty="0"/>
              <a:t>Permanent audit trail</a:t>
            </a:r>
            <a:r>
              <a:rPr lang="en-US" dirty="0"/>
              <a:t> maintains indefinite records of all decommissioned devices with dates, reasoning, and detailed notes for regulatory compliance</a:t>
            </a:r>
            <a:endParaRPr lang="en-US" sz="3600" dirty="0"/>
          </a:p>
          <a:p>
            <a:pPr lvl="1"/>
            <a:r>
              <a:rPr lang="en-US" b="1" dirty="0"/>
              <a:t>Policy and access management</a:t>
            </a:r>
            <a:r>
              <a:rPr lang="en-US" dirty="0"/>
              <a:t> immediately removes Temper protection, abandons Sophos policies, and allows users to uninstall security software for BYOD scenarios</a:t>
            </a:r>
            <a:endParaRPr lang="en-US" sz="3600" dirty="0"/>
          </a:p>
          <a:p>
            <a:r>
              <a:rPr lang="en-US" sz="2400" b="1" dirty="0"/>
              <a:t>Security Incident Response and Emergency Access</a:t>
            </a:r>
            <a:endParaRPr lang="en-US" sz="3200" dirty="0"/>
          </a:p>
          <a:p>
            <a:r>
              <a:rPr lang="en-US" sz="2400" b="1" dirty="0"/>
              <a:t>24/7 security officer empowerment</a:t>
            </a:r>
            <a:r>
              <a:rPr lang="en-US" sz="2400" dirty="0"/>
              <a:t> through comprehensive access management and incident response tools (44:50)</a:t>
            </a:r>
            <a:endParaRPr lang="en-US" sz="5400" dirty="0"/>
          </a:p>
          <a:p>
            <a:pPr lvl="1"/>
            <a:r>
              <a:rPr lang="en-US" b="1" dirty="0"/>
              <a:t>BitLocker encryption key access</a:t>
            </a:r>
            <a:r>
              <a:rPr lang="en-US" dirty="0"/>
              <a:t> provides immediate recovery key viewing with complete audit logging of access events and responsible parties</a:t>
            </a:r>
            <a:endParaRPr lang="en-US" sz="3600" dirty="0"/>
          </a:p>
          <a:p>
            <a:pPr lvl="1"/>
            <a:r>
              <a:rPr lang="en-US" b="1" dirty="0"/>
              <a:t>Emergency weekend capability</a:t>
            </a:r>
            <a:r>
              <a:rPr lang="en-US" dirty="0"/>
              <a:t> eliminates need for FCI emergency support calls when advisors require urgent device access or security incidents occur</a:t>
            </a:r>
            <a:endParaRPr lang="en-US" sz="3600" dirty="0"/>
          </a:p>
          <a:p>
            <a:pPr lvl="1"/>
            <a:r>
              <a:rPr lang="en-US" b="1" dirty="0"/>
              <a:t>Device locking functionality</a:t>
            </a:r>
            <a:r>
              <a:rPr lang="en-US" dirty="0"/>
              <a:t> enables immediate remote locking of lost or stolen devices with unlock key provision when devices are recovered</a:t>
            </a:r>
            <a:endParaRPr lang="en-US" sz="3600" dirty="0"/>
          </a:p>
          <a:p>
            <a:pPr lvl="1"/>
            <a:r>
              <a:rPr lang="en-US" b="1" dirty="0"/>
              <a:t>Cross-platform support</a:t>
            </a:r>
            <a:r>
              <a:rPr lang="en-US" dirty="0"/>
              <a:t> includes both Mac and Windows device locking capabilities with offline device handling when devices reconnect to internet</a:t>
            </a:r>
            <a:endParaRPr lang="en-US" sz="3600" dirty="0"/>
          </a:p>
          <a:p>
            <a:r>
              <a:rPr lang="en-US" sz="2400" b="1" dirty="0"/>
              <a:t>Collaborative note-taking system</a:t>
            </a:r>
            <a:r>
              <a:rPr lang="en-US" sz="2400" dirty="0"/>
              <a:t> supports multi-team environments with IT, CISO, and security officer coordination (44:50)</a:t>
            </a:r>
            <a:endParaRPr lang="en-US" sz="5400" dirty="0"/>
          </a:p>
          <a:p>
            <a:pPr lvl="1"/>
            <a:r>
              <a:rPr lang="en-US" b="1" dirty="0"/>
              <a:t>Historical tracking</a:t>
            </a:r>
            <a:r>
              <a:rPr lang="en-US" dirty="0"/>
              <a:t> maintains permanent record of all device-related activities and decisions made by various team members</a:t>
            </a:r>
            <a:endParaRPr lang="en-US" sz="3600" dirty="0"/>
          </a:p>
          <a:p>
            <a:pPr lvl="1"/>
            <a:r>
              <a:rPr lang="en-US" b="1" dirty="0"/>
              <a:t>System-generated entries</a:t>
            </a:r>
            <a:r>
              <a:rPr lang="en-US" dirty="0"/>
              <a:t> automatically log security officer actions like BitLocker key access with timestamps and user identification</a:t>
            </a:r>
            <a:endParaRPr lang="en-US" sz="3600" dirty="0"/>
          </a:p>
          <a:p>
            <a:pPr lvl="1"/>
            <a:r>
              <a:rPr lang="en-US" b="1" dirty="0"/>
              <a:t>Context preservation</a:t>
            </a:r>
            <a:r>
              <a:rPr lang="en-US" dirty="0"/>
              <a:t> allows team members to understand previous actions taken on devices without requiring separate communication channels</a:t>
            </a:r>
            <a:endParaRPr lang="en-US" sz="3600" dirty="0"/>
          </a:p>
          <a:p>
            <a:pPr lvl="1"/>
            <a:r>
              <a:rPr lang="en-US" b="1" dirty="0"/>
              <a:t>Scalable collaboration</a:t>
            </a:r>
            <a:r>
              <a:rPr lang="en-US" dirty="0"/>
              <a:t> accommodates multiple personnel working on device management without information silos</a:t>
            </a:r>
            <a:endParaRPr lang="en-US" sz="3600" dirty="0"/>
          </a:p>
          <a:p>
            <a:r>
              <a:rPr lang="en-US" sz="2400" b="1" dirty="0"/>
              <a:t>Competitive Differentiation and Platform Integration</a:t>
            </a:r>
            <a:endParaRPr lang="en-US" sz="3200" dirty="0"/>
          </a:p>
          <a:p>
            <a:r>
              <a:rPr lang="en-US" sz="2400" b="1" dirty="0"/>
              <a:t>Centralized data aggregation</a:t>
            </a:r>
            <a:r>
              <a:rPr lang="en-US" sz="2400" dirty="0"/>
              <a:t> addresses fundamental limitation of existing IT monitoring tools that require multiple systems and Excel-based reporting (34:20)</a:t>
            </a:r>
            <a:endParaRPr lang="en-US" sz="5400" dirty="0"/>
          </a:p>
          <a:p>
            <a:pPr lvl="1"/>
            <a:r>
              <a:rPr lang="en-US" b="1" dirty="0"/>
              <a:t>Single platform approach</a:t>
            </a:r>
            <a:r>
              <a:rPr lang="en-US" dirty="0"/>
              <a:t> consolidates security posture, compliance reporting, and operational management in unified interface</a:t>
            </a:r>
            <a:endParaRPr lang="en-US" sz="3600" dirty="0"/>
          </a:p>
          <a:p>
            <a:pPr lvl="1"/>
            <a:r>
              <a:rPr lang="en-US" b="1" dirty="0"/>
              <a:t>Actionable intelligence focus</a:t>
            </a:r>
            <a:r>
              <a:rPr lang="en-US" dirty="0"/>
              <a:t> moves beyond traditional reporting to enable direct action-taking and incident response</a:t>
            </a:r>
            <a:endParaRPr lang="en-US" sz="3600" dirty="0"/>
          </a:p>
          <a:p>
            <a:pPr lvl="1"/>
            <a:r>
              <a:rPr lang="en-US" b="1" dirty="0"/>
              <a:t>Time-saving automation</a:t>
            </a:r>
            <a:r>
              <a:rPr lang="en-US" dirty="0"/>
              <a:t> eliminates manual data collection, form filling, and ticket creation processes previously required for device management</a:t>
            </a:r>
            <a:endParaRPr lang="en-US" sz="3600" dirty="0"/>
          </a:p>
          <a:p>
            <a:pPr lvl="1"/>
            <a:r>
              <a:rPr lang="en-US" b="1" dirty="0"/>
              <a:t>Client dependency strategy</a:t>
            </a:r>
            <a:r>
              <a:rPr lang="en-US" dirty="0"/>
              <a:t> increases switching costs by making daily security operations significantly easier and more efficient through FCI platform</a:t>
            </a:r>
            <a:endParaRPr lang="en-US" sz="3600" dirty="0"/>
          </a:p>
          <a:p>
            <a:r>
              <a:rPr lang="en-US" sz="2400" b="1" dirty="0"/>
              <a:t>Customization capabilities</a:t>
            </a:r>
            <a:r>
              <a:rPr lang="en-US" sz="2400" dirty="0"/>
              <a:t> accommodate diverse client environments and security tool preferences (54:30)</a:t>
            </a:r>
            <a:endParaRPr lang="en-US" sz="5400" dirty="0"/>
          </a:p>
          <a:p>
            <a:pPr lvl="1"/>
            <a:r>
              <a:rPr lang="en-US" b="1" dirty="0"/>
              <a:t>Alert relevance tuning</a:t>
            </a:r>
            <a:r>
              <a:rPr lang="en-US" dirty="0"/>
              <a:t> allows clients to hide non-applicable compliance alerts and modify criteria like patch timeframes from 30 to 90 days</a:t>
            </a:r>
            <a:endParaRPr lang="en-US" sz="3600" dirty="0"/>
          </a:p>
          <a:p>
            <a:pPr lvl="1"/>
            <a:r>
              <a:rPr lang="en-US" b="1" dirty="0"/>
              <a:t>Third-party integration</a:t>
            </a:r>
            <a:r>
              <a:rPr lang="en-US" dirty="0"/>
              <a:t> supports CrowdStrike and other non-Sophos security solutions through customizable alert parameters</a:t>
            </a:r>
            <a:endParaRPr lang="en-US" sz="3600" dirty="0"/>
          </a:p>
          <a:p>
            <a:pPr lvl="1"/>
            <a:r>
              <a:rPr lang="en-US" b="1" dirty="0"/>
              <a:t>Flexible device definitions</a:t>
            </a:r>
            <a:r>
              <a:rPr lang="en-US" dirty="0"/>
              <a:t> permits adjustment of inactive device timeframes from 90 days to client-preferred 30-day thresholds</a:t>
            </a:r>
            <a:endParaRPr lang="en-US" sz="3600" dirty="0"/>
          </a:p>
          <a:p>
            <a:pPr lvl="1"/>
            <a:r>
              <a:rPr lang="en-US" b="1" dirty="0"/>
              <a:t>Column customization</a:t>
            </a:r>
            <a:r>
              <a:rPr lang="en-US" dirty="0"/>
              <a:t> in device management pages allows selection of relevant data fields for specific client operational needs</a:t>
            </a:r>
            <a:endParaRPr lang="en-US" sz="3600" dirty="0"/>
          </a:p>
          <a:p>
            <a:r>
              <a:rPr lang="en-US" sz="2400" dirty="0"/>
              <a:t> </a:t>
            </a:r>
            <a:endParaRPr lang="en-US" sz="4400" dirty="0"/>
          </a:p>
          <a:p>
            <a:r>
              <a:rPr lang="en-US" sz="2400" b="1" dirty="0"/>
              <a:t>Action items</a:t>
            </a:r>
            <a:endParaRPr lang="en-US" sz="5400" dirty="0"/>
          </a:p>
          <a:p>
            <a:r>
              <a:rPr lang="en-US" b="1" dirty="0"/>
              <a:t>Unknown (Demo Presenter)</a:t>
            </a:r>
            <a:endParaRPr lang="en-US" dirty="0"/>
          </a:p>
          <a:p>
            <a:r>
              <a:rPr lang="en-US" sz="2400" dirty="0"/>
              <a:t>Fix decommissioning functionality testing issues observed during demonstration (31:07)</a:t>
            </a:r>
            <a:endParaRPr lang="en-US" sz="5400" dirty="0"/>
          </a:p>
          <a:p>
            <a:r>
              <a:rPr lang="en-US" sz="2400" dirty="0"/>
              <a:t>Resolve filter clearing problem where filters don't maintain settings when navigating between pages (29:26)</a:t>
            </a:r>
            <a:endParaRPr lang="en-US" sz="5400" dirty="0"/>
          </a:p>
          <a:p>
            <a:r>
              <a:rPr lang="en-US" sz="2400" dirty="0"/>
              <a:t>Complete issue resolution guidance for all compliance alerts beyond current partial implementation (16:14)</a:t>
            </a:r>
            <a:endParaRPr lang="en-US" sz="5400" dirty="0"/>
          </a:p>
          <a:p>
            <a:r>
              <a:rPr lang="en-US" sz="2400" dirty="0"/>
              <a:t>Test and repair device locking/unlocking features that encountered errors during demo (49:56)</a:t>
            </a:r>
            <a:endParaRPr lang="en-US" sz="5400" dirty="0"/>
          </a:p>
          <a:p>
            <a:r>
              <a:rPr lang="en-US" b="1" dirty="0"/>
              <a:t>FCI Team</a:t>
            </a:r>
            <a:endParaRPr lang="en-US" dirty="0"/>
          </a:p>
          <a:p>
            <a:r>
              <a:rPr lang="en-US" sz="2400" dirty="0"/>
              <a:t>Continue maintaining dynamic demo environment with updated date fields for realistic device status presentation (00:00)</a:t>
            </a:r>
            <a:endParaRPr lang="en-US" sz="5400" dirty="0"/>
          </a:p>
          <a:p>
            <a:r>
              <a:rPr lang="en-US" sz="2400" dirty="0"/>
              <a:t>Develop API integration capabilities for potential third-party platform connections as requested (46:39)</a:t>
            </a:r>
            <a:endParaRPr lang="en-US" sz="5400" dirty="0"/>
          </a:p>
          <a:p>
            <a:r>
              <a:rPr lang="en-US" sz="2400" dirty="0"/>
              <a:t>Implement remaining customization options for Lion Street and other audit-only clients (52:53)</a:t>
            </a:r>
            <a:endParaRPr lang="en-US" sz="5400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30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ADE89C-3D3B-401A-B33E-87715DE296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625411-782B-4050-8474-08D99FFFAB39}">
  <ds:schemaRefs>
    <ds:schemaRef ds:uri="http://purl.org/dc/elements/1.1/"/>
    <ds:schemaRef ds:uri="http://purl.org/dc/dcmitype/"/>
    <ds:schemaRef ds:uri="702a17bc-2da2-4fb7-a4fb-c10936b8d7de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7e81ff0a-7b47-4573-8501-a4583f78be9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2FE77CBA-DAF3-41F3-B5CC-C5D3930788E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5669</TotalTime>
  <Words>966</Words>
  <Application>Microsoft Macintosh PowerPoint</Application>
  <PresentationFormat>Letter Paper (8.5x11 in)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Guyaux</dc:creator>
  <cp:lastModifiedBy>Vincent Guyaux</cp:lastModifiedBy>
  <cp:revision>2</cp:revision>
  <dcterms:created xsi:type="dcterms:W3CDTF">2025-11-14T19:57:41Z</dcterms:created>
  <dcterms:modified xsi:type="dcterms:W3CDTF">2025-12-08T00:49:29Z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  <property fmtid="{D5CDD505-2E9C-101B-9397-08002B2CF9AE}" pid="3" name="MediaServiceImageTags">
    <vt:lpwstr/>
  </property>
</Properties>
</file>