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86" r:id="rId6"/>
    <p:sldId id="285" r:id="rId7"/>
    <p:sldId id="284" r:id="rId8"/>
    <p:sldId id="287" r:id="rId9"/>
    <p:sldId id="276" r:id="rId10"/>
    <p:sldId id="280" r:id="rId11"/>
    <p:sldId id="277" r:id="rId12"/>
    <p:sldId id="278" r:id="rId13"/>
    <p:sldId id="279" r:id="rId14"/>
    <p:sldId id="282" r:id="rId15"/>
    <p:sldId id="2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7E9BC4-BE66-A54C-97AF-95F801C9DAA3}" v="22" dt="2026-02-08T13:06:18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99"/>
    <p:restoredTop sz="97023"/>
  </p:normalViewPr>
  <p:slideViewPr>
    <p:cSldViewPr snapToGrid="0">
      <p:cViewPr varScale="1">
        <p:scale>
          <a:sx n="120" d="100"/>
          <a:sy n="120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ECE3-F014-1CA4-B142-60FA21FC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B8F14-F135-7AE6-FF67-C141DEB87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EB5D1-BC47-32EE-EF70-A2C38D47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A2A26-6D73-ABF4-21F2-B88BBA079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82B66-C852-38D6-33DB-91DE86C9F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63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B5BF-BC5F-4AB2-6C38-9CBB5CD8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D943-C4D7-A503-315B-064F9CA9D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F2746-981B-1ACF-E879-9568BD5A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A7071-D6F8-AF5D-4027-356FA93B3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2896F-37B0-8EC2-2004-5D11A9B5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4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BBB0-A905-C6D1-28C8-2B3D3B5E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1FA6C-3F74-DB07-31D9-145DAE824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3C78F-B4E0-7238-10A3-0D924325E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36C36-AB8D-8839-C85C-19DFF726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DE7B4-3D3B-9B89-F2FC-03F19F43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3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4994-D335-D78A-7FB3-AE5EB1C6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F98B3-B19C-1B75-5579-D8EFE3CD8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71D68-585F-9B2A-CE2C-8B54C2E1C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39DB0-EEC4-2452-9DD1-1FDE19F2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EC2A4-5456-E1CA-852A-1207D39F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08968-7A26-2E6E-5179-ED957E34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1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F8AC2-1CB1-DF14-E72E-5DC6E17D5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77172-F4BB-98E8-E727-7303779F0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A6258-FECA-ACE7-5559-8D476020E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4FA4E-EA1C-24E7-DE11-CB50CBBB3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6F2BFA-F3DE-514A-A8E9-5365CCC32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72065-F539-16A8-653D-9ECDB7A1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77589C-31F3-4D31-FBA7-773815A6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26BD4-25CD-1CFD-CD88-54920719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8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789C-9F73-3767-8AD2-B247D448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B8017-7A35-CF63-BF3F-EB31AE7B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F7C30-A18A-119C-A06E-D32245B5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D5010-7131-40FB-05CD-134E3F4E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5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697A9-2AF2-C89D-DB4A-54ECDD31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F7167-B7E9-2909-0C86-0749B76E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858B2-1544-457E-AEC2-2910B652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FC98-3BFC-8ADC-4C46-699A0AF6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D097-00A7-57EE-967E-68880911F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7A109-B813-2229-D0DB-D440D6ECF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B464F-D253-D1B1-C7B8-B454C04C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10D78-C5CB-772B-9CB9-B3954368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12183-808B-2766-6FE6-6C2CA3FD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97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5EEF-6CE1-379C-5A99-55E311EC1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9347E6-513B-67F8-77AA-7BD388FFEE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18CA0-6324-EA95-7EF7-37D74F910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78D9-3D06-6819-95DD-023DAE82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92C98-A5FB-6A76-A1AD-02878BC7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18159-5E81-DB04-8084-06DF5F8D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9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77A3-FC6B-8CC1-9819-F2A4830C9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5A948-EADF-1C59-0C7A-79E14A01E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5DC5E-B0AC-2678-5912-872EE667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2D691-3F05-1B03-43E5-32673F7F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297A-C911-FC6C-C4B5-8D1005AB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2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631575-2AF9-CC6D-9555-5881E73F9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38D68-98EB-4468-96F2-ED1FB10D0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76723-280C-68C9-1649-230569F8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D7A9-00FF-BF9C-D7D8-C924A96D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D5DAC-5FD0-6F5D-788B-9413AA86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9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ED2B34-A2EB-64B4-7A74-9648D30B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BBC16-5E4C-D11C-7473-948FC78A9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75D52-35B8-7A21-A04B-1E7C3B904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09C8C-19F7-0741-B56F-31F1891073B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9D29-E7C5-CF4B-42A4-007C38599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B2405-C53E-4183-6C77-B58F35F45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37B31-174A-A348-8125-8781C10BA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8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2F4D-2279-A0C0-0D50-1161ABAE8D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07880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94A18-C8EA-D26D-88B7-943D3B9F2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67" y="1145141"/>
            <a:ext cx="1117659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BYOD Controls: </a:t>
            </a:r>
            <a:r>
              <a:rPr lang="en-US" sz="2400" i="1" dirty="0"/>
              <a:t>Can you lock down BYOD devices?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Decommissioning: </a:t>
            </a:r>
            <a:r>
              <a:rPr lang="en-US" sz="2400" i="1" dirty="0"/>
              <a:t>Can you prove data was destroyed?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Zero Trust Complete: </a:t>
            </a:r>
            <a:r>
              <a:rPr lang="en-US" sz="2400" i="1" dirty="0"/>
              <a:t>Can a new device access firm data without enrollment?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Incident Response: </a:t>
            </a:r>
            <a:r>
              <a:rPr lang="en-US" sz="2400" i="1" dirty="0"/>
              <a:t>You have an incident, who you gonna call?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Breach Support: </a:t>
            </a:r>
            <a:r>
              <a:rPr lang="en-US" sz="2400" i="1" dirty="0"/>
              <a:t>Who can evidence your cyber compliance?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Cyber Insurance Claim: </a:t>
            </a:r>
            <a:r>
              <a:rPr lang="en-US" sz="2400" i="1" dirty="0"/>
              <a:t>What did you attest to in your application form?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Legacy IT Replacement: </a:t>
            </a:r>
            <a:r>
              <a:rPr lang="en-US" sz="2400" i="1" dirty="0"/>
              <a:t>Are you paying too much for IT?</a:t>
            </a:r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240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C7FA57-C498-7AB5-2E6D-547CF1196796}"/>
              </a:ext>
            </a:extLst>
          </p:cNvPr>
          <p:cNvSpPr/>
          <p:nvPr/>
        </p:nvSpPr>
        <p:spPr>
          <a:xfrm>
            <a:off x="3232297" y="1148316"/>
            <a:ext cx="4997303" cy="4997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0EC66B-6C9A-85ED-8412-EA6280575A64}"/>
              </a:ext>
            </a:extLst>
          </p:cNvPr>
          <p:cNvSpPr/>
          <p:nvPr/>
        </p:nvSpPr>
        <p:spPr>
          <a:xfrm>
            <a:off x="4146696" y="1329070"/>
            <a:ext cx="1584252" cy="850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C3B1DB-619E-F7DF-0FF8-D8C595503CD4}"/>
              </a:ext>
            </a:extLst>
          </p:cNvPr>
          <p:cNvSpPr/>
          <p:nvPr/>
        </p:nvSpPr>
        <p:spPr>
          <a:xfrm>
            <a:off x="5720315" y="1329070"/>
            <a:ext cx="1584252" cy="850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EE7F9A-BD7F-F8C5-9788-659A94298E20}"/>
              </a:ext>
            </a:extLst>
          </p:cNvPr>
          <p:cNvSpPr/>
          <p:nvPr/>
        </p:nvSpPr>
        <p:spPr>
          <a:xfrm rot="1072734">
            <a:off x="7304616" y="1409711"/>
            <a:ext cx="538718" cy="850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4194D-28C7-CBC5-6659-ECA63F378433}"/>
              </a:ext>
            </a:extLst>
          </p:cNvPr>
          <p:cNvSpPr/>
          <p:nvPr/>
        </p:nvSpPr>
        <p:spPr>
          <a:xfrm rot="20640465">
            <a:off x="3620861" y="1400759"/>
            <a:ext cx="538718" cy="850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A32D89-E9A7-02FD-B6D8-BF15C4B909E5}"/>
              </a:ext>
            </a:extLst>
          </p:cNvPr>
          <p:cNvSpPr/>
          <p:nvPr/>
        </p:nvSpPr>
        <p:spPr>
          <a:xfrm rot="18833782">
            <a:off x="5270204" y="4245935"/>
            <a:ext cx="921488" cy="9214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6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01E4AA-C98E-2FF4-7A68-800C431B3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5824"/>
            <a:ext cx="7772400" cy="600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3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9D80C0-BF4E-1B28-4C07-19AB6AD6E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80961"/>
            <a:ext cx="7772400" cy="529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67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AE30-3728-76A7-A198-CF4AC7FE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BYOD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97D11-E448-8940-96CC-5FAE9799D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i="1" dirty="0"/>
              <a:t>Can you lock down BYOD devices?</a:t>
            </a:r>
            <a:br>
              <a:rPr lang="en-US" dirty="0"/>
            </a:br>
            <a:endParaRPr lang="en-US" dirty="0"/>
          </a:p>
          <a:p>
            <a:r>
              <a:rPr lang="en-US" sz="2400" dirty="0"/>
              <a:t>Full BYOD device inventory</a:t>
            </a:r>
          </a:p>
          <a:p>
            <a:r>
              <a:rPr lang="en-US" sz="2400" dirty="0"/>
              <a:t>Enforced security baselines without admin control </a:t>
            </a:r>
          </a:p>
          <a:p>
            <a:r>
              <a:rPr lang="en-US" sz="2400" dirty="0"/>
              <a:t>Lost/stolen device lock down</a:t>
            </a:r>
          </a:p>
        </p:txBody>
      </p:sp>
    </p:spTree>
    <p:extLst>
      <p:ext uri="{BB962C8B-B14F-4D97-AF65-F5344CB8AC3E}">
        <p14:creationId xmlns:p14="http://schemas.microsoft.com/office/powerpoint/2010/main" val="1831974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A1230-A8A8-D77A-A83F-640AD46B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FF3F-8194-48DF-B3B8-962CFE22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Decommissioning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DD7BA-237B-5117-9544-5B9B9FEC3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94074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400" i="1" dirty="0"/>
              <a:t>Can you prove data was destroyed?</a:t>
            </a:r>
            <a:br>
              <a:rPr lang="en-US" dirty="0"/>
            </a:br>
            <a:endParaRPr lang="en-US" dirty="0"/>
          </a:p>
          <a:p>
            <a:r>
              <a:rPr lang="en-US" sz="2400" dirty="0"/>
              <a:t>Security Officer portal for device selection and disposal forms</a:t>
            </a:r>
          </a:p>
          <a:p>
            <a:r>
              <a:rPr lang="en-US" sz="2400" dirty="0"/>
              <a:t>Standardized, automated decommissioning records</a:t>
            </a:r>
          </a:p>
          <a:p>
            <a:r>
              <a:rPr lang="en-US" sz="2400" dirty="0"/>
              <a:t>SEC request in recent exams: Historical inventory with</a:t>
            </a:r>
          </a:p>
          <a:p>
            <a:pPr lvl="1"/>
            <a:r>
              <a:rPr lang="en-US" sz="2000" dirty="0"/>
              <a:t>Hard disk serial numbers</a:t>
            </a:r>
          </a:p>
          <a:p>
            <a:pPr lvl="1"/>
            <a:r>
              <a:rPr lang="en-US" sz="2000" dirty="0"/>
              <a:t>Destruction evidence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7445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A0656-2B13-7319-C6CA-B64B74FF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CDF8C-49D3-CD4A-F7F8-DD6006BA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Zero Trust Complete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67DD3-8C58-896C-9CAF-961866448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i="1" dirty="0"/>
              <a:t>Can a new device access firm data without enrollment?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User, device, and network verified before system access</a:t>
            </a:r>
          </a:p>
          <a:p>
            <a:r>
              <a:rPr lang="en-US" dirty="0"/>
              <a:t>Automated enforcement and remediation at scale</a:t>
            </a:r>
          </a:p>
          <a:p>
            <a:r>
              <a:rPr lang="en-US" dirty="0"/>
              <a:t>Cloud app and data protection with CASB controls</a:t>
            </a:r>
          </a:p>
        </p:txBody>
      </p:sp>
    </p:spTree>
    <p:extLst>
      <p:ext uri="{BB962C8B-B14F-4D97-AF65-F5344CB8AC3E}">
        <p14:creationId xmlns:p14="http://schemas.microsoft.com/office/powerpoint/2010/main" val="114081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6781A-C326-CA1F-CFAF-0735447D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A188-E2AA-45D2-BF3B-BCE5BAD8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Incident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6E09F-2DD5-A144-5E5A-6F8F8B3B7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i="1" dirty="0"/>
              <a:t>You have an incident, who you gonna call?</a:t>
            </a:r>
            <a:br>
              <a:rPr lang="en-US" dirty="0"/>
            </a:br>
            <a:endParaRPr lang="en-US" dirty="0"/>
          </a:p>
          <a:p>
            <a:r>
              <a:rPr lang="en-US" dirty="0"/>
              <a:t>Forensics-led evidence collection and documentation</a:t>
            </a:r>
          </a:p>
          <a:p>
            <a:r>
              <a:rPr lang="en-US" dirty="0"/>
              <a:t>Evidence deletion or loss avoided by using trained experts</a:t>
            </a:r>
          </a:p>
          <a:p>
            <a:r>
              <a:rPr lang="en-US" dirty="0"/>
              <a:t>Immediate high-risk remediation and rapid containment</a:t>
            </a:r>
          </a:p>
          <a:p>
            <a:r>
              <a:rPr lang="en-US" dirty="0"/>
              <a:t>Breach determination</a:t>
            </a:r>
          </a:p>
        </p:txBody>
      </p:sp>
    </p:spTree>
    <p:extLst>
      <p:ext uri="{BB962C8B-B14F-4D97-AF65-F5344CB8AC3E}">
        <p14:creationId xmlns:p14="http://schemas.microsoft.com/office/powerpoint/2010/main" val="424342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ADAD4-3125-077A-4239-C1262556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BA68-40CF-EE85-7572-7B534BB2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Breach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C49B-B2C7-4F7D-6E95-A1B0F11C8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i="1" dirty="0"/>
              <a:t>Who can evidence your cyber compliance?</a:t>
            </a:r>
            <a:br>
              <a:rPr lang="en-US" dirty="0"/>
            </a:br>
            <a:endParaRPr lang="en-US" dirty="0"/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Advisory support for senior management and legal counsel</a:t>
            </a:r>
          </a:p>
          <a:p>
            <a:r>
              <a:rPr lang="en-US" dirty="0"/>
              <a:t>Notification and reporting guidance</a:t>
            </a:r>
          </a:p>
          <a:p>
            <a:r>
              <a:rPr lang="en-US" dirty="0"/>
              <a:t>Evidence package presentation to regulators and law enforcement</a:t>
            </a:r>
          </a:p>
        </p:txBody>
      </p:sp>
    </p:spTree>
    <p:extLst>
      <p:ext uri="{BB962C8B-B14F-4D97-AF65-F5344CB8AC3E}">
        <p14:creationId xmlns:p14="http://schemas.microsoft.com/office/powerpoint/2010/main" val="3570494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BAC0-CBB1-A667-6DFD-3CDF5B7B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6EC1D-4F46-D025-5D63-2B32654C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Cyber Insurance Claim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8C136-BAA1-9369-2F21-FD7231AF5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93883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i="1" dirty="0"/>
              <a:t>What did you attest to in your application form?</a:t>
            </a:r>
            <a:br>
              <a:rPr lang="en-US" dirty="0"/>
            </a:br>
            <a:endParaRPr lang="en-US" dirty="0"/>
          </a:p>
          <a:p>
            <a:pPr>
              <a:lnSpc>
                <a:spcPct val="110000"/>
              </a:lnSpc>
            </a:pPr>
            <a:r>
              <a:rPr lang="en-US" sz="2400" dirty="0"/>
              <a:t>Requirements increasingly aligned with regulators</a:t>
            </a:r>
          </a:p>
          <a:p>
            <a:pPr>
              <a:lnSpc>
                <a:spcPct val="110000"/>
              </a:lnSpc>
            </a:pPr>
            <a:r>
              <a:rPr lang="en-US" dirty="0"/>
              <a:t>Insurer cyber experts validate your evidence against your application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Claim denials driven by gaps between attestation and reality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Non-renewals and premium increases</a:t>
            </a:r>
          </a:p>
        </p:txBody>
      </p:sp>
    </p:spTree>
    <p:extLst>
      <p:ext uri="{BB962C8B-B14F-4D97-AF65-F5344CB8AC3E}">
        <p14:creationId xmlns:p14="http://schemas.microsoft.com/office/powerpoint/2010/main" val="205341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FCB0F-A6C5-0075-CF60-8A5CA629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DF0BA-5364-DF8C-7110-5180926A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Legacy IT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D076A-95A0-B41E-4AF7-CEF6CAEEF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608324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i="1" dirty="0"/>
              <a:t>Are you paying too much for IT?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dirty="0"/>
              <a:t>Migration from legacy stack to a secure, modern stack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IT-led Cyber or Cyber-led IT?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Shift from never-ending implementation to fast safeguard deployment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Automation to replace manual work and produce audit-ready evidence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Vendor due-diligence ready</a:t>
            </a:r>
          </a:p>
          <a:p>
            <a:pPr>
              <a:lnSpc>
                <a:spcPct val="11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0477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80E61F-16DD-47FC-9740-264D0847454F}">
  <ds:schemaRefs>
    <ds:schemaRef ds:uri="http://www.w3.org/XML/1998/namespace"/>
    <ds:schemaRef ds:uri="http://schemas.microsoft.com/office/2006/metadata/properties"/>
    <ds:schemaRef ds:uri="http://purl.org/dc/dcmitype/"/>
    <ds:schemaRef ds:uri="702a17bc-2da2-4fb7-a4fb-c10936b8d7d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e81ff0a-7b47-4573-8501-a4583f78be9e"/>
  </ds:schemaRefs>
</ds:datastoreItem>
</file>

<file path=customXml/itemProps2.xml><?xml version="1.0" encoding="utf-8"?>
<ds:datastoreItem xmlns:ds="http://schemas.openxmlformats.org/officeDocument/2006/customXml" ds:itemID="{B68CF3E5-2780-413E-B19F-1103B7B5EE1F}"/>
</file>

<file path=customXml/itemProps3.xml><?xml version="1.0" encoding="utf-8"?>
<ds:datastoreItem xmlns:ds="http://schemas.openxmlformats.org/officeDocument/2006/customXml" ds:itemID="{5444A3B9-A1B5-403F-9615-44F20FBB47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3525</TotalTime>
  <Words>339</Words>
  <Application>Microsoft Macintosh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Questions</vt:lpstr>
      <vt:lpstr>PowerPoint Presentation</vt:lpstr>
      <vt:lpstr>PowerPoint Presentation</vt:lpstr>
      <vt:lpstr>PowerPoint Presentation</vt:lpstr>
      <vt:lpstr>PowerPoint Presentation</vt:lpstr>
      <vt:lpstr>BYOD Controls</vt:lpstr>
      <vt:lpstr>Decommissioning</vt:lpstr>
      <vt:lpstr>Zero Trust Complete</vt:lpstr>
      <vt:lpstr>Incident Response</vt:lpstr>
      <vt:lpstr>Breach Support</vt:lpstr>
      <vt:lpstr>Cyber Insurance Claim</vt:lpstr>
      <vt:lpstr>Legacy IT Replacement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Guyaux</dc:creator>
  <cp:lastModifiedBy>Vincent Guyaux</cp:lastModifiedBy>
  <cp:revision>2</cp:revision>
  <dcterms:created xsi:type="dcterms:W3CDTF">2026-02-05T20:08:51Z</dcterms:created>
  <dcterms:modified xsi:type="dcterms:W3CDTF">2026-02-08T13:06:23Z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  <property fmtid="{D5CDD505-2E9C-101B-9397-08002B2CF9AE}" pid="3" name="MediaServiceImageTags">
    <vt:lpwstr/>
  </property>
</Properties>
</file>