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324" r:id="rId6"/>
    <p:sldId id="301" r:id="rId7"/>
    <p:sldId id="306" r:id="rId8"/>
    <p:sldId id="307" r:id="rId9"/>
    <p:sldId id="312" r:id="rId10"/>
    <p:sldId id="311" r:id="rId11"/>
    <p:sldId id="317" r:id="rId12"/>
    <p:sldId id="302" r:id="rId13"/>
    <p:sldId id="305" r:id="rId14"/>
    <p:sldId id="308" r:id="rId15"/>
    <p:sldId id="313" r:id="rId16"/>
    <p:sldId id="314" r:id="rId17"/>
    <p:sldId id="316" r:id="rId18"/>
    <p:sldId id="320" r:id="rId19"/>
    <p:sldId id="321" r:id="rId20"/>
    <p:sldId id="319" r:id="rId21"/>
    <p:sldId id="322" r:id="rId22"/>
    <p:sldId id="323" r:id="rId23"/>
    <p:sldId id="25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446C0A-2582-9D42-A74F-680D3D2B7530}" v="53" dt="2023-07-28T13:21:01.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90"/>
    <p:restoredTop sz="96327"/>
  </p:normalViewPr>
  <p:slideViewPr>
    <p:cSldViewPr snapToGrid="0">
      <p:cViewPr varScale="1">
        <p:scale>
          <a:sx n="123" d="100"/>
          <a:sy n="123" d="100"/>
        </p:scale>
        <p:origin x="800" y="192"/>
      </p:cViewPr>
      <p:guideLst/>
    </p:cSldViewPr>
  </p:slideViewPr>
  <p:notesTextViewPr>
    <p:cViewPr>
      <p:scale>
        <a:sx n="1" d="1"/>
        <a:sy n="1" d="1"/>
      </p:scale>
      <p:origin x="0" y="0"/>
    </p:cViewPr>
  </p:notesTextViewPr>
  <p:sorterViewPr>
    <p:cViewPr>
      <p:scale>
        <a:sx n="160" d="100"/>
        <a:sy n="16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52D6B-2B6F-C75A-F7A5-8E19561C8D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443840-5439-7B16-B0DE-B010453F86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A817FB-3E83-4BC4-E969-796578F1ED60}"/>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2382871B-412B-D4E6-349D-A7D6256BD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A7CB4A-55BB-30E0-0FD1-63571C2510ED}"/>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1782707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0B7C8-6BB4-3CA4-467E-586D9888B0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26E4D-BB84-1749-C02C-9F71C05AF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2E878-C4FE-388C-C55C-A179292D79BB}"/>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B0C8789E-2D01-CADE-A4D8-960FEABEA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6836B-F98B-3FA7-CD3E-2DD293376289}"/>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969450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65094-BAE5-4C9D-7A96-4E0ACBD3D9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79B8F8-7E42-145D-6A3E-578B5D8EBE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B2E4AE-3EA3-8CAA-6910-E2FE94EA6FA2}"/>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D782FDB8-80B3-4AB7-0514-BBA68A850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23B32-B360-577A-20DE-EFFC884CA7BF}"/>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118230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94594-D78A-AC0D-DDA8-B8D5B29856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68429-2B02-B66C-98AD-FCA1D129D1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2221F2-4792-2D61-392D-AB962741A2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CB41BB-F6A7-F675-1AF2-3CBC15E58EE8}"/>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6" name="Footer Placeholder 5">
            <a:extLst>
              <a:ext uri="{FF2B5EF4-FFF2-40B4-BE49-F238E27FC236}">
                <a16:creationId xmlns:a16="http://schemas.microsoft.com/office/drawing/2014/main" id="{3208D599-D33D-0609-D49C-60B8122CCF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87CBC-3450-DF30-96EB-99365F9A417B}"/>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4156335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9F7E1-A434-8CCE-0A85-24EA45146C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83F464-45AC-FE7A-AB48-17BB9394E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DC6452-A88E-8B23-B879-237993493F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CDAF7C-7F75-E97D-50B8-33D465D199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C505AA-6FA5-DD80-1C1B-43C3623DBB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5CC6D4-AB4E-8666-D663-5DE1EF1C14C6}"/>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8" name="Footer Placeholder 7">
            <a:extLst>
              <a:ext uri="{FF2B5EF4-FFF2-40B4-BE49-F238E27FC236}">
                <a16:creationId xmlns:a16="http://schemas.microsoft.com/office/drawing/2014/main" id="{3C2843ED-2E1C-4F6A-7524-5350A5AF55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471A9E-9C52-148B-5141-809FCFF6D477}"/>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2112865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9F7E1-A434-8CCE-0A85-24EA45146C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83F464-45AC-FE7A-AB48-17BB9394E48A}"/>
              </a:ext>
            </a:extLst>
          </p:cNvPr>
          <p:cNvSpPr>
            <a:spLocks noGrp="1"/>
          </p:cNvSpPr>
          <p:nvPr>
            <p:ph type="body" idx="1"/>
          </p:nvPr>
        </p:nvSpPr>
        <p:spPr>
          <a:xfrm>
            <a:off x="839789" y="1681163"/>
            <a:ext cx="32999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DC6452-A88E-8B23-B879-237993493FD0}"/>
              </a:ext>
            </a:extLst>
          </p:cNvPr>
          <p:cNvSpPr>
            <a:spLocks noGrp="1"/>
          </p:cNvSpPr>
          <p:nvPr>
            <p:ph sz="half" idx="2"/>
          </p:nvPr>
        </p:nvSpPr>
        <p:spPr>
          <a:xfrm>
            <a:off x="839789" y="2505075"/>
            <a:ext cx="32999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F7CDAF7C-7F75-E97D-50B8-33D465D1998F}"/>
              </a:ext>
            </a:extLst>
          </p:cNvPr>
          <p:cNvSpPr>
            <a:spLocks noGrp="1"/>
          </p:cNvSpPr>
          <p:nvPr>
            <p:ph type="body" sz="quarter" idx="3"/>
          </p:nvPr>
        </p:nvSpPr>
        <p:spPr>
          <a:xfrm>
            <a:off x="4267098" y="1681163"/>
            <a:ext cx="34788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FC505AA-6FA5-DD80-1C1B-43C3623DBB2B}"/>
              </a:ext>
            </a:extLst>
          </p:cNvPr>
          <p:cNvSpPr>
            <a:spLocks noGrp="1"/>
          </p:cNvSpPr>
          <p:nvPr>
            <p:ph sz="quarter" idx="4"/>
          </p:nvPr>
        </p:nvSpPr>
        <p:spPr>
          <a:xfrm>
            <a:off x="4267098" y="2505075"/>
            <a:ext cx="347887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4D874B1-EF34-917A-9253-3BD17ACF1157}"/>
              </a:ext>
            </a:extLst>
          </p:cNvPr>
          <p:cNvSpPr>
            <a:spLocks noGrp="1"/>
          </p:cNvSpPr>
          <p:nvPr>
            <p:ph type="body" sz="quarter" idx="10"/>
          </p:nvPr>
        </p:nvSpPr>
        <p:spPr>
          <a:xfrm>
            <a:off x="7873335" y="1681163"/>
            <a:ext cx="34788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E001EB21-1E9C-EFA7-EC87-5D2792959BD4}"/>
              </a:ext>
            </a:extLst>
          </p:cNvPr>
          <p:cNvSpPr>
            <a:spLocks noGrp="1"/>
          </p:cNvSpPr>
          <p:nvPr>
            <p:ph sz="quarter" idx="11"/>
          </p:nvPr>
        </p:nvSpPr>
        <p:spPr>
          <a:xfrm>
            <a:off x="7873335" y="2505075"/>
            <a:ext cx="347887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1971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64FD9-6741-F274-9319-9B970FDA9EC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5BBDD0-598F-6C2F-A63C-A29F099E68D7}"/>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4" name="Footer Placeholder 3">
            <a:extLst>
              <a:ext uri="{FF2B5EF4-FFF2-40B4-BE49-F238E27FC236}">
                <a16:creationId xmlns:a16="http://schemas.microsoft.com/office/drawing/2014/main" id="{3FC06DAC-FF3F-10D5-3DE6-7927F1099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5886A7-1AB7-0EC1-B4DD-71B8CFDB1CC4}"/>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356090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D7693-A754-98B8-6F30-40ACA2B41DE7}"/>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3" name="Footer Placeholder 2">
            <a:extLst>
              <a:ext uri="{FF2B5EF4-FFF2-40B4-BE49-F238E27FC236}">
                <a16:creationId xmlns:a16="http://schemas.microsoft.com/office/drawing/2014/main" id="{5159DE38-F616-F084-0081-54E8A81338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AB102D-1642-B1DE-8736-0E015678AFBE}"/>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3102918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76410-B211-E8F4-DE95-A60C514F0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0817E8-DBDF-AEB4-5B6B-36BC251B54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752C8B-91D6-63CB-4892-821AD8D97F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D36F6-6551-4BA6-99AB-DB53AA946997}"/>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6" name="Footer Placeholder 5">
            <a:extLst>
              <a:ext uri="{FF2B5EF4-FFF2-40B4-BE49-F238E27FC236}">
                <a16:creationId xmlns:a16="http://schemas.microsoft.com/office/drawing/2014/main" id="{2963FE04-7C1F-3123-CF66-4B9004FE5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F5B3FB-6CD2-D35A-1AB5-B3AE7A07E01E}"/>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1259396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7D08-D96E-07ED-CB2C-8EF14F1F1B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EF0BBD-17B1-EA1B-9812-F72EA083CD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810AA8-3FDC-10C8-6FFA-4B69CE943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B11E5-AE62-CD85-ABBF-602D2E8F7ED1}"/>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6" name="Footer Placeholder 5">
            <a:extLst>
              <a:ext uri="{FF2B5EF4-FFF2-40B4-BE49-F238E27FC236}">
                <a16:creationId xmlns:a16="http://schemas.microsoft.com/office/drawing/2014/main" id="{2F75BA90-B930-07CB-CB37-1B843486CC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5370D8-1452-DB1F-8FCA-1D2ED5599B8B}"/>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2257332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6BEC-36E8-228F-2E4A-8585D80877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ACD83F-E2F1-4808-DFFC-3A13673C8E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417AA-AC87-9543-13CF-171958FFBD30}"/>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CCCD9408-3C8B-0B87-D24A-4F54C982E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CB45B5-DAF8-A47B-4423-F2AC37EF07C1}"/>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2020946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CBD9B4-1281-BF21-6E20-DCAC5A933B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F19723-B5E0-7F1B-8EA3-0859E1194F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0D4D9-591C-41D2-B524-D7408D93A6D3}"/>
              </a:ext>
            </a:extLst>
          </p:cNvPr>
          <p:cNvSpPr>
            <a:spLocks noGrp="1"/>
          </p:cNvSpPr>
          <p:nvPr>
            <p:ph type="dt" sz="half" idx="10"/>
          </p:nvPr>
        </p:nvSpPr>
        <p:spPr/>
        <p:txBody>
          <a:body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7AF7B60D-9E06-91DC-CB75-F58124A68A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5BA1F5-381A-4782-9832-D9EF212AAE56}"/>
              </a:ext>
            </a:extLst>
          </p:cNvPr>
          <p:cNvSpPr>
            <a:spLocks noGrp="1"/>
          </p:cNvSpPr>
          <p:nvPr>
            <p:ph type="sldNum" sz="quarter" idx="12"/>
          </p:nvPr>
        </p:nvSpPr>
        <p:spPr/>
        <p:txBody>
          <a:bodyPr/>
          <a:lstStyle/>
          <a:p>
            <a:fld id="{EF08454A-5975-4D4D-92CB-06759A277CC9}" type="slidenum">
              <a:rPr lang="en-US" smtClean="0"/>
              <a:t>‹#›</a:t>
            </a:fld>
            <a:endParaRPr lang="en-US"/>
          </a:p>
        </p:txBody>
      </p:sp>
    </p:spTree>
    <p:extLst>
      <p:ext uri="{BB962C8B-B14F-4D97-AF65-F5344CB8AC3E}">
        <p14:creationId xmlns:p14="http://schemas.microsoft.com/office/powerpoint/2010/main" val="5161769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 Paragraph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6EF2-E4B2-F04C-B72F-FBB70A2567C7}"/>
              </a:ext>
            </a:extLst>
          </p:cNvPr>
          <p:cNvSpPr>
            <a:spLocks noGrp="1"/>
          </p:cNvSpPr>
          <p:nvPr>
            <p:ph type="title"/>
          </p:nvPr>
        </p:nvSpPr>
        <p:spPr>
          <a:xfrm>
            <a:off x="609600" y="457200"/>
            <a:ext cx="7315200" cy="4961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2C94CD-B25B-B040-852C-A237B0260E3D}"/>
              </a:ext>
            </a:extLst>
          </p:cNvPr>
          <p:cNvSpPr>
            <a:spLocks noGrp="1"/>
          </p:cNvSpPr>
          <p:nvPr>
            <p:ph type="body" idx="1"/>
          </p:nvPr>
        </p:nvSpPr>
        <p:spPr>
          <a:xfrm>
            <a:off x="1828800" y="1371600"/>
            <a:ext cx="9753600" cy="640082"/>
          </a:xfrm>
        </p:spPr>
        <p:txBody>
          <a:bodyPr anchor="t" anchorCtr="0"/>
          <a:lstStyle>
            <a:lvl1pPr marL="0" indent="0">
              <a:lnSpc>
                <a:spcPts val="2200"/>
              </a:lnSpc>
              <a:spcBef>
                <a:spcPts val="0"/>
              </a:spcBef>
              <a:spcAft>
                <a:spcPts val="900"/>
              </a:spcAft>
              <a:buNone/>
              <a:defRPr sz="1600" b="0" i="0" cap="none" baseline="0">
                <a:solidFill>
                  <a:schemeClr val="tx1"/>
                </a:solidFill>
                <a:latin typeface="Inter" panose="020B0502030000000004" pitchFamily="34" charset="0"/>
                <a:ea typeface="Inter" panose="020B0502030000000004" pitchFamily="34" charset="0"/>
                <a:cs typeface="Inter" panose="020B05020300000000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Slide Number Placeholder 8">
            <a:extLst>
              <a:ext uri="{FF2B5EF4-FFF2-40B4-BE49-F238E27FC236}">
                <a16:creationId xmlns:a16="http://schemas.microsoft.com/office/drawing/2014/main" id="{8A425D18-09F2-BF46-AFEB-DB383EB9E212}"/>
              </a:ext>
            </a:extLst>
          </p:cNvPr>
          <p:cNvSpPr>
            <a:spLocks noGrp="1"/>
          </p:cNvSpPr>
          <p:nvPr>
            <p:ph type="sldNum" sz="quarter" idx="12"/>
          </p:nvPr>
        </p:nvSpPr>
        <p:spPr/>
        <p:txBody>
          <a:bodyPr/>
          <a:lstStyle/>
          <a:p>
            <a:fld id="{366326D4-7545-CE40-800D-D66E4EDE5E59}" type="slidenum">
              <a:rPr lang="en-US" smtClean="0"/>
              <a:t>‹#›</a:t>
            </a:fld>
            <a:endParaRPr lang="en-US"/>
          </a:p>
        </p:txBody>
      </p:sp>
      <p:cxnSp>
        <p:nvCxnSpPr>
          <p:cNvPr id="10" name="Straight Connector 9">
            <a:extLst>
              <a:ext uri="{FF2B5EF4-FFF2-40B4-BE49-F238E27FC236}">
                <a16:creationId xmlns:a16="http://schemas.microsoft.com/office/drawing/2014/main" id="{25DA5FA4-872C-5E41-B66C-A1580D73150A}"/>
              </a:ext>
            </a:extLst>
          </p:cNvPr>
          <p:cNvCxnSpPr>
            <a:cxnSpLocks/>
          </p:cNvCxnSpPr>
          <p:nvPr userDrawn="1"/>
        </p:nvCxnSpPr>
        <p:spPr>
          <a:xfrm>
            <a:off x="11082528" y="6263640"/>
            <a:ext cx="499872"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9D593EE-78B6-6A4C-AAA0-C0BC0EEEE18C}"/>
              </a:ext>
            </a:extLst>
          </p:cNvPr>
          <p:cNvPicPr>
            <a:picLocks noChangeAspect="1"/>
          </p:cNvPicPr>
          <p:nvPr userDrawn="1"/>
        </p:nvPicPr>
        <p:blipFill>
          <a:blip r:embed="rId2"/>
          <a:srcRect/>
          <a:stretch/>
        </p:blipFill>
        <p:spPr>
          <a:xfrm>
            <a:off x="624469" y="5793474"/>
            <a:ext cx="804672" cy="603504"/>
          </a:xfrm>
          <a:prstGeom prst="rect">
            <a:avLst/>
          </a:prstGeom>
        </p:spPr>
      </p:pic>
    </p:spTree>
    <p:extLst>
      <p:ext uri="{BB962C8B-B14F-4D97-AF65-F5344CB8AC3E}">
        <p14:creationId xmlns:p14="http://schemas.microsoft.com/office/powerpoint/2010/main" val="3960615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A4D8B-9DC3-8DC3-9B78-73E9BCCDF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05DC6E-F226-16E3-6BC2-4D4D6F227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179BE6-5247-EEC3-CBDD-EDE364A95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732AB9-0280-E540-B9D6-31134B89BC4D}" type="datetimeFigureOut">
              <a:rPr lang="en-US" smtClean="0"/>
              <a:t>8/7/23</a:t>
            </a:fld>
            <a:endParaRPr lang="en-US"/>
          </a:p>
        </p:txBody>
      </p:sp>
      <p:sp>
        <p:nvSpPr>
          <p:cNvPr id="5" name="Footer Placeholder 4">
            <a:extLst>
              <a:ext uri="{FF2B5EF4-FFF2-40B4-BE49-F238E27FC236}">
                <a16:creationId xmlns:a16="http://schemas.microsoft.com/office/drawing/2014/main" id="{B8777F94-F127-826F-CB46-8D06C4DE38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F26580D-2F27-53E5-9B64-53B1DDB88B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08454A-5975-4D4D-92CB-06759A277CC9}" type="slidenum">
              <a:rPr lang="en-US" smtClean="0"/>
              <a:t>‹#›</a:t>
            </a:fld>
            <a:endParaRPr lang="en-US"/>
          </a:p>
        </p:txBody>
      </p:sp>
    </p:spTree>
    <p:extLst>
      <p:ext uri="{BB962C8B-B14F-4D97-AF65-F5344CB8AC3E}">
        <p14:creationId xmlns:p14="http://schemas.microsoft.com/office/powerpoint/2010/main" val="89353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 id="2147483654" r:id="rId7"/>
    <p:sldLayoutId id="2147483655" r:id="rId8"/>
    <p:sldLayoutId id="2147483656" r:id="rId9"/>
    <p:sldLayoutId id="2147483657" r:id="rId10"/>
    <p:sldLayoutId id="2147483658" r:id="rId11"/>
    <p:sldLayoutId id="2147483659" r:id="rId12"/>
    <p:sldLayoutId id="214748366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fcicyber.com/wp-content/uploads/2023/07/SEC-Sample-Exam.pdf" TargetMode="Externa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5246C-0CC3-E910-B48E-4B181EB1AA1D}"/>
              </a:ext>
            </a:extLst>
          </p:cNvPr>
          <p:cNvSpPr>
            <a:spLocks noGrp="1"/>
          </p:cNvSpPr>
          <p:nvPr>
            <p:ph type="ctrTitle"/>
          </p:nvPr>
        </p:nvSpPr>
        <p:spPr>
          <a:xfrm>
            <a:off x="1865376" y="1122363"/>
            <a:ext cx="10326624" cy="2387600"/>
          </a:xfrm>
        </p:spPr>
        <p:txBody>
          <a:bodyPr>
            <a:noAutofit/>
          </a:bodyPr>
          <a:lstStyle/>
          <a:p>
            <a:pPr algn="l"/>
            <a:r>
              <a:rPr lang="en-US" sz="4400" b="1" dirty="0">
                <a:latin typeface="+mn-lt"/>
              </a:rPr>
              <a:t>To Senior Leadership</a:t>
            </a:r>
            <a:br>
              <a:rPr lang="en-US" sz="4400" b="1" dirty="0">
                <a:latin typeface="+mn-lt"/>
              </a:rPr>
            </a:br>
            <a:r>
              <a:rPr lang="en-US" sz="4400" b="1" dirty="0">
                <a:latin typeface="+mn-lt"/>
              </a:rPr>
              <a:t>&amp; Board of Directors</a:t>
            </a:r>
          </a:p>
        </p:txBody>
      </p:sp>
      <p:sp>
        <p:nvSpPr>
          <p:cNvPr id="3" name="Subtitle 2">
            <a:extLst>
              <a:ext uri="{FF2B5EF4-FFF2-40B4-BE49-F238E27FC236}">
                <a16:creationId xmlns:a16="http://schemas.microsoft.com/office/drawing/2014/main" id="{ED60D8AF-0D32-7F4E-6C7C-CA3D2FA793F0}"/>
              </a:ext>
            </a:extLst>
          </p:cNvPr>
          <p:cNvSpPr>
            <a:spLocks noGrp="1"/>
          </p:cNvSpPr>
          <p:nvPr>
            <p:ph type="subTitle" idx="1"/>
          </p:nvPr>
        </p:nvSpPr>
        <p:spPr>
          <a:xfrm>
            <a:off x="1892808" y="3652566"/>
            <a:ext cx="8729472" cy="1230330"/>
          </a:xfrm>
        </p:spPr>
        <p:txBody>
          <a:bodyPr/>
          <a:lstStyle/>
          <a:p>
            <a:pPr algn="l"/>
            <a:r>
              <a:rPr lang="en-US" dirty="0">
                <a:latin typeface="+mj-lt"/>
              </a:rPr>
              <a:t>Cybersecurity Regulatory Requirements</a:t>
            </a:r>
          </a:p>
          <a:p>
            <a:pPr algn="l"/>
            <a:r>
              <a:rPr lang="en-US" sz="1800" dirty="0">
                <a:latin typeface="+mj-lt"/>
              </a:rPr>
              <a:t>- What you should know about them</a:t>
            </a:r>
          </a:p>
          <a:p>
            <a:pPr algn="l"/>
            <a:r>
              <a:rPr lang="en-US" sz="1800" dirty="0">
                <a:latin typeface="+mj-lt"/>
              </a:rPr>
              <a:t>- 3 deliverables to request from your security officer</a:t>
            </a:r>
          </a:p>
        </p:txBody>
      </p:sp>
      <p:pic>
        <p:nvPicPr>
          <p:cNvPr id="4" name="Picture 2">
            <a:extLst>
              <a:ext uri="{FF2B5EF4-FFF2-40B4-BE49-F238E27FC236}">
                <a16:creationId xmlns:a16="http://schemas.microsoft.com/office/drawing/2014/main" id="{C1D55A1B-54A9-CC62-8FB2-7D95BBBC1D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22086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7" y="1204705"/>
            <a:ext cx="10856219" cy="1325563"/>
          </a:xfrm>
        </p:spPr>
        <p:txBody>
          <a:bodyPr>
            <a:normAutofit/>
          </a:bodyPr>
          <a:lstStyle/>
          <a:p>
            <a:r>
              <a:rPr lang="en-US" sz="3600" b="1" dirty="0">
                <a:latin typeface="+mn-lt"/>
              </a:rPr>
              <a:t>3 Deliverables to Assess Cybersecurity Compliance</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2" y="2264159"/>
            <a:ext cx="2474494" cy="428685"/>
          </a:xfrm>
        </p:spPr>
        <p:txBody>
          <a:bodyPr>
            <a:normAutofit/>
          </a:bodyPr>
          <a:lstStyle/>
          <a:p>
            <a:pPr marL="230188" indent="-230188"/>
            <a:r>
              <a:rPr lang="en-US" sz="1600" b="0" dirty="0"/>
              <a:t>1. Active Cyber Program</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1066727" y="2692845"/>
            <a:ext cx="2017293" cy="2671762"/>
          </a:xfrm>
        </p:spPr>
        <p:txBody>
          <a:bodyPr>
            <a:normAutofit/>
          </a:bodyPr>
          <a:lstStyle/>
          <a:p>
            <a:pPr marL="114300" indent="-114300"/>
            <a:r>
              <a:rPr lang="en-US" sz="1200" dirty="0">
                <a:solidFill>
                  <a:schemeClr val="tx1">
                    <a:lumMod val="50000"/>
                    <a:lumOff val="50000"/>
                  </a:schemeClr>
                </a:solidFill>
                <a:latin typeface="+mj-lt"/>
              </a:rPr>
              <a:t>Copy of our Cyber Program and the confirmation that it meets the Firm’s cybersecurity regulatory requirements (SEC, FINRA, NYDFS, etc.).</a:t>
            </a:r>
          </a:p>
          <a:p>
            <a:pPr marL="114300" indent="-114300"/>
            <a:r>
              <a:rPr lang="en-US" sz="1200" dirty="0">
                <a:solidFill>
                  <a:schemeClr val="tx1">
                    <a:lumMod val="50000"/>
                    <a:lumOff val="50000"/>
                  </a:schemeClr>
                </a:solidFill>
                <a:latin typeface="+mj-lt"/>
              </a:rPr>
              <a:t>List of evidence confirming the execution of recurring tasks required by regulations.</a:t>
            </a:r>
          </a:p>
          <a:p>
            <a:pPr marL="114300" indent="-114300">
              <a:buFont typeface="+mj-lt"/>
              <a:buAutoNum type="arabicPeriod"/>
            </a:pPr>
            <a:endParaRPr lang="en-US" sz="1200" dirty="0">
              <a:solidFill>
                <a:schemeClr val="tx1">
                  <a:lumMod val="50000"/>
                  <a:lumOff val="50000"/>
                </a:schemeClr>
              </a:solidFill>
              <a:latin typeface="+mj-lt"/>
            </a:endParaRPr>
          </a:p>
        </p:txBody>
      </p:sp>
      <p:sp>
        <p:nvSpPr>
          <p:cNvPr id="9" name="TextBox 8">
            <a:extLst>
              <a:ext uri="{FF2B5EF4-FFF2-40B4-BE49-F238E27FC236}">
                <a16:creationId xmlns:a16="http://schemas.microsoft.com/office/drawing/2014/main" id="{44C29D26-9A2F-44C7-3F8F-8CC98A0E8704}"/>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tx1">
                    <a:lumMod val="50000"/>
                    <a:lumOff val="50000"/>
                  </a:schemeClr>
                </a:solidFill>
              </a:rPr>
              <a:t>REQUEST FROM SENIOR LEADSERHIP TO SECURITY OFFICER</a:t>
            </a:r>
          </a:p>
        </p:txBody>
      </p:sp>
      <p:sp>
        <p:nvSpPr>
          <p:cNvPr id="18" name="Text Placeholder 2">
            <a:extLst>
              <a:ext uri="{FF2B5EF4-FFF2-40B4-BE49-F238E27FC236}">
                <a16:creationId xmlns:a16="http://schemas.microsoft.com/office/drawing/2014/main" id="{982B5C5E-851C-D0BB-804C-516CFEDC9CCB}"/>
              </a:ext>
            </a:extLst>
          </p:cNvPr>
          <p:cNvSpPr txBox="1">
            <a:spLocks/>
          </p:cNvSpPr>
          <p:nvPr/>
        </p:nvSpPr>
        <p:spPr>
          <a:xfrm>
            <a:off x="3410910" y="2264159"/>
            <a:ext cx="2474494" cy="42868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230188" indent="-230188"/>
            <a:r>
              <a:rPr lang="en-US" sz="1600" b="0" dirty="0"/>
              <a:t>2. Asset Inventory Report</a:t>
            </a:r>
          </a:p>
        </p:txBody>
      </p:sp>
      <p:sp>
        <p:nvSpPr>
          <p:cNvPr id="19" name="Content Placeholder 3">
            <a:extLst>
              <a:ext uri="{FF2B5EF4-FFF2-40B4-BE49-F238E27FC236}">
                <a16:creationId xmlns:a16="http://schemas.microsoft.com/office/drawing/2014/main" id="{7D73FB30-A2AE-AA94-85EB-E4E3E93A444F}"/>
              </a:ext>
            </a:extLst>
          </p:cNvPr>
          <p:cNvSpPr txBox="1">
            <a:spLocks/>
          </p:cNvSpPr>
          <p:nvPr/>
        </p:nvSpPr>
        <p:spPr>
          <a:xfrm>
            <a:off x="3610415" y="2692845"/>
            <a:ext cx="2017293" cy="33541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114300">
              <a:lnSpc>
                <a:spcPct val="100000"/>
              </a:lnSpc>
            </a:pPr>
            <a:r>
              <a:rPr lang="en-US" sz="1200" dirty="0">
                <a:solidFill>
                  <a:schemeClr val="tx1">
                    <a:lumMod val="50000"/>
                    <a:lumOff val="50000"/>
                  </a:schemeClr>
                </a:solidFill>
                <a:latin typeface="+mj-lt"/>
              </a:rPr>
              <a:t>Copy of our current Endpoint Asset Inventory Report with technical information (serial number, OS version, etc.) and cyber posture (complex password, full-disk encryption, antivirus with endpoint protection and response, computer firewall, etc.).</a:t>
            </a:r>
          </a:p>
          <a:p>
            <a:pPr marL="114300" indent="-114300">
              <a:lnSpc>
                <a:spcPct val="100000"/>
              </a:lnSpc>
            </a:pPr>
            <a:r>
              <a:rPr lang="en-US" sz="1200" dirty="0">
                <a:solidFill>
                  <a:schemeClr val="tx1">
                    <a:lumMod val="50000"/>
                    <a:lumOff val="50000"/>
                  </a:schemeClr>
                </a:solidFill>
                <a:latin typeface="+mj-lt"/>
              </a:rPr>
              <a:t>Copy of an Endpoint Asset Inventory Report dated 1 year ago.</a:t>
            </a:r>
          </a:p>
        </p:txBody>
      </p:sp>
      <p:sp>
        <p:nvSpPr>
          <p:cNvPr id="20" name="Text Placeholder 2">
            <a:extLst>
              <a:ext uri="{FF2B5EF4-FFF2-40B4-BE49-F238E27FC236}">
                <a16:creationId xmlns:a16="http://schemas.microsoft.com/office/drawing/2014/main" id="{1AF9DD0C-766F-7415-1C7F-051A30911C3C}"/>
              </a:ext>
            </a:extLst>
          </p:cNvPr>
          <p:cNvSpPr txBox="1">
            <a:spLocks/>
          </p:cNvSpPr>
          <p:nvPr/>
        </p:nvSpPr>
        <p:spPr>
          <a:xfrm>
            <a:off x="6120857" y="2264159"/>
            <a:ext cx="2474494" cy="42868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230188" indent="-230188"/>
            <a:r>
              <a:rPr lang="en-US" sz="1600" b="0" dirty="0"/>
              <a:t>3. Security Risk Assessment</a:t>
            </a:r>
          </a:p>
        </p:txBody>
      </p:sp>
      <p:sp>
        <p:nvSpPr>
          <p:cNvPr id="21" name="Content Placeholder 3">
            <a:extLst>
              <a:ext uri="{FF2B5EF4-FFF2-40B4-BE49-F238E27FC236}">
                <a16:creationId xmlns:a16="http://schemas.microsoft.com/office/drawing/2014/main" id="{A9B77D00-B1F0-9988-E488-A5064DD9AF08}"/>
              </a:ext>
            </a:extLst>
          </p:cNvPr>
          <p:cNvSpPr txBox="1">
            <a:spLocks/>
          </p:cNvSpPr>
          <p:nvPr/>
        </p:nvSpPr>
        <p:spPr>
          <a:xfrm>
            <a:off x="6320362" y="2692845"/>
            <a:ext cx="2017293" cy="2671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114300"/>
            <a:r>
              <a:rPr lang="en-US" sz="1200" dirty="0">
                <a:solidFill>
                  <a:schemeClr val="tx1">
                    <a:lumMod val="50000"/>
                    <a:lumOff val="50000"/>
                  </a:schemeClr>
                </a:solidFill>
                <a:latin typeface="+mj-lt"/>
              </a:rPr>
              <a:t>Copy of our latest Security Risk Assessment covering a review of our Cyber Program and a series of technical validation (vulnerability scans, network penetration testing, etc.)</a:t>
            </a:r>
          </a:p>
          <a:p>
            <a:pPr marL="114300" indent="-114300"/>
            <a:r>
              <a:rPr lang="en-US" sz="1200" dirty="0">
                <a:solidFill>
                  <a:schemeClr val="tx1">
                    <a:lumMod val="50000"/>
                    <a:lumOff val="50000"/>
                  </a:schemeClr>
                </a:solidFill>
                <a:latin typeface="+mj-lt"/>
              </a:rPr>
              <a:t>Our current Corrective and Prevention Plan resulting from the Security Assessment.</a:t>
            </a:r>
          </a:p>
          <a:p>
            <a:pPr marL="114300" indent="-114300"/>
            <a:endParaRPr lang="en-US" sz="1200" dirty="0">
              <a:solidFill>
                <a:schemeClr val="tx1">
                  <a:lumMod val="50000"/>
                  <a:lumOff val="50000"/>
                </a:schemeClr>
              </a:solidFill>
              <a:latin typeface="+mj-lt"/>
            </a:endParaRPr>
          </a:p>
        </p:txBody>
      </p:sp>
      <p:sp>
        <p:nvSpPr>
          <p:cNvPr id="22" name="Text Placeholder 2">
            <a:extLst>
              <a:ext uri="{FF2B5EF4-FFF2-40B4-BE49-F238E27FC236}">
                <a16:creationId xmlns:a16="http://schemas.microsoft.com/office/drawing/2014/main" id="{EABCB759-7E5A-ECC8-9613-ADAAE2A86DBE}"/>
              </a:ext>
            </a:extLst>
          </p:cNvPr>
          <p:cNvSpPr txBox="1">
            <a:spLocks/>
          </p:cNvSpPr>
          <p:nvPr/>
        </p:nvSpPr>
        <p:spPr>
          <a:xfrm>
            <a:off x="9318337" y="2692844"/>
            <a:ext cx="2474494" cy="42868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b="0" dirty="0">
                <a:solidFill>
                  <a:schemeClr val="tx1">
                    <a:lumMod val="50000"/>
                    <a:lumOff val="50000"/>
                  </a:schemeClr>
                </a:solidFill>
              </a:rPr>
              <a:t>SEC Mock Exam Exercise</a:t>
            </a:r>
          </a:p>
        </p:txBody>
      </p:sp>
      <p:sp>
        <p:nvSpPr>
          <p:cNvPr id="23" name="Content Placeholder 3">
            <a:extLst>
              <a:ext uri="{FF2B5EF4-FFF2-40B4-BE49-F238E27FC236}">
                <a16:creationId xmlns:a16="http://schemas.microsoft.com/office/drawing/2014/main" id="{A62730FA-A974-F8EE-1378-86E4C8C7BFA3}"/>
              </a:ext>
            </a:extLst>
          </p:cNvPr>
          <p:cNvSpPr txBox="1">
            <a:spLocks/>
          </p:cNvSpPr>
          <p:nvPr/>
        </p:nvSpPr>
        <p:spPr>
          <a:xfrm>
            <a:off x="9321265" y="3121530"/>
            <a:ext cx="2017293" cy="2671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114300"/>
            <a:r>
              <a:rPr lang="en-US" sz="1200" dirty="0">
                <a:solidFill>
                  <a:schemeClr val="tx1">
                    <a:lumMod val="50000"/>
                    <a:lumOff val="50000"/>
                  </a:schemeClr>
                </a:solidFill>
                <a:latin typeface="+mj-lt"/>
              </a:rPr>
              <a:t>Answer each question of the SEC Mock Exam document published by SEC.</a:t>
            </a:r>
          </a:p>
          <a:p>
            <a:pPr marL="114300" indent="-114300"/>
            <a:r>
              <a:rPr lang="en-US" sz="1200" dirty="0">
                <a:solidFill>
                  <a:schemeClr val="tx1">
                    <a:lumMod val="50000"/>
                    <a:lumOff val="50000"/>
                  </a:schemeClr>
                </a:solidFill>
                <a:latin typeface="+mj-lt"/>
              </a:rPr>
              <a:t>Present the results to Senior Leadership</a:t>
            </a:r>
          </a:p>
          <a:p>
            <a:pPr marL="114300" indent="-114300">
              <a:buFont typeface="+mj-lt"/>
              <a:buAutoNum type="arabicPeriod"/>
            </a:pPr>
            <a:endParaRPr lang="en-US" sz="1200" dirty="0">
              <a:solidFill>
                <a:schemeClr val="tx1">
                  <a:lumMod val="50000"/>
                  <a:lumOff val="50000"/>
                </a:schemeClr>
              </a:solidFill>
              <a:latin typeface="+mj-lt"/>
            </a:endParaRPr>
          </a:p>
        </p:txBody>
      </p:sp>
      <p:pic>
        <p:nvPicPr>
          <p:cNvPr id="24" name="Picture 23">
            <a:hlinkClick r:id="rId2"/>
            <a:extLst>
              <a:ext uri="{FF2B5EF4-FFF2-40B4-BE49-F238E27FC236}">
                <a16:creationId xmlns:a16="http://schemas.microsoft.com/office/drawing/2014/main" id="{0DA99A38-AF41-5543-1C09-8026C930B95A}"/>
              </a:ext>
            </a:extLst>
          </p:cNvPr>
          <p:cNvPicPr>
            <a:picLocks noChangeAspect="1"/>
          </p:cNvPicPr>
          <p:nvPr/>
        </p:nvPicPr>
        <p:blipFill rotWithShape="1">
          <a:blip r:embed="rId3"/>
          <a:srcRect b="11736"/>
          <a:stretch/>
        </p:blipFill>
        <p:spPr>
          <a:xfrm>
            <a:off x="9318337" y="4490363"/>
            <a:ext cx="698500" cy="616528"/>
          </a:xfrm>
          <a:prstGeom prst="rect">
            <a:avLst/>
          </a:prstGeom>
        </p:spPr>
      </p:pic>
      <p:sp>
        <p:nvSpPr>
          <p:cNvPr id="25" name="Text Placeholder 2">
            <a:extLst>
              <a:ext uri="{FF2B5EF4-FFF2-40B4-BE49-F238E27FC236}">
                <a16:creationId xmlns:a16="http://schemas.microsoft.com/office/drawing/2014/main" id="{CC3EE58F-E89E-EE70-FBCA-78AA9FD71B66}"/>
              </a:ext>
            </a:extLst>
          </p:cNvPr>
          <p:cNvSpPr txBox="1">
            <a:spLocks/>
          </p:cNvSpPr>
          <p:nvPr/>
        </p:nvSpPr>
        <p:spPr>
          <a:xfrm>
            <a:off x="9121752" y="2264159"/>
            <a:ext cx="2474494" cy="428685"/>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230188" indent="-230188"/>
            <a:r>
              <a:rPr lang="en-US" sz="1600" b="0" dirty="0">
                <a:solidFill>
                  <a:schemeClr val="tx1">
                    <a:lumMod val="50000"/>
                    <a:lumOff val="50000"/>
                  </a:schemeClr>
                </a:solidFill>
              </a:rPr>
              <a:t>4. Optional</a:t>
            </a:r>
          </a:p>
        </p:txBody>
      </p:sp>
      <p:pic>
        <p:nvPicPr>
          <p:cNvPr id="1026" name="Picture 2">
            <a:extLst>
              <a:ext uri="{FF2B5EF4-FFF2-40B4-BE49-F238E27FC236}">
                <a16:creationId xmlns:a16="http://schemas.microsoft.com/office/drawing/2014/main" id="{652C2646-5D85-80FC-4857-3CC2827B3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8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Cybersecurity Regulatory Requirements</a:t>
            </a:r>
          </a:p>
        </p:txBody>
      </p:sp>
      <p:graphicFrame>
        <p:nvGraphicFramePr>
          <p:cNvPr id="21" name="Table 5">
            <a:extLst>
              <a:ext uri="{FF2B5EF4-FFF2-40B4-BE49-F238E27FC236}">
                <a16:creationId xmlns:a16="http://schemas.microsoft.com/office/drawing/2014/main" id="{4DD1C6A0-EFBB-5C6D-F48D-93E8AFB37B6E}"/>
              </a:ext>
            </a:extLst>
          </p:cNvPr>
          <p:cNvGraphicFramePr>
            <a:graphicFrameLocks noGrp="1"/>
          </p:cNvGraphicFramePr>
          <p:nvPr>
            <p:extLst>
              <p:ext uri="{D42A27DB-BD31-4B8C-83A1-F6EECF244321}">
                <p14:modId xmlns:p14="http://schemas.microsoft.com/office/powerpoint/2010/main" val="4130678675"/>
              </p:ext>
            </p:extLst>
          </p:nvPr>
        </p:nvGraphicFramePr>
        <p:xfrm>
          <a:off x="939339" y="2626981"/>
          <a:ext cx="8437417" cy="2621280"/>
        </p:xfrm>
        <a:graphic>
          <a:graphicData uri="http://schemas.openxmlformats.org/drawingml/2006/table">
            <a:tbl>
              <a:tblPr firstRow="1" bandRow="1">
                <a:tableStyleId>{5C22544A-7EE6-4342-B048-85BDC9FD1C3A}</a:tableStyleId>
              </a:tblPr>
              <a:tblGrid>
                <a:gridCol w="4096428">
                  <a:extLst>
                    <a:ext uri="{9D8B030D-6E8A-4147-A177-3AD203B41FA5}">
                      <a16:colId xmlns:a16="http://schemas.microsoft.com/office/drawing/2014/main" val="3979124376"/>
                    </a:ext>
                  </a:extLst>
                </a:gridCol>
                <a:gridCol w="1434027">
                  <a:extLst>
                    <a:ext uri="{9D8B030D-6E8A-4147-A177-3AD203B41FA5}">
                      <a16:colId xmlns:a16="http://schemas.microsoft.com/office/drawing/2014/main" val="3780120603"/>
                    </a:ext>
                  </a:extLst>
                </a:gridCol>
                <a:gridCol w="1514066">
                  <a:extLst>
                    <a:ext uri="{9D8B030D-6E8A-4147-A177-3AD203B41FA5}">
                      <a16:colId xmlns:a16="http://schemas.microsoft.com/office/drawing/2014/main" val="3332605212"/>
                    </a:ext>
                  </a:extLst>
                </a:gridCol>
                <a:gridCol w="1392896">
                  <a:extLst>
                    <a:ext uri="{9D8B030D-6E8A-4147-A177-3AD203B41FA5}">
                      <a16:colId xmlns:a16="http://schemas.microsoft.com/office/drawing/2014/main" val="32944739"/>
                    </a:ext>
                  </a:extLst>
                </a:gridCol>
              </a:tblGrid>
              <a:tr h="370840">
                <a:tc>
                  <a:txBody>
                    <a:bodyPr/>
                    <a:lstStyle/>
                    <a:p>
                      <a:endParaRPr lang="en-US" sz="2000" cap="none" baseline="0" dirty="0">
                        <a:solidFill>
                          <a:schemeClr val="tx1"/>
                        </a:solidFill>
                        <a:latin typeface="+mn-lt"/>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0" cap="all" baseline="0" dirty="0">
                          <a:solidFill>
                            <a:schemeClr val="tx1"/>
                          </a:solidFill>
                          <a:latin typeface="+mn-lt"/>
                        </a:rPr>
                        <a:t>SEC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0" cap="all" baseline="0" dirty="0">
                          <a:solidFill>
                            <a:schemeClr val="tx1"/>
                          </a:solidFill>
                          <a:latin typeface="+mn-lt"/>
                        </a:rPr>
                        <a:t>FINRA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b="0" cap="all" baseline="0" dirty="0">
                          <a:solidFill>
                            <a:schemeClr val="tx1"/>
                          </a:solidFill>
                          <a:latin typeface="+mn-lt"/>
                        </a:rPr>
                        <a:t>NYDFS</a:t>
                      </a:r>
                    </a:p>
                  </a:txBody>
                  <a:tcPr>
                    <a:lnL w="12700" cap="flat" cmpd="sng" algn="ctr">
                      <a:no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8236260"/>
                  </a:ext>
                </a:extLst>
              </a:tr>
              <a:tr h="370840">
                <a:tc>
                  <a:txBody>
                    <a:bodyPr/>
                    <a:lstStyle/>
                    <a:p>
                      <a:r>
                        <a:rPr lang="en-US" sz="1800" b="0" i="0" kern="1200" dirty="0">
                          <a:solidFill>
                            <a:schemeClr val="dk1"/>
                          </a:solidFill>
                          <a:effectLst/>
                          <a:latin typeface="+mj-lt"/>
                          <a:ea typeface="Inter" panose="02000503000000020004" pitchFamily="2" charset="0"/>
                          <a:cs typeface="+mn-cs"/>
                        </a:rPr>
                        <a:t>Senior Leadership Involvement</a:t>
                      </a:r>
                      <a:endParaRPr lang="en-US" sz="1800" dirty="0">
                        <a:latin typeface="+mj-lt"/>
                        <a:ea typeface="Inter" panose="02000503000000020004" pitchFamily="2" charset="0"/>
                      </a:endParaRP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bg1">
                              <a:lumMod val="65000"/>
                            </a:schemeClr>
                          </a:solidFill>
                          <a:latin typeface="+mj-lt"/>
                          <a:ea typeface="Inter" panose="02000503000000020004" pitchFamily="2" charset="0"/>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6808956"/>
                  </a:ext>
                </a:extLst>
              </a:tr>
              <a:tr h="370840">
                <a:tc>
                  <a:txBody>
                    <a:bodyPr/>
                    <a:lstStyle/>
                    <a:p>
                      <a:r>
                        <a:rPr lang="en-US" sz="1800" dirty="0">
                          <a:latin typeface="+mj-lt"/>
                          <a:ea typeface="Inter" panose="02000503000000020004" pitchFamily="2" charset="0"/>
                        </a:rPr>
                        <a:t>CISO Nomination</a:t>
                      </a: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Recommended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4134164"/>
                  </a:ext>
                </a:extLst>
              </a:tr>
              <a:tr h="370840">
                <a:tc>
                  <a:txBody>
                    <a:bodyPr/>
                    <a:lstStyle/>
                    <a:p>
                      <a:r>
                        <a:rPr lang="en-US" sz="1800" dirty="0">
                          <a:latin typeface="+mj-lt"/>
                          <a:ea typeface="Inter" panose="02000503000000020004" pitchFamily="2" charset="0"/>
                        </a:rPr>
                        <a:t>Active Cyber Program</a:t>
                      </a: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648407"/>
                  </a:ext>
                </a:extLst>
              </a:tr>
              <a:tr h="370840">
                <a:tc>
                  <a:txBody>
                    <a:bodyPr/>
                    <a:lstStyle/>
                    <a:p>
                      <a:r>
                        <a:rPr lang="en-US" sz="1800" dirty="0">
                          <a:latin typeface="+mj-lt"/>
                          <a:ea typeface="Inter" panose="02000503000000020004" pitchFamily="2" charset="0"/>
                        </a:rPr>
                        <a:t>Asset Inventory Reports</a:t>
                      </a: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449170"/>
                  </a:ext>
                </a:extLst>
              </a:tr>
              <a:tr h="370840">
                <a:tc>
                  <a:txBody>
                    <a:bodyPr/>
                    <a:lstStyle/>
                    <a:p>
                      <a:r>
                        <a:rPr lang="en-US" sz="1800" dirty="0">
                          <a:latin typeface="+mj-lt"/>
                          <a:ea typeface="Inter" panose="02000503000000020004" pitchFamily="2" charset="0"/>
                        </a:rPr>
                        <a:t>Security Risk Assessment</a:t>
                      </a: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lumMod val="65000"/>
                            </a:prstClr>
                          </a:solidFill>
                          <a:effectLst/>
                          <a:uLnTx/>
                          <a:uFillTx/>
                          <a:latin typeface="Calibri Light" panose="020F0302020204030204"/>
                          <a:ea typeface="Inter" panose="02000503000000020004" pitchFamily="2" charset="0"/>
                          <a:cs typeface="+mn-cs"/>
                        </a:rPr>
                        <a:t>✓</a:t>
                      </a:r>
                      <a:endPar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0326629"/>
                  </a:ext>
                </a:extLst>
              </a:tr>
              <a:tr h="370840">
                <a:tc>
                  <a:txBody>
                    <a:bodyPr/>
                    <a:lstStyle/>
                    <a:p>
                      <a:r>
                        <a:rPr lang="en-US" sz="1800" b="0" i="0" kern="1200" dirty="0">
                          <a:solidFill>
                            <a:schemeClr val="dk1"/>
                          </a:solidFill>
                          <a:effectLst/>
                          <a:latin typeface="+mj-lt"/>
                          <a:ea typeface="Inter" panose="02000503000000020004" pitchFamily="2" charset="0"/>
                          <a:cs typeface="+mn-cs"/>
                        </a:rPr>
                        <a:t>Reporting to the Board of Directors</a:t>
                      </a:r>
                      <a:endParaRPr lang="en-US" sz="1800" dirty="0">
                        <a:latin typeface="+mj-lt"/>
                        <a:ea typeface="Inter" panose="02000503000000020004" pitchFamily="2" charset="0"/>
                      </a:endParaRPr>
                    </a:p>
                  </a:txBody>
                  <a:tcPr>
                    <a:lnL w="12700" cmpd="sng">
                      <a:noFill/>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dirty="0">
                        <a:solidFill>
                          <a:schemeClr val="bg1">
                            <a:lumMod val="65000"/>
                          </a:schemeClr>
                        </a:solidFill>
                        <a:latin typeface="+mj-lt"/>
                        <a:ea typeface="Inter" panose="02000503000000020004" pitchFamily="2"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lumMod val="65000"/>
                            </a:prstClr>
                          </a:solidFill>
                          <a:effectLst/>
                          <a:uLnTx/>
                          <a:uFillTx/>
                          <a:latin typeface="Calibri Light" panose="020F0302020204030204"/>
                          <a:ea typeface="Inter" panose="02000503000000020004" pitchFamily="2" charset="0"/>
                          <a:cs typeface="+mn-cs"/>
                        </a:rPr>
                        <a:t>✓</a:t>
                      </a:r>
                    </a:p>
                  </a:txBody>
                  <a:tcPr anchor="ctr">
                    <a:lnL w="12700" cap="flat" cmpd="sng" algn="ctr">
                      <a:no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478555"/>
                  </a:ext>
                </a:extLst>
              </a:tr>
            </a:tbl>
          </a:graphicData>
        </a:graphic>
      </p:graphicFrame>
      <p:sp>
        <p:nvSpPr>
          <p:cNvPr id="3" name="TextBox 2">
            <a:extLst>
              <a:ext uri="{FF2B5EF4-FFF2-40B4-BE49-F238E27FC236}">
                <a16:creationId xmlns:a16="http://schemas.microsoft.com/office/drawing/2014/main" id="{6381E8F7-AD5C-A9BE-CD4B-EFC1C5FD2A4D}"/>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WHAT SENIOR LEADERSHIP AND BOARDS OF DIRECTORS SHOULD KNOW ABOUT</a:t>
            </a:r>
          </a:p>
        </p:txBody>
      </p:sp>
      <p:pic>
        <p:nvPicPr>
          <p:cNvPr id="4" name="Picture 2">
            <a:extLst>
              <a:ext uri="{FF2B5EF4-FFF2-40B4-BE49-F238E27FC236}">
                <a16:creationId xmlns:a16="http://schemas.microsoft.com/office/drawing/2014/main" id="{9CF8C278-FC41-7F35-B0DB-A0FC4C9AC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80674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Senior Leadership Involvement</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3" y="3179610"/>
            <a:ext cx="2877486" cy="2671762"/>
          </a:xfrm>
        </p:spPr>
        <p:txBody>
          <a:bodyPr>
            <a:normAutofit lnSpcReduction="10000"/>
          </a:bodyPr>
          <a:lstStyle/>
          <a:p>
            <a:pPr marL="0" indent="0">
              <a:buNone/>
            </a:pPr>
            <a:r>
              <a:rPr lang="en-US" sz="1100" dirty="0">
                <a:solidFill>
                  <a:schemeClr val="tx1">
                    <a:lumMod val="50000"/>
                    <a:lumOff val="50000"/>
                  </a:schemeClr>
                </a:solidFill>
                <a:latin typeface="+mj-lt"/>
              </a:rPr>
              <a:t>1/27/2020 Cybersecurity &amp; Resiliency</a:t>
            </a:r>
          </a:p>
          <a:p>
            <a:pPr marL="0" indent="0">
              <a:buNone/>
            </a:pPr>
            <a:r>
              <a:rPr lang="en-US" sz="1600" dirty="0">
                <a:solidFill>
                  <a:schemeClr val="tx1">
                    <a:lumMod val="50000"/>
                    <a:lumOff val="50000"/>
                  </a:schemeClr>
                </a:solidFill>
                <a:latin typeface="+mj-lt"/>
              </a:rPr>
              <a:t>“Effective cybersecurity programs start with the right tone at the top, with senior leaders who are committed to improving their organization’s cyber posture through working with others to understand, prioritize, communicate, and mitigate cybersecurity risks.”</a:t>
            </a:r>
          </a:p>
          <a:p>
            <a:pPr marL="0" indent="0">
              <a:buNone/>
            </a:pPr>
            <a:br>
              <a:rPr lang="en-US" sz="1100" dirty="0">
                <a:solidFill>
                  <a:schemeClr val="tx1">
                    <a:lumMod val="50000"/>
                    <a:lumOff val="50000"/>
                  </a:schemeClr>
                </a:solidFill>
                <a:latin typeface="+mj-lt"/>
              </a:rPr>
            </a:br>
            <a:endParaRPr lang="en-US" sz="1100" dirty="0">
              <a:solidFill>
                <a:schemeClr val="tx1">
                  <a:lumMod val="50000"/>
                  <a:lumOff val="50000"/>
                </a:schemeClr>
              </a:solidFill>
              <a:latin typeface="+mj-lt"/>
            </a:endParaRP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3056415" cy="2671762"/>
          </a:xfrm>
        </p:spPr>
        <p:txBody>
          <a:bodyPr>
            <a:normAutofit/>
          </a:bodyPr>
          <a:lstStyle/>
          <a:p>
            <a:pPr marL="0" indent="0">
              <a:buNone/>
            </a:pPr>
            <a:r>
              <a:rPr lang="en-US" sz="1100" dirty="0">
                <a:solidFill>
                  <a:schemeClr val="tx1">
                    <a:lumMod val="50000"/>
                    <a:lumOff val="50000"/>
                  </a:schemeClr>
                </a:solidFill>
                <a:latin typeface="+mj-lt"/>
              </a:rPr>
              <a:t>Cybersecurity Practices 2015</a:t>
            </a:r>
          </a:p>
          <a:p>
            <a:pPr marL="0" indent="0">
              <a:buNone/>
            </a:pPr>
            <a:r>
              <a:rPr lang="en-US" sz="1600" dirty="0">
                <a:solidFill>
                  <a:schemeClr val="tx1">
                    <a:lumMod val="50000"/>
                    <a:lumOff val="50000"/>
                  </a:schemeClr>
                </a:solidFill>
                <a:latin typeface="+mj-lt"/>
              </a:rPr>
              <a:t>“Ensuring active senior management, and as appropriate to the firm, board-level engagement with cybersecurity issues.”</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056415" cy="2671762"/>
          </a:xfrm>
        </p:spPr>
        <p:txBody>
          <a:bodyPr>
            <a:normAutofit/>
          </a:bodyPr>
          <a:lstStyle/>
          <a:p>
            <a:pPr marL="0" indent="0">
              <a:buNone/>
            </a:pPr>
            <a:r>
              <a:rPr lang="en-US" sz="1100" dirty="0">
                <a:solidFill>
                  <a:schemeClr val="tx1">
                    <a:lumMod val="50000"/>
                    <a:lumOff val="50000"/>
                  </a:schemeClr>
                </a:solidFill>
                <a:latin typeface="+mj-lt"/>
              </a:rPr>
              <a:t>6/30/2021 NYDFS Ransomware Guidance</a:t>
            </a:r>
          </a:p>
          <a:p>
            <a:pPr marL="0" indent="0">
              <a:buNone/>
            </a:pPr>
            <a:r>
              <a:rPr lang="en-US" sz="1600" dirty="0">
                <a:solidFill>
                  <a:schemeClr val="tx1">
                    <a:lumMod val="50000"/>
                    <a:lumOff val="50000"/>
                  </a:schemeClr>
                </a:solidFill>
                <a:latin typeface="+mj-lt"/>
              </a:rPr>
              <a:t>“The Incident Response Plan should be tested, and the testing should include senior leadership – decision makers such as the CEO should not be testing the incident response plan for the first time during a ransomware incident.”</a:t>
            </a:r>
          </a:p>
          <a:p>
            <a:pPr marL="0" indent="0">
              <a:buNone/>
            </a:pPr>
            <a:endParaRPr lang="en-US" sz="1600" dirty="0">
              <a:solidFill>
                <a:schemeClr val="tx1">
                  <a:lumMod val="50000"/>
                  <a:lumOff val="50000"/>
                </a:schemeClr>
              </a:solidFill>
              <a:latin typeface="+mj-lt"/>
            </a:endParaRPr>
          </a:p>
        </p:txBody>
      </p:sp>
      <p:sp>
        <p:nvSpPr>
          <p:cNvPr id="9" name="TextBox 8">
            <a:extLst>
              <a:ext uri="{FF2B5EF4-FFF2-40B4-BE49-F238E27FC236}">
                <a16:creationId xmlns:a16="http://schemas.microsoft.com/office/drawing/2014/main" id="{44C29D26-9A2F-44C7-3F8F-8CC98A0E8704}"/>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10" name="Picture 2">
            <a:extLst>
              <a:ext uri="{FF2B5EF4-FFF2-40B4-BE49-F238E27FC236}">
                <a16:creationId xmlns:a16="http://schemas.microsoft.com/office/drawing/2014/main" id="{9F1457DB-DC85-3CDA-B500-DB18BCC3C3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65269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Senior Leadership Involvement</a:t>
            </a:r>
            <a:endParaRPr lang="en-US" sz="4000" dirty="0"/>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What</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2343985" cy="2671762"/>
          </a:xfrm>
        </p:spPr>
        <p:txBody>
          <a:bodyPr>
            <a:normAutofit/>
          </a:bodyPr>
          <a:lstStyle/>
          <a:p>
            <a:pPr>
              <a:spcBef>
                <a:spcPts val="300"/>
              </a:spcBef>
            </a:pPr>
            <a:r>
              <a:rPr lang="en-US" sz="1600" dirty="0">
                <a:solidFill>
                  <a:schemeClr val="tx1">
                    <a:lumMod val="50000"/>
                    <a:lumOff val="50000"/>
                  </a:schemeClr>
                </a:solidFill>
                <a:latin typeface="+mj-lt"/>
              </a:rPr>
              <a:t>Governance</a:t>
            </a:r>
          </a:p>
          <a:p>
            <a:pPr>
              <a:spcBef>
                <a:spcPts val="300"/>
              </a:spcBef>
            </a:pPr>
            <a:r>
              <a:rPr lang="en-US" sz="1600" dirty="0">
                <a:solidFill>
                  <a:schemeClr val="tx1">
                    <a:lumMod val="50000"/>
                    <a:lumOff val="50000"/>
                  </a:schemeClr>
                </a:solidFill>
                <a:latin typeface="+mj-lt"/>
              </a:rPr>
              <a:t>CISO nomination</a:t>
            </a:r>
          </a:p>
          <a:p>
            <a:pPr>
              <a:spcBef>
                <a:spcPts val="300"/>
              </a:spcBef>
            </a:pPr>
            <a:r>
              <a:rPr lang="en-US" sz="1600" dirty="0">
                <a:solidFill>
                  <a:schemeClr val="tx1">
                    <a:lumMod val="50000"/>
                    <a:lumOff val="50000"/>
                  </a:schemeClr>
                </a:solidFill>
                <a:latin typeface="+mj-lt"/>
              </a:rPr>
              <a:t>Risk Management</a:t>
            </a:r>
          </a:p>
          <a:p>
            <a:pPr>
              <a:spcBef>
                <a:spcPts val="300"/>
              </a:spcBef>
            </a:pPr>
            <a:r>
              <a:rPr lang="en-US" sz="1600" dirty="0">
                <a:solidFill>
                  <a:schemeClr val="tx1">
                    <a:lumMod val="50000"/>
                    <a:lumOff val="50000"/>
                  </a:schemeClr>
                </a:solidFill>
                <a:latin typeface="+mj-lt"/>
              </a:rPr>
              <a:t>Leading by example</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2948349" cy="2671762"/>
          </a:xfrm>
        </p:spPr>
        <p:txBody>
          <a:bodyPr>
            <a:normAutofit/>
          </a:bodyPr>
          <a:lstStyle/>
          <a:p>
            <a:pPr>
              <a:spcBef>
                <a:spcPts val="300"/>
              </a:spcBef>
            </a:pPr>
            <a:r>
              <a:rPr lang="en-US" sz="1600" dirty="0">
                <a:solidFill>
                  <a:schemeClr val="tx1">
                    <a:lumMod val="50000"/>
                    <a:lumOff val="50000"/>
                  </a:schemeClr>
                </a:solidFill>
                <a:latin typeface="+mj-lt"/>
              </a:rPr>
              <a:t>To attract and retain advisors and clients</a:t>
            </a:r>
          </a:p>
          <a:p>
            <a:pPr>
              <a:spcBef>
                <a:spcPts val="300"/>
              </a:spcBef>
            </a:pPr>
            <a:r>
              <a:rPr lang="en-US" sz="1600" dirty="0">
                <a:solidFill>
                  <a:schemeClr val="tx1">
                    <a:lumMod val="50000"/>
                    <a:lumOff val="50000"/>
                  </a:schemeClr>
                </a:solidFill>
                <a:latin typeface="+mj-lt"/>
              </a:rPr>
              <a:t>Preparedness and readiness for exams and breaches</a:t>
            </a:r>
          </a:p>
          <a:p>
            <a:pPr>
              <a:spcBef>
                <a:spcPts val="300"/>
              </a:spcBef>
            </a:pPr>
            <a:r>
              <a:rPr lang="en-US" sz="1600" dirty="0">
                <a:solidFill>
                  <a:schemeClr val="tx1">
                    <a:lumMod val="50000"/>
                    <a:lumOff val="50000"/>
                  </a:schemeClr>
                </a:solidFill>
                <a:latin typeface="+mj-lt"/>
              </a:rPr>
              <a:t>To provide cyber updates and reports to the Board of Directors</a:t>
            </a:r>
          </a:p>
          <a:p>
            <a:pPr>
              <a:spcBef>
                <a:spcPts val="300"/>
              </a:spcBef>
            </a:pPr>
            <a:r>
              <a:rPr lang="en-US" sz="1600" dirty="0">
                <a:solidFill>
                  <a:schemeClr val="tx1">
                    <a:lumMod val="50000"/>
                    <a:lumOff val="50000"/>
                  </a:schemeClr>
                </a:solidFill>
                <a:latin typeface="+mj-lt"/>
              </a:rPr>
              <a:t>To protect</a:t>
            </a:r>
          </a:p>
          <a:p>
            <a:pPr marL="461963" lvl="1" indent="-227013">
              <a:spcBef>
                <a:spcPts val="300"/>
              </a:spcBef>
            </a:pPr>
            <a:r>
              <a:rPr lang="en-US" sz="1400" dirty="0">
                <a:solidFill>
                  <a:schemeClr val="tx1">
                    <a:lumMod val="50000"/>
                    <a:lumOff val="50000"/>
                  </a:schemeClr>
                </a:solidFill>
                <a:latin typeface="+mj-lt"/>
              </a:rPr>
              <a:t>Shareholders</a:t>
            </a:r>
          </a:p>
          <a:p>
            <a:pPr marL="461963" lvl="1" indent="-227013">
              <a:spcBef>
                <a:spcPts val="300"/>
              </a:spcBef>
            </a:pPr>
            <a:r>
              <a:rPr lang="en-US" sz="1400" dirty="0">
                <a:solidFill>
                  <a:schemeClr val="tx1">
                    <a:lumMod val="50000"/>
                    <a:lumOff val="50000"/>
                  </a:schemeClr>
                </a:solidFill>
                <a:latin typeface="+mj-lt"/>
              </a:rPr>
              <a:t>The Firm’s reputation</a:t>
            </a:r>
          </a:p>
          <a:p>
            <a:pPr marL="461963" lvl="1" indent="-227013">
              <a:spcBef>
                <a:spcPts val="300"/>
              </a:spcBef>
            </a:pPr>
            <a:r>
              <a:rPr lang="en-US" sz="1400" dirty="0">
                <a:solidFill>
                  <a:schemeClr val="tx1">
                    <a:lumMod val="50000"/>
                    <a:lumOff val="50000"/>
                  </a:schemeClr>
                </a:solidFill>
                <a:latin typeface="+mj-lt"/>
              </a:rPr>
              <a:t>Themselves</a:t>
            </a: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How</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182592" cy="2671762"/>
          </a:xfrm>
        </p:spPr>
        <p:txBody>
          <a:bodyPr>
            <a:normAutofit/>
          </a:bodyPr>
          <a:lstStyle/>
          <a:p>
            <a:pPr>
              <a:spcBef>
                <a:spcPts val="300"/>
              </a:spcBef>
            </a:pPr>
            <a:r>
              <a:rPr lang="en-US" sz="1600" dirty="0">
                <a:solidFill>
                  <a:schemeClr val="tx1">
                    <a:lumMod val="50000"/>
                    <a:lumOff val="50000"/>
                  </a:schemeClr>
                </a:solidFill>
                <a:latin typeface="+mj-lt"/>
              </a:rPr>
              <a:t>Allocate human and financial resources for cybersecurity</a:t>
            </a:r>
          </a:p>
          <a:p>
            <a:pPr>
              <a:spcBef>
                <a:spcPts val="300"/>
              </a:spcBef>
            </a:pPr>
            <a:r>
              <a:rPr lang="en-US" sz="1600" dirty="0">
                <a:solidFill>
                  <a:schemeClr val="tx1">
                    <a:lumMod val="50000"/>
                    <a:lumOff val="50000"/>
                  </a:schemeClr>
                </a:solidFill>
                <a:latin typeface="+mj-lt"/>
              </a:rPr>
              <a:t>Name a CISO</a:t>
            </a:r>
          </a:p>
          <a:p>
            <a:pPr>
              <a:spcBef>
                <a:spcPts val="300"/>
              </a:spcBef>
            </a:pPr>
            <a:r>
              <a:rPr lang="en-US" sz="1600" dirty="0">
                <a:solidFill>
                  <a:schemeClr val="tx1">
                    <a:lumMod val="50000"/>
                    <a:lumOff val="50000"/>
                  </a:schemeClr>
                </a:solidFill>
                <a:latin typeface="+mj-lt"/>
              </a:rPr>
              <a:t>Personal compliance</a:t>
            </a:r>
          </a:p>
          <a:p>
            <a:pPr>
              <a:spcBef>
                <a:spcPts val="300"/>
              </a:spcBef>
            </a:pPr>
            <a:r>
              <a:rPr lang="en-US" sz="1600" dirty="0">
                <a:solidFill>
                  <a:schemeClr val="tx1">
                    <a:lumMod val="50000"/>
                    <a:lumOff val="50000"/>
                  </a:schemeClr>
                </a:solidFill>
                <a:latin typeface="+mj-lt"/>
              </a:rPr>
              <a:t>Request cyber updates and reports</a:t>
            </a:r>
          </a:p>
          <a:p>
            <a:pPr>
              <a:spcBef>
                <a:spcPts val="300"/>
              </a:spcBef>
            </a:pPr>
            <a:r>
              <a:rPr lang="en-US" sz="1600" dirty="0">
                <a:solidFill>
                  <a:schemeClr val="tx1">
                    <a:lumMod val="50000"/>
                    <a:lumOff val="50000"/>
                  </a:schemeClr>
                </a:solidFill>
                <a:latin typeface="+mj-lt"/>
              </a:rPr>
              <a:t>Participate in annual reviews</a:t>
            </a:r>
          </a:p>
          <a:p>
            <a:pPr>
              <a:spcBef>
                <a:spcPts val="300"/>
              </a:spcBef>
            </a:pPr>
            <a:r>
              <a:rPr lang="en-US" sz="1600" dirty="0">
                <a:solidFill>
                  <a:schemeClr val="tx1">
                    <a:lumMod val="50000"/>
                    <a:lumOff val="50000"/>
                  </a:schemeClr>
                </a:solidFill>
                <a:latin typeface="+mj-lt"/>
              </a:rPr>
              <a:t>Add cyber to agendas</a:t>
            </a:r>
          </a:p>
          <a:p>
            <a:pPr>
              <a:spcBef>
                <a:spcPts val="300"/>
              </a:spcBef>
            </a:pPr>
            <a:r>
              <a:rPr lang="en-US" sz="1600" dirty="0">
                <a:solidFill>
                  <a:schemeClr val="tx1">
                    <a:lumMod val="50000"/>
                    <a:lumOff val="50000"/>
                  </a:schemeClr>
                </a:solidFill>
                <a:latin typeface="+mj-lt"/>
              </a:rPr>
              <a:t>Articulate the Firm’s cyber posture</a:t>
            </a:r>
          </a:p>
          <a:p>
            <a:pPr>
              <a:spcBef>
                <a:spcPts val="300"/>
              </a:spcBef>
            </a:pPr>
            <a:endParaRPr lang="en-US" sz="1600" dirty="0">
              <a:solidFill>
                <a:schemeClr val="tx1">
                  <a:lumMod val="50000"/>
                  <a:lumOff val="50000"/>
                </a:schemeClr>
              </a:solidFill>
              <a:latin typeface="+mj-lt"/>
            </a:endParaRPr>
          </a:p>
          <a:p>
            <a:pPr marL="0" indent="0">
              <a:buNone/>
            </a:pPr>
            <a:endParaRPr lang="en-US" sz="1600" dirty="0">
              <a:solidFill>
                <a:schemeClr val="tx1">
                  <a:lumMod val="50000"/>
                  <a:lumOff val="50000"/>
                </a:schemeClr>
              </a:solidFill>
              <a:latin typeface="+mj-lt"/>
            </a:endParaRPr>
          </a:p>
        </p:txBody>
      </p:sp>
      <p:sp>
        <p:nvSpPr>
          <p:cNvPr id="10" name="TextBox 9">
            <a:extLst>
              <a:ext uri="{FF2B5EF4-FFF2-40B4-BE49-F238E27FC236}">
                <a16:creationId xmlns:a16="http://schemas.microsoft.com/office/drawing/2014/main" id="{F6DA39D7-1EE2-47D0-5FA2-3D48D238C37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9" name="Picture 2">
            <a:extLst>
              <a:ext uri="{FF2B5EF4-FFF2-40B4-BE49-F238E27FC236}">
                <a16:creationId xmlns:a16="http://schemas.microsoft.com/office/drawing/2014/main" id="{A1ECF2E2-4731-DDFB-60F5-3D76A2D849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89183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CISO Nomination</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3" y="3179610"/>
            <a:ext cx="2817809" cy="2671762"/>
          </a:xfrm>
        </p:spPr>
        <p:txBody>
          <a:bodyPr>
            <a:normAutofit/>
          </a:bodyPr>
          <a:lstStyle/>
          <a:p>
            <a:pPr marL="0" indent="0">
              <a:buNone/>
            </a:pPr>
            <a:r>
              <a:rPr lang="en-US" sz="1100" dirty="0">
                <a:solidFill>
                  <a:schemeClr val="tx1">
                    <a:lumMod val="50000"/>
                    <a:lumOff val="50000"/>
                  </a:schemeClr>
                </a:solidFill>
                <a:latin typeface="+mj-lt"/>
              </a:rPr>
              <a:t>9/15/2015 Examination Risk Alert IV.8</a:t>
            </a:r>
          </a:p>
          <a:p>
            <a:pPr marL="0" indent="0">
              <a:buNone/>
            </a:pPr>
            <a:r>
              <a:rPr lang="en-US" sz="1600" dirty="0">
                <a:solidFill>
                  <a:schemeClr val="tx1">
                    <a:lumMod val="50000"/>
                    <a:lumOff val="50000"/>
                  </a:schemeClr>
                </a:solidFill>
                <a:latin typeface="+mj-lt"/>
              </a:rPr>
              <a:t>“Information regarding the Firm’s Chief Information Security Officer (“CISO”) or equivalent position, and other employees responsible for cybersecurity matters.”</a:t>
            </a:r>
          </a:p>
          <a:p>
            <a:pPr marL="0" indent="0">
              <a:buNone/>
            </a:pPr>
            <a:br>
              <a:rPr lang="en-US" sz="1100" dirty="0">
                <a:solidFill>
                  <a:schemeClr val="tx1">
                    <a:lumMod val="50000"/>
                    <a:lumOff val="50000"/>
                  </a:schemeClr>
                </a:solidFill>
                <a:latin typeface="+mj-lt"/>
              </a:rPr>
            </a:br>
            <a:endParaRPr lang="en-US" sz="1100" dirty="0">
              <a:solidFill>
                <a:schemeClr val="tx1">
                  <a:lumMod val="50000"/>
                  <a:lumOff val="50000"/>
                </a:schemeClr>
              </a:solidFill>
              <a:latin typeface="+mj-lt"/>
            </a:endParaRP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9" y="3179610"/>
            <a:ext cx="2956662" cy="2671762"/>
          </a:xfrm>
        </p:spPr>
        <p:txBody>
          <a:bodyPr>
            <a:normAutofit/>
          </a:bodyPr>
          <a:lstStyle/>
          <a:p>
            <a:pPr marL="0" indent="0">
              <a:buNone/>
            </a:pPr>
            <a:r>
              <a:rPr lang="en-US" sz="1100" dirty="0">
                <a:solidFill>
                  <a:schemeClr val="tx1">
                    <a:lumMod val="50000"/>
                    <a:lumOff val="50000"/>
                  </a:schemeClr>
                </a:solidFill>
                <a:latin typeface="+mj-lt"/>
              </a:rPr>
              <a:t>FINRA Contact System (FCS)</a:t>
            </a:r>
          </a:p>
          <a:p>
            <a:pPr marL="0" indent="0">
              <a:buNone/>
            </a:pPr>
            <a:r>
              <a:rPr lang="en-US" sz="1600" dirty="0">
                <a:solidFill>
                  <a:schemeClr val="tx1">
                    <a:lumMod val="50000"/>
                    <a:lumOff val="50000"/>
                  </a:schemeClr>
                </a:solidFill>
                <a:latin typeface="+mj-lt"/>
              </a:rPr>
              <a:t>“Person at your firm responsible for establishing and maintaining the enterprise vision, strategy and program to ensure information assets and technologies are adequately protected, or person closest to that role.”</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2956663" cy="2671762"/>
          </a:xfrm>
        </p:spPr>
        <p:txBody>
          <a:bodyPr>
            <a:normAutofit/>
          </a:bodyPr>
          <a:lstStyle/>
          <a:p>
            <a:pPr marL="0" indent="0">
              <a:buNone/>
            </a:pPr>
            <a:r>
              <a:rPr lang="en-US" sz="1100" dirty="0">
                <a:solidFill>
                  <a:schemeClr val="tx1">
                    <a:lumMod val="50000"/>
                    <a:lumOff val="50000"/>
                  </a:schemeClr>
                </a:solidFill>
                <a:latin typeface="+mj-lt"/>
              </a:rPr>
              <a:t>3/1/2017 23 NYCRR 500</a:t>
            </a:r>
          </a:p>
          <a:p>
            <a:pPr marL="0" indent="0">
              <a:buNone/>
            </a:pPr>
            <a:r>
              <a:rPr lang="en-US" sz="1600" dirty="0">
                <a:solidFill>
                  <a:schemeClr val="tx1">
                    <a:lumMod val="50000"/>
                    <a:lumOff val="50000"/>
                  </a:schemeClr>
                </a:solidFill>
                <a:latin typeface="+mj-lt"/>
              </a:rPr>
              <a:t>“Each Covered Entity shall designate a qualified individual responsible for overseeing and implementing the Covered Entity’s cybersecurity program and enforcing its cybersecurity policy.”</a:t>
            </a:r>
          </a:p>
          <a:p>
            <a:pPr marL="0" indent="0">
              <a:buNone/>
            </a:pPr>
            <a:endParaRPr lang="en-US" sz="1600" dirty="0">
              <a:solidFill>
                <a:schemeClr val="tx1">
                  <a:lumMod val="50000"/>
                  <a:lumOff val="50000"/>
                </a:schemeClr>
              </a:solidFill>
              <a:latin typeface="+mj-lt"/>
            </a:endParaRPr>
          </a:p>
        </p:txBody>
      </p:sp>
      <p:sp>
        <p:nvSpPr>
          <p:cNvPr id="9" name="TextBox 8">
            <a:extLst>
              <a:ext uri="{FF2B5EF4-FFF2-40B4-BE49-F238E27FC236}">
                <a16:creationId xmlns:a16="http://schemas.microsoft.com/office/drawing/2014/main" id="{44C29D26-9A2F-44C7-3F8F-8CC98A0E8704}"/>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sp>
        <p:nvSpPr>
          <p:cNvPr id="10" name="TextBox 9">
            <a:extLst>
              <a:ext uri="{FF2B5EF4-FFF2-40B4-BE49-F238E27FC236}">
                <a16:creationId xmlns:a16="http://schemas.microsoft.com/office/drawing/2014/main" id="{4DAB853C-1CE3-6E7F-2B76-AB0D555373AB}"/>
              </a:ext>
            </a:extLst>
          </p:cNvPr>
          <p:cNvSpPr txBox="1"/>
          <p:nvPr/>
        </p:nvSpPr>
        <p:spPr>
          <a:xfrm>
            <a:off x="901625" y="2087110"/>
            <a:ext cx="10628127" cy="307777"/>
          </a:xfrm>
          <a:prstGeom prst="rect">
            <a:avLst/>
          </a:prstGeom>
          <a:noFill/>
        </p:spPr>
        <p:txBody>
          <a:bodyPr wrap="square" rtlCol="0">
            <a:spAutoFit/>
          </a:bodyPr>
          <a:lstStyle/>
          <a:p>
            <a:r>
              <a:rPr lang="en-US" sz="1400" dirty="0">
                <a:solidFill>
                  <a:schemeClr val="bg1">
                    <a:lumMod val="65000"/>
                  </a:schemeClr>
                </a:solidFill>
              </a:rPr>
              <a:t>Chief Information Security Officer</a:t>
            </a:r>
          </a:p>
        </p:txBody>
      </p:sp>
      <p:pic>
        <p:nvPicPr>
          <p:cNvPr id="11" name="Picture 2">
            <a:extLst>
              <a:ext uri="{FF2B5EF4-FFF2-40B4-BE49-F238E27FC236}">
                <a16:creationId xmlns:a16="http://schemas.microsoft.com/office/drawing/2014/main" id="{27F56DE8-620E-D9FA-8EFA-564B00EBC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85725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Chief Information Security Officer (CISO)</a:t>
            </a:r>
            <a:endParaRPr lang="en-US" sz="4000" dirty="0"/>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Who</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2769420" cy="2671762"/>
          </a:xfrm>
        </p:spPr>
        <p:txBody>
          <a:bodyPr>
            <a:normAutofit/>
          </a:bodyPr>
          <a:lstStyle/>
          <a:p>
            <a:pPr>
              <a:spcBef>
                <a:spcPts val="300"/>
              </a:spcBef>
            </a:pPr>
            <a:r>
              <a:rPr lang="en-US" sz="1600" dirty="0">
                <a:solidFill>
                  <a:schemeClr val="tx1">
                    <a:lumMod val="50000"/>
                    <a:lumOff val="50000"/>
                  </a:schemeClr>
                </a:solidFill>
                <a:latin typeface="+mj-lt"/>
              </a:rPr>
              <a:t>An individual (not a committee) with an understanding of both</a:t>
            </a:r>
          </a:p>
          <a:p>
            <a:pPr marL="461963" lvl="1" indent="-227013">
              <a:spcBef>
                <a:spcPts val="300"/>
              </a:spcBef>
            </a:pPr>
            <a:r>
              <a:rPr lang="en-US" sz="1400" dirty="0">
                <a:solidFill>
                  <a:schemeClr val="tx1">
                    <a:lumMod val="50000"/>
                    <a:lumOff val="50000"/>
                  </a:schemeClr>
                </a:solidFill>
                <a:latin typeface="+mj-lt"/>
              </a:rPr>
              <a:t>Cybersecurity regulations and best practices</a:t>
            </a:r>
          </a:p>
          <a:p>
            <a:pPr marL="461963" lvl="1" indent="-227013">
              <a:spcBef>
                <a:spcPts val="300"/>
              </a:spcBef>
            </a:pPr>
            <a:r>
              <a:rPr lang="en-US" sz="1400" dirty="0">
                <a:solidFill>
                  <a:schemeClr val="tx1">
                    <a:lumMod val="50000"/>
                    <a:lumOff val="50000"/>
                  </a:schemeClr>
                </a:solidFill>
                <a:latin typeface="+mj-lt"/>
              </a:rPr>
              <a:t>Safeguard technologies</a:t>
            </a:r>
          </a:p>
          <a:p>
            <a:pPr>
              <a:spcBef>
                <a:spcPts val="300"/>
              </a:spcBef>
            </a:pPr>
            <a:r>
              <a:rPr lang="en-US" sz="1600" dirty="0">
                <a:solidFill>
                  <a:schemeClr val="tx1">
                    <a:lumMod val="50000"/>
                    <a:lumOff val="50000"/>
                  </a:schemeClr>
                </a:solidFill>
                <a:latin typeface="+mj-lt"/>
              </a:rPr>
              <a:t>The role can be outsourced (vCISO) but the responsibility must be retained by a senior leader within the Firm</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2948349" cy="2671762"/>
          </a:xfrm>
        </p:spPr>
        <p:txBody>
          <a:bodyPr>
            <a:normAutofit/>
          </a:bodyPr>
          <a:lstStyle/>
          <a:p>
            <a:pPr>
              <a:spcBef>
                <a:spcPts val="300"/>
              </a:spcBef>
            </a:pPr>
            <a:r>
              <a:rPr lang="en-US" sz="1600" dirty="0">
                <a:solidFill>
                  <a:schemeClr val="tx1">
                    <a:lumMod val="50000"/>
                    <a:lumOff val="50000"/>
                  </a:schemeClr>
                </a:solidFill>
                <a:latin typeface="+mj-lt"/>
              </a:rPr>
              <a:t>Lead the Cyber Program development, implementation, enforcement, improvement, and evidencing</a:t>
            </a:r>
          </a:p>
          <a:p>
            <a:pPr>
              <a:spcBef>
                <a:spcPts val="300"/>
              </a:spcBef>
            </a:pPr>
            <a:r>
              <a:rPr lang="en-US" sz="1600" dirty="0">
                <a:solidFill>
                  <a:schemeClr val="tx1">
                    <a:lumMod val="50000"/>
                    <a:lumOff val="50000"/>
                  </a:schemeClr>
                </a:solidFill>
                <a:latin typeface="+mj-lt"/>
              </a:rPr>
              <a:t>Provide cyber updates and reports to Senior Leadership</a:t>
            </a: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How</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182592" cy="2671762"/>
          </a:xfrm>
        </p:spPr>
        <p:txBody>
          <a:bodyPr>
            <a:normAutofit/>
          </a:bodyPr>
          <a:lstStyle/>
          <a:p>
            <a:pPr marL="0" indent="0">
              <a:spcBef>
                <a:spcPts val="300"/>
              </a:spcBef>
              <a:buNone/>
            </a:pPr>
            <a:r>
              <a:rPr lang="en-US" sz="1600" dirty="0">
                <a:solidFill>
                  <a:schemeClr val="tx1">
                    <a:lumMod val="50000"/>
                    <a:lumOff val="50000"/>
                  </a:schemeClr>
                </a:solidFill>
                <a:latin typeface="+mj-lt"/>
              </a:rPr>
              <a:t>Empower the CISO with adequate</a:t>
            </a:r>
          </a:p>
          <a:p>
            <a:pPr>
              <a:spcBef>
                <a:spcPts val="300"/>
              </a:spcBef>
            </a:pPr>
            <a:r>
              <a:rPr lang="en-US" sz="1600" dirty="0">
                <a:solidFill>
                  <a:schemeClr val="tx1">
                    <a:lumMod val="50000"/>
                    <a:lumOff val="50000"/>
                  </a:schemeClr>
                </a:solidFill>
                <a:latin typeface="+mj-lt"/>
              </a:rPr>
              <a:t>Leadership support</a:t>
            </a:r>
          </a:p>
          <a:p>
            <a:pPr>
              <a:spcBef>
                <a:spcPts val="300"/>
              </a:spcBef>
            </a:pPr>
            <a:r>
              <a:rPr lang="en-US" sz="1600" dirty="0">
                <a:solidFill>
                  <a:schemeClr val="tx1">
                    <a:lumMod val="50000"/>
                    <a:lumOff val="50000"/>
                  </a:schemeClr>
                </a:solidFill>
                <a:latin typeface="+mj-lt"/>
              </a:rPr>
              <a:t>Human and financial resources</a:t>
            </a:r>
          </a:p>
          <a:p>
            <a:pPr>
              <a:spcBef>
                <a:spcPts val="300"/>
              </a:spcBef>
            </a:pPr>
            <a:endParaRPr lang="en-US" sz="1600" dirty="0">
              <a:solidFill>
                <a:schemeClr val="tx1">
                  <a:lumMod val="50000"/>
                  <a:lumOff val="50000"/>
                </a:schemeClr>
              </a:solidFill>
              <a:latin typeface="+mj-lt"/>
            </a:endParaRPr>
          </a:p>
          <a:p>
            <a:pPr marL="0" indent="0">
              <a:buNone/>
            </a:pPr>
            <a:endParaRPr lang="en-US" sz="1600" dirty="0">
              <a:solidFill>
                <a:schemeClr val="tx1">
                  <a:lumMod val="50000"/>
                  <a:lumOff val="50000"/>
                </a:schemeClr>
              </a:solidFill>
              <a:latin typeface="+mj-lt"/>
            </a:endParaRPr>
          </a:p>
        </p:txBody>
      </p:sp>
      <p:sp>
        <p:nvSpPr>
          <p:cNvPr id="10" name="TextBox 9">
            <a:extLst>
              <a:ext uri="{FF2B5EF4-FFF2-40B4-BE49-F238E27FC236}">
                <a16:creationId xmlns:a16="http://schemas.microsoft.com/office/drawing/2014/main" id="{F6DA39D7-1EE2-47D0-5FA2-3D48D238C37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9" name="Picture 2">
            <a:extLst>
              <a:ext uri="{FF2B5EF4-FFF2-40B4-BE49-F238E27FC236}">
                <a16:creationId xmlns:a16="http://schemas.microsoft.com/office/drawing/2014/main" id="{93EC4ACE-E2D0-599E-26E1-AC8CAFC93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968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CISO Job Description</a:t>
            </a:r>
            <a:endParaRPr lang="en-US" sz="4000" dirty="0"/>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1" y="2298460"/>
            <a:ext cx="10729034" cy="2671762"/>
          </a:xfrm>
        </p:spPr>
        <p:txBody>
          <a:bodyPr>
            <a:noAutofit/>
          </a:bodyPr>
          <a:lstStyle/>
          <a:p>
            <a:pPr marL="342900" indent="-342900">
              <a:spcBef>
                <a:spcPts val="300"/>
              </a:spcBef>
              <a:buFont typeface="+mj-lt"/>
              <a:buAutoNum type="arabicPeriod"/>
            </a:pPr>
            <a:r>
              <a:rPr lang="en-US" sz="1400" dirty="0">
                <a:solidFill>
                  <a:schemeClr val="tx1">
                    <a:lumMod val="50000"/>
                    <a:lumOff val="50000"/>
                  </a:schemeClr>
                </a:solidFill>
                <a:latin typeface="+mj-lt"/>
              </a:rPr>
              <a:t>Develop and implement an effective Cyber Program that aligns with business objectives and regulatory requirements.</a:t>
            </a:r>
          </a:p>
          <a:p>
            <a:pPr marL="342900" indent="-342900">
              <a:spcBef>
                <a:spcPts val="300"/>
              </a:spcBef>
              <a:buFont typeface="+mj-lt"/>
              <a:buAutoNum type="arabicPeriod"/>
            </a:pPr>
            <a:r>
              <a:rPr lang="en-US" sz="1400" dirty="0">
                <a:solidFill>
                  <a:schemeClr val="tx1">
                    <a:lumMod val="50000"/>
                    <a:lumOff val="50000"/>
                  </a:schemeClr>
                </a:solidFill>
                <a:latin typeface="+mj-lt"/>
              </a:rPr>
              <a:t>Establish and maintain security policies, procedures, and standards to safeguard sensitive data, systems, and networks.</a:t>
            </a:r>
          </a:p>
          <a:p>
            <a:pPr marL="342900" indent="-342900">
              <a:spcBef>
                <a:spcPts val="300"/>
              </a:spcBef>
              <a:buFont typeface="+mj-lt"/>
              <a:buAutoNum type="arabicPeriod"/>
            </a:pPr>
            <a:r>
              <a:rPr lang="en-US" sz="1400" dirty="0">
                <a:solidFill>
                  <a:schemeClr val="tx1">
                    <a:lumMod val="50000"/>
                    <a:lumOff val="50000"/>
                  </a:schemeClr>
                </a:solidFill>
                <a:latin typeface="+mj-lt"/>
              </a:rPr>
              <a:t>Conduct regular risk assessments and vulnerability assessments to identify potential security threats and recommend mitigation strategies.</a:t>
            </a:r>
          </a:p>
          <a:p>
            <a:pPr marL="342900" indent="-342900">
              <a:spcBef>
                <a:spcPts val="300"/>
              </a:spcBef>
              <a:buFont typeface="+mj-lt"/>
              <a:buAutoNum type="arabicPeriod"/>
            </a:pPr>
            <a:r>
              <a:rPr lang="en-US" sz="1400" dirty="0">
                <a:solidFill>
                  <a:schemeClr val="tx1">
                    <a:lumMod val="50000"/>
                    <a:lumOff val="50000"/>
                  </a:schemeClr>
                </a:solidFill>
                <a:latin typeface="+mj-lt"/>
              </a:rPr>
              <a:t>Monitor and respond to security incidents and breaches promptly, ensuring appropriate actions are taken to contain and resolve issues.</a:t>
            </a:r>
          </a:p>
          <a:p>
            <a:pPr marL="342900" indent="-342900">
              <a:spcBef>
                <a:spcPts val="300"/>
              </a:spcBef>
              <a:buFont typeface="+mj-lt"/>
              <a:buAutoNum type="arabicPeriod"/>
            </a:pPr>
            <a:r>
              <a:rPr lang="en-US" sz="1400" dirty="0">
                <a:solidFill>
                  <a:schemeClr val="tx1">
                    <a:lumMod val="50000"/>
                    <a:lumOff val="50000"/>
                  </a:schemeClr>
                </a:solidFill>
                <a:latin typeface="+mj-lt"/>
              </a:rPr>
              <a:t>Collaborate with IT, Cyber, and business units to ensure security measures are integrated into business processes and technology solutions.</a:t>
            </a:r>
          </a:p>
          <a:p>
            <a:pPr marL="342900" indent="-342900">
              <a:spcBef>
                <a:spcPts val="300"/>
              </a:spcBef>
              <a:buFont typeface="+mj-lt"/>
              <a:buAutoNum type="arabicPeriod"/>
            </a:pPr>
            <a:r>
              <a:rPr lang="en-US" sz="1400" dirty="0">
                <a:solidFill>
                  <a:schemeClr val="tx1">
                    <a:lumMod val="50000"/>
                    <a:lumOff val="50000"/>
                  </a:schemeClr>
                </a:solidFill>
                <a:latin typeface="+mj-lt"/>
              </a:rPr>
              <a:t>Implement security awareness training for employees to promote a culture of cybersecurity awareness and best practices.</a:t>
            </a:r>
          </a:p>
          <a:p>
            <a:pPr marL="342900" indent="-342900">
              <a:spcBef>
                <a:spcPts val="300"/>
              </a:spcBef>
              <a:buFont typeface="+mj-lt"/>
              <a:buAutoNum type="arabicPeriod"/>
            </a:pPr>
            <a:r>
              <a:rPr lang="en-US" sz="1400" dirty="0">
                <a:solidFill>
                  <a:schemeClr val="tx1">
                    <a:lumMod val="50000"/>
                    <a:lumOff val="50000"/>
                  </a:schemeClr>
                </a:solidFill>
                <a:latin typeface="+mj-lt"/>
              </a:rPr>
              <a:t>Evaluate and select security technologies and tools to enhance the firm's security infrastructure.</a:t>
            </a:r>
          </a:p>
          <a:p>
            <a:pPr marL="342900" indent="-342900">
              <a:spcBef>
                <a:spcPts val="300"/>
              </a:spcBef>
              <a:buFont typeface="+mj-lt"/>
              <a:buAutoNum type="arabicPeriod"/>
            </a:pPr>
            <a:r>
              <a:rPr lang="en-US" sz="1400" dirty="0">
                <a:solidFill>
                  <a:schemeClr val="tx1">
                    <a:lumMod val="50000"/>
                    <a:lumOff val="50000"/>
                  </a:schemeClr>
                </a:solidFill>
                <a:latin typeface="+mj-lt"/>
              </a:rPr>
              <a:t>Oversee third-party vendor risk assessments and ensure compliance with security requirements.</a:t>
            </a:r>
          </a:p>
          <a:p>
            <a:pPr marL="342900" indent="-342900">
              <a:spcBef>
                <a:spcPts val="300"/>
              </a:spcBef>
              <a:buFont typeface="+mj-lt"/>
              <a:buAutoNum type="arabicPeriod"/>
            </a:pPr>
            <a:r>
              <a:rPr lang="en-US" sz="1400" dirty="0">
                <a:solidFill>
                  <a:schemeClr val="tx1">
                    <a:lumMod val="50000"/>
                    <a:lumOff val="50000"/>
                  </a:schemeClr>
                </a:solidFill>
                <a:latin typeface="+mj-lt"/>
              </a:rPr>
              <a:t>Stay informed about industry trends, emerging threats, and best practices to proactively address security challenges.</a:t>
            </a:r>
          </a:p>
          <a:p>
            <a:pPr marL="342900" indent="-342900">
              <a:spcBef>
                <a:spcPts val="300"/>
              </a:spcBef>
              <a:buFont typeface="+mj-lt"/>
              <a:buAutoNum type="arabicPeriod"/>
            </a:pPr>
            <a:r>
              <a:rPr lang="en-US" sz="1400" dirty="0">
                <a:solidFill>
                  <a:schemeClr val="tx1">
                    <a:lumMod val="50000"/>
                    <a:lumOff val="50000"/>
                  </a:schemeClr>
                </a:solidFill>
                <a:latin typeface="+mj-lt"/>
              </a:rPr>
              <a:t>Prepare and present security reports to Senior Leadership, providing insights on security performance and areas of improvement.</a:t>
            </a:r>
          </a:p>
        </p:txBody>
      </p:sp>
      <p:sp>
        <p:nvSpPr>
          <p:cNvPr id="10" name="TextBox 9">
            <a:extLst>
              <a:ext uri="{FF2B5EF4-FFF2-40B4-BE49-F238E27FC236}">
                <a16:creationId xmlns:a16="http://schemas.microsoft.com/office/drawing/2014/main" id="{F6DA39D7-1EE2-47D0-5FA2-3D48D238C37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3" name="Picture 2">
            <a:extLst>
              <a:ext uri="{FF2B5EF4-FFF2-40B4-BE49-F238E27FC236}">
                <a16:creationId xmlns:a16="http://schemas.microsoft.com/office/drawing/2014/main" id="{07EFC22A-F866-9F2D-E502-17E0D2BDC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2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Active Cyber Program</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3009003" cy="2671762"/>
          </a:xfrm>
        </p:spPr>
        <p:txBody>
          <a:bodyPr>
            <a:normAutofit/>
          </a:bodyPr>
          <a:lstStyle/>
          <a:p>
            <a:pPr marL="0" indent="0">
              <a:buNone/>
            </a:pPr>
            <a:r>
              <a:rPr lang="en-US" sz="1100" dirty="0">
                <a:solidFill>
                  <a:schemeClr val="tx1">
                    <a:lumMod val="50000"/>
                    <a:lumOff val="50000"/>
                  </a:schemeClr>
                </a:solidFill>
                <a:latin typeface="+mj-lt"/>
              </a:rPr>
              <a:t>1/27/2020 Cybersecurity &amp; Resiliency</a:t>
            </a:r>
          </a:p>
          <a:p>
            <a:pPr marL="0" indent="0">
              <a:buNone/>
            </a:pPr>
            <a:r>
              <a:rPr lang="en-US" sz="1600" dirty="0">
                <a:solidFill>
                  <a:schemeClr val="tx1">
                    <a:lumMod val="50000"/>
                    <a:lumOff val="50000"/>
                  </a:schemeClr>
                </a:solidFill>
                <a:latin typeface="+mj-lt"/>
              </a:rPr>
              <a:t>“Adopt and implement written policies and procedures reasonably designed to prevent violations of the Advisers Act and rules thereunder.”</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3373481" cy="2671762"/>
          </a:xfrm>
        </p:spPr>
        <p:txBody>
          <a:bodyPr>
            <a:normAutofit/>
          </a:bodyPr>
          <a:lstStyle/>
          <a:p>
            <a:pPr marL="0" indent="0">
              <a:buNone/>
            </a:pPr>
            <a:r>
              <a:rPr lang="en-US" sz="1100" dirty="0">
                <a:solidFill>
                  <a:schemeClr val="tx1">
                    <a:lumMod val="50000"/>
                    <a:lumOff val="50000"/>
                  </a:schemeClr>
                </a:solidFill>
                <a:latin typeface="+mj-lt"/>
              </a:rPr>
              <a:t>Cybersecurity Practices 2015</a:t>
            </a:r>
          </a:p>
          <a:p>
            <a:pPr marL="0" indent="0">
              <a:buNone/>
            </a:pPr>
            <a:r>
              <a:rPr lang="en-US" sz="1600" dirty="0">
                <a:solidFill>
                  <a:schemeClr val="tx1">
                    <a:lumMod val="50000"/>
                    <a:lumOff val="50000"/>
                  </a:schemeClr>
                </a:solidFill>
                <a:latin typeface="+mj-lt"/>
              </a:rPr>
              <a:t>“The identification, selection, implementation, performance monitoring, and updating of the controls firms use in their cybersecurity programs.”</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2783581" cy="2671762"/>
          </a:xfrm>
        </p:spPr>
        <p:txBody>
          <a:bodyPr>
            <a:normAutofit/>
          </a:bodyPr>
          <a:lstStyle/>
          <a:p>
            <a:pPr marL="0" indent="0">
              <a:buNone/>
            </a:pPr>
            <a:r>
              <a:rPr lang="en-US" sz="1100" dirty="0">
                <a:solidFill>
                  <a:schemeClr val="tx1">
                    <a:lumMod val="50000"/>
                    <a:lumOff val="50000"/>
                  </a:schemeClr>
                </a:solidFill>
                <a:latin typeface="+mj-lt"/>
              </a:rPr>
              <a:t>3/1/2017 23 NYCRR 500</a:t>
            </a:r>
          </a:p>
          <a:p>
            <a:pPr marL="0" indent="0">
              <a:buNone/>
            </a:pPr>
            <a:r>
              <a:rPr lang="en-US" sz="1600" dirty="0">
                <a:solidFill>
                  <a:schemeClr val="tx1">
                    <a:lumMod val="50000"/>
                    <a:lumOff val="50000"/>
                  </a:schemeClr>
                </a:solidFill>
                <a:latin typeface="+mj-lt"/>
              </a:rPr>
              <a:t>“Maintain a cybersecurity program designed to protect the confidentiality, integrity, and availability of the Firm’s Information Systems.”</a:t>
            </a:r>
          </a:p>
        </p:txBody>
      </p:sp>
      <p:sp>
        <p:nvSpPr>
          <p:cNvPr id="9" name="TextBox 8">
            <a:extLst>
              <a:ext uri="{FF2B5EF4-FFF2-40B4-BE49-F238E27FC236}">
                <a16:creationId xmlns:a16="http://schemas.microsoft.com/office/drawing/2014/main" id="{08EEACC9-E982-688E-E2FC-3CD2A61EAE91}"/>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10" name="Picture 2">
            <a:extLst>
              <a:ext uri="{FF2B5EF4-FFF2-40B4-BE49-F238E27FC236}">
                <a16:creationId xmlns:a16="http://schemas.microsoft.com/office/drawing/2014/main" id="{3D64CDBF-C73F-FBE0-C390-5E90E8D9F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075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Active Cyber Program</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What</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2343985" cy="2671762"/>
          </a:xfrm>
        </p:spPr>
        <p:txBody>
          <a:bodyPr>
            <a:normAutofit/>
          </a:bodyPr>
          <a:lstStyle/>
          <a:p>
            <a:r>
              <a:rPr lang="en-US" sz="1600" dirty="0">
                <a:solidFill>
                  <a:schemeClr val="tx1">
                    <a:lumMod val="50000"/>
                    <a:lumOff val="50000"/>
                  </a:schemeClr>
                </a:solidFill>
                <a:latin typeface="+mj-lt"/>
              </a:rPr>
              <a:t>Security policies, procedures, and controls</a:t>
            </a:r>
          </a:p>
          <a:p>
            <a:pPr marL="461963" lvl="1" indent="-227013">
              <a:spcBef>
                <a:spcPts val="300"/>
              </a:spcBef>
            </a:pPr>
            <a:r>
              <a:rPr lang="en-US" sz="1400" dirty="0">
                <a:solidFill>
                  <a:schemeClr val="tx1">
                    <a:lumMod val="50000"/>
                    <a:lumOff val="50000"/>
                  </a:schemeClr>
                </a:solidFill>
                <a:latin typeface="+mj-lt"/>
              </a:rPr>
              <a:t>Definition</a:t>
            </a:r>
          </a:p>
          <a:p>
            <a:pPr marL="461963" lvl="1" indent="-227013">
              <a:spcBef>
                <a:spcPts val="300"/>
              </a:spcBef>
            </a:pPr>
            <a:r>
              <a:rPr lang="en-US" sz="1400" dirty="0">
                <a:solidFill>
                  <a:schemeClr val="tx1">
                    <a:lumMod val="50000"/>
                    <a:lumOff val="50000"/>
                  </a:schemeClr>
                </a:solidFill>
                <a:latin typeface="+mj-lt"/>
              </a:rPr>
              <a:t>Implementation</a:t>
            </a:r>
          </a:p>
          <a:p>
            <a:pPr marL="461963" lvl="1" indent="-227013">
              <a:spcBef>
                <a:spcPts val="300"/>
              </a:spcBef>
            </a:pPr>
            <a:r>
              <a:rPr lang="en-US" sz="1400" dirty="0">
                <a:solidFill>
                  <a:schemeClr val="tx1">
                    <a:lumMod val="50000"/>
                    <a:lumOff val="50000"/>
                  </a:schemeClr>
                </a:solidFill>
                <a:latin typeface="+mj-lt"/>
              </a:rPr>
              <a:t>Monitoring</a:t>
            </a:r>
          </a:p>
          <a:p>
            <a:pPr marL="461963" lvl="1" indent="-227013">
              <a:spcBef>
                <a:spcPts val="300"/>
              </a:spcBef>
            </a:pPr>
            <a:r>
              <a:rPr lang="en-US" sz="1400" dirty="0">
                <a:solidFill>
                  <a:schemeClr val="tx1">
                    <a:lumMod val="50000"/>
                    <a:lumOff val="50000"/>
                  </a:schemeClr>
                </a:solidFill>
                <a:latin typeface="+mj-lt"/>
              </a:rPr>
              <a:t>Revision</a:t>
            </a:r>
          </a:p>
          <a:p>
            <a:pPr marL="461963" lvl="1" indent="-227013">
              <a:spcBef>
                <a:spcPts val="300"/>
              </a:spcBef>
            </a:pPr>
            <a:r>
              <a:rPr lang="en-US" sz="1400" dirty="0">
                <a:solidFill>
                  <a:schemeClr val="tx1">
                    <a:lumMod val="50000"/>
                    <a:lumOff val="50000"/>
                  </a:schemeClr>
                </a:solidFill>
                <a:latin typeface="+mj-lt"/>
              </a:rPr>
              <a:t>Tracking</a:t>
            </a:r>
          </a:p>
          <a:p>
            <a:pPr marL="461963" lvl="1" indent="-227013">
              <a:spcBef>
                <a:spcPts val="300"/>
              </a:spcBef>
            </a:pPr>
            <a:r>
              <a:rPr lang="en-US" sz="1400" dirty="0">
                <a:solidFill>
                  <a:schemeClr val="tx1">
                    <a:lumMod val="50000"/>
                    <a:lumOff val="50000"/>
                  </a:schemeClr>
                </a:solidFill>
                <a:latin typeface="+mj-lt"/>
              </a:rPr>
              <a:t>Improvement</a:t>
            </a:r>
          </a:p>
          <a:p>
            <a:pPr marL="0" indent="0">
              <a:buNone/>
            </a:pPr>
            <a:endParaRPr lang="en-US" sz="1100" dirty="0">
              <a:solidFill>
                <a:schemeClr val="tx1">
                  <a:lumMod val="50000"/>
                  <a:lumOff val="50000"/>
                </a:schemeClr>
              </a:solidFill>
              <a:latin typeface="+mj-lt"/>
            </a:endParaRP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3189418" cy="2671762"/>
          </a:xfrm>
        </p:spPr>
        <p:txBody>
          <a:bodyPr>
            <a:normAutofit/>
          </a:bodyPr>
          <a:lstStyle/>
          <a:p>
            <a:pPr>
              <a:spcBef>
                <a:spcPts val="300"/>
              </a:spcBef>
            </a:pPr>
            <a:r>
              <a:rPr lang="en-US" sz="1600" dirty="0">
                <a:solidFill>
                  <a:schemeClr val="tx1">
                    <a:lumMod val="50000"/>
                    <a:lumOff val="50000"/>
                  </a:schemeClr>
                </a:solidFill>
                <a:latin typeface="+mj-lt"/>
              </a:rPr>
              <a:t>To ensure the confidentiality, integrity, and availability of Nonpublic Information (NPI)</a:t>
            </a:r>
          </a:p>
          <a:p>
            <a:pPr>
              <a:spcBef>
                <a:spcPts val="300"/>
              </a:spcBef>
            </a:pPr>
            <a:r>
              <a:rPr lang="en-US" sz="1600" dirty="0">
                <a:solidFill>
                  <a:schemeClr val="tx1">
                    <a:lumMod val="50000"/>
                    <a:lumOff val="50000"/>
                  </a:schemeClr>
                </a:solidFill>
                <a:latin typeface="+mj-lt"/>
              </a:rPr>
              <a:t>To meet Cybersecurity Regulatory requirements that applied to the Firm</a:t>
            </a: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How</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373785" cy="2671762"/>
          </a:xfrm>
        </p:spPr>
        <p:txBody>
          <a:bodyPr>
            <a:normAutofit/>
          </a:bodyPr>
          <a:lstStyle/>
          <a:p>
            <a:pPr>
              <a:spcBef>
                <a:spcPts val="300"/>
              </a:spcBef>
            </a:pPr>
            <a:r>
              <a:rPr lang="en-US" sz="1600" dirty="0">
                <a:solidFill>
                  <a:schemeClr val="tx1">
                    <a:lumMod val="50000"/>
                    <a:lumOff val="50000"/>
                  </a:schemeClr>
                </a:solidFill>
                <a:latin typeface="+mj-lt"/>
              </a:rPr>
              <a:t>Identify cyber regulations and develop a Cyber Program to meet their requirements</a:t>
            </a:r>
          </a:p>
          <a:p>
            <a:pPr>
              <a:spcBef>
                <a:spcPts val="300"/>
              </a:spcBef>
            </a:pPr>
            <a:r>
              <a:rPr lang="en-US" sz="1600" dirty="0">
                <a:solidFill>
                  <a:schemeClr val="tx1">
                    <a:lumMod val="50000"/>
                    <a:lumOff val="50000"/>
                  </a:schemeClr>
                </a:solidFill>
                <a:latin typeface="+mj-lt"/>
              </a:rPr>
              <a:t>List tasks associated with the Cyber Program</a:t>
            </a:r>
          </a:p>
          <a:p>
            <a:pPr>
              <a:spcBef>
                <a:spcPts val="300"/>
              </a:spcBef>
            </a:pPr>
            <a:r>
              <a:rPr lang="en-US" sz="1600" dirty="0">
                <a:solidFill>
                  <a:schemeClr val="tx1">
                    <a:lumMod val="50000"/>
                    <a:lumOff val="50000"/>
                  </a:schemeClr>
                </a:solidFill>
                <a:latin typeface="+mj-lt"/>
              </a:rPr>
              <a:t>Track the execution of these tasks</a:t>
            </a:r>
          </a:p>
          <a:p>
            <a:pPr>
              <a:spcBef>
                <a:spcPts val="300"/>
              </a:spcBef>
            </a:pPr>
            <a:r>
              <a:rPr lang="en-US" sz="1600" dirty="0">
                <a:solidFill>
                  <a:schemeClr val="tx1">
                    <a:lumMod val="50000"/>
                    <a:lumOff val="50000"/>
                  </a:schemeClr>
                </a:solidFill>
                <a:latin typeface="+mj-lt"/>
              </a:rPr>
              <a:t>Coordinate a Corrective &amp; Prevention Plan</a:t>
            </a:r>
          </a:p>
          <a:p>
            <a:pPr>
              <a:spcBef>
                <a:spcPts val="300"/>
              </a:spcBef>
            </a:pPr>
            <a:r>
              <a:rPr lang="en-US" sz="1600" dirty="0">
                <a:solidFill>
                  <a:schemeClr val="tx1">
                    <a:lumMod val="50000"/>
                    <a:lumOff val="50000"/>
                  </a:schemeClr>
                </a:solidFill>
                <a:latin typeface="+mj-lt"/>
              </a:rPr>
              <a:t>Perform annual review and approval with Senior Leadership</a:t>
            </a:r>
          </a:p>
          <a:p>
            <a:pPr>
              <a:spcBef>
                <a:spcPts val="300"/>
              </a:spcBef>
            </a:pPr>
            <a:endParaRPr lang="en-US" sz="1600" dirty="0">
              <a:solidFill>
                <a:schemeClr val="tx1">
                  <a:lumMod val="50000"/>
                  <a:lumOff val="50000"/>
                </a:schemeClr>
              </a:solidFill>
              <a:latin typeface="+mj-lt"/>
            </a:endParaRPr>
          </a:p>
          <a:p>
            <a:pPr marL="0" indent="0">
              <a:buNone/>
            </a:pPr>
            <a:endParaRPr lang="en-US" sz="1600" dirty="0">
              <a:solidFill>
                <a:schemeClr val="tx1">
                  <a:lumMod val="50000"/>
                  <a:lumOff val="50000"/>
                </a:schemeClr>
              </a:solidFill>
              <a:latin typeface="+mj-lt"/>
            </a:endParaRPr>
          </a:p>
        </p:txBody>
      </p:sp>
      <p:sp>
        <p:nvSpPr>
          <p:cNvPr id="11" name="TextBox 10">
            <a:extLst>
              <a:ext uri="{FF2B5EF4-FFF2-40B4-BE49-F238E27FC236}">
                <a16:creationId xmlns:a16="http://schemas.microsoft.com/office/drawing/2014/main" id="{5E8DC2A5-A66F-2CD5-184F-C0806F6875C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9" name="Picture 2">
            <a:extLst>
              <a:ext uri="{FF2B5EF4-FFF2-40B4-BE49-F238E27FC236}">
                <a16:creationId xmlns:a16="http://schemas.microsoft.com/office/drawing/2014/main" id="{BBD066D9-4580-3F2D-CAF8-990AE1BF2B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903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Active Cyber Program</a:t>
            </a:r>
          </a:p>
        </p:txBody>
      </p:sp>
      <p:sp>
        <p:nvSpPr>
          <p:cNvPr id="9" name="TextBox 8">
            <a:extLst>
              <a:ext uri="{FF2B5EF4-FFF2-40B4-BE49-F238E27FC236}">
                <a16:creationId xmlns:a16="http://schemas.microsoft.com/office/drawing/2014/main" id="{51740622-F9F5-3C1E-81CE-B58E29777E26}"/>
              </a:ext>
            </a:extLst>
          </p:cNvPr>
          <p:cNvSpPr txBox="1"/>
          <p:nvPr/>
        </p:nvSpPr>
        <p:spPr>
          <a:xfrm>
            <a:off x="904119" y="2713876"/>
            <a:ext cx="3567298" cy="3231654"/>
          </a:xfrm>
          <a:prstGeom prst="rect">
            <a:avLst/>
          </a:prstGeom>
          <a:noFill/>
        </p:spPr>
        <p:txBody>
          <a:bodyPr wrap="square" rtlCol="0">
            <a:spAutoFit/>
          </a:bodyPr>
          <a:lstStyle/>
          <a:p>
            <a:pPr>
              <a:spcBef>
                <a:spcPts val="300"/>
              </a:spcBef>
            </a:pPr>
            <a:r>
              <a:rPr lang="en-US" sz="2400" dirty="0"/>
              <a:t>Main Modules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Risk Management &amp; Assessment</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Information Security Policy</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Business Continuity &amp; Disaster Recovery Plan</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Security Incident Response Plan</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Vendor Risk Management</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Acceptable Use Policy</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Cybersecurity Awareness Training &amp; Phishing Campaigns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Corrective &amp; Prevention Plan</a:t>
            </a:r>
          </a:p>
        </p:txBody>
      </p:sp>
      <p:sp>
        <p:nvSpPr>
          <p:cNvPr id="10" name="TextBox 9">
            <a:extLst>
              <a:ext uri="{FF2B5EF4-FFF2-40B4-BE49-F238E27FC236}">
                <a16:creationId xmlns:a16="http://schemas.microsoft.com/office/drawing/2014/main" id="{EC9724EB-2AA2-77D8-3690-7BE418621141}"/>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sp>
        <p:nvSpPr>
          <p:cNvPr id="26" name="TextBox 25">
            <a:extLst>
              <a:ext uri="{FF2B5EF4-FFF2-40B4-BE49-F238E27FC236}">
                <a16:creationId xmlns:a16="http://schemas.microsoft.com/office/drawing/2014/main" id="{F4AA0AEA-8B37-4C96-B4DE-0C1F0962E040}"/>
              </a:ext>
            </a:extLst>
          </p:cNvPr>
          <p:cNvSpPr txBox="1"/>
          <p:nvPr/>
        </p:nvSpPr>
        <p:spPr>
          <a:xfrm>
            <a:off x="7066455" y="2711256"/>
            <a:ext cx="3941064" cy="3054682"/>
          </a:xfrm>
          <a:prstGeom prst="rect">
            <a:avLst/>
          </a:prstGeom>
          <a:noFill/>
        </p:spPr>
        <p:txBody>
          <a:bodyPr wrap="square" rtlCol="0">
            <a:spAutoFit/>
          </a:bodyPr>
          <a:lstStyle/>
          <a:p>
            <a:pPr>
              <a:spcBef>
                <a:spcPts val="300"/>
              </a:spcBef>
            </a:pPr>
            <a:r>
              <a:rPr lang="en-US" sz="2400" dirty="0"/>
              <a:t>What to ask your team</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Copy of the Firm’s Cyber Program and the confirmation that it meets the Firm’s cybersecurity regulatory requirements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List of evidence confirming the execution of recurring tasks associated with the Cyber Program</a:t>
            </a: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p:txBody>
      </p:sp>
      <p:pic>
        <p:nvPicPr>
          <p:cNvPr id="3" name="Picture 2">
            <a:extLst>
              <a:ext uri="{FF2B5EF4-FFF2-40B4-BE49-F238E27FC236}">
                <a16:creationId xmlns:a16="http://schemas.microsoft.com/office/drawing/2014/main" id="{D9DFBF08-C2F7-A890-82AD-8FC15D592784}"/>
              </a:ext>
            </a:extLst>
          </p:cNvPr>
          <p:cNvPicPr>
            <a:picLocks noChangeAspect="1"/>
          </p:cNvPicPr>
          <p:nvPr/>
        </p:nvPicPr>
        <p:blipFill rotWithShape="1">
          <a:blip r:embed="rId2"/>
          <a:srcRect l="13451" t="6751" r="13451" b="20545"/>
          <a:stretch/>
        </p:blipFill>
        <p:spPr>
          <a:xfrm>
            <a:off x="6096000" y="2804487"/>
            <a:ext cx="885926" cy="881150"/>
          </a:xfrm>
          <a:prstGeom prst="rect">
            <a:avLst/>
          </a:prstGeom>
        </p:spPr>
      </p:pic>
      <p:pic>
        <p:nvPicPr>
          <p:cNvPr id="4" name="Picture 2">
            <a:extLst>
              <a:ext uri="{FF2B5EF4-FFF2-40B4-BE49-F238E27FC236}">
                <a16:creationId xmlns:a16="http://schemas.microsoft.com/office/drawing/2014/main" id="{176E0FBD-76CE-74A4-10D3-1699FD94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033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Asset Inventory Reports</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3" y="3179610"/>
            <a:ext cx="2799522" cy="2671762"/>
          </a:xfrm>
        </p:spPr>
        <p:txBody>
          <a:bodyPr>
            <a:normAutofit/>
          </a:bodyPr>
          <a:lstStyle/>
          <a:p>
            <a:pPr marL="0" indent="0">
              <a:buNone/>
            </a:pPr>
            <a:r>
              <a:rPr lang="en-US" sz="1100" dirty="0">
                <a:solidFill>
                  <a:schemeClr val="tx1">
                    <a:lumMod val="50000"/>
                    <a:lumOff val="50000"/>
                  </a:schemeClr>
                </a:solidFill>
                <a:latin typeface="+mj-lt"/>
              </a:rPr>
              <a:t>1/27/2020 Cybersecurity &amp; Resiliency</a:t>
            </a:r>
          </a:p>
          <a:p>
            <a:pPr marL="0" indent="0">
              <a:buNone/>
            </a:pPr>
            <a:r>
              <a:rPr lang="en-US" sz="1600" dirty="0">
                <a:solidFill>
                  <a:schemeClr val="tx1">
                    <a:lumMod val="50000"/>
                    <a:lumOff val="50000"/>
                  </a:schemeClr>
                </a:solidFill>
                <a:latin typeface="+mj-lt"/>
              </a:rPr>
              <a:t>“Maintaining an inventory of hardware and software assets, including identification of critical assets and information (i.e., know where they are located, and how they are protected).”</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9" y="3179610"/>
            <a:ext cx="3105812" cy="2671762"/>
          </a:xfrm>
        </p:spPr>
        <p:txBody>
          <a:bodyPr>
            <a:normAutofit/>
          </a:bodyPr>
          <a:lstStyle/>
          <a:p>
            <a:pPr marL="0" indent="0">
              <a:buNone/>
            </a:pPr>
            <a:r>
              <a:rPr lang="en-US" sz="1100" dirty="0">
                <a:solidFill>
                  <a:schemeClr val="tx1">
                    <a:lumMod val="50000"/>
                    <a:lumOff val="50000"/>
                  </a:schemeClr>
                </a:solidFill>
                <a:latin typeface="+mj-lt"/>
              </a:rPr>
              <a:t>Cybersecurity Practices 2015</a:t>
            </a:r>
          </a:p>
          <a:p>
            <a:pPr marL="0" indent="0">
              <a:buNone/>
            </a:pPr>
            <a:r>
              <a:rPr lang="en-US" sz="1600" dirty="0">
                <a:solidFill>
                  <a:schemeClr val="tx1">
                    <a:lumMod val="50000"/>
                    <a:lumOff val="50000"/>
                  </a:schemeClr>
                </a:solidFill>
                <a:latin typeface="+mj-lt"/>
              </a:rPr>
              <a:t>“An inventory of hardware and software assets, including all personal and firm devices used to access firm systems and data.”</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2783581" cy="2671762"/>
          </a:xfrm>
        </p:spPr>
        <p:txBody>
          <a:bodyPr>
            <a:normAutofit/>
          </a:bodyPr>
          <a:lstStyle/>
          <a:p>
            <a:pPr marL="0" indent="0">
              <a:buNone/>
            </a:pPr>
            <a:r>
              <a:rPr lang="en-US" sz="1100" dirty="0">
                <a:solidFill>
                  <a:schemeClr val="tx1">
                    <a:lumMod val="50000"/>
                    <a:lumOff val="50000"/>
                  </a:schemeClr>
                </a:solidFill>
                <a:latin typeface="+mj-lt"/>
              </a:rPr>
              <a:t>3/1/2017 23 NYCRR 500</a:t>
            </a:r>
          </a:p>
          <a:p>
            <a:pPr marL="0" indent="0">
              <a:buNone/>
            </a:pPr>
            <a:r>
              <a:rPr lang="en-US" sz="1600" dirty="0">
                <a:solidFill>
                  <a:schemeClr val="tx1">
                    <a:lumMod val="50000"/>
                    <a:lumOff val="50000"/>
                  </a:schemeClr>
                </a:solidFill>
                <a:latin typeface="+mj-lt"/>
              </a:rPr>
              <a:t>“An asset inventory and device management policy shall be implemented and maintained.”</a:t>
            </a:r>
          </a:p>
        </p:txBody>
      </p:sp>
      <p:sp>
        <p:nvSpPr>
          <p:cNvPr id="9" name="TextBox 8">
            <a:extLst>
              <a:ext uri="{FF2B5EF4-FFF2-40B4-BE49-F238E27FC236}">
                <a16:creationId xmlns:a16="http://schemas.microsoft.com/office/drawing/2014/main" id="{08EEACC9-E982-688E-E2FC-3CD2A61EAE91}"/>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10" name="Picture 2">
            <a:extLst>
              <a:ext uri="{FF2B5EF4-FFF2-40B4-BE49-F238E27FC236}">
                <a16:creationId xmlns:a16="http://schemas.microsoft.com/office/drawing/2014/main" id="{FB9518C4-2F8F-ECA2-1F56-91EB4F9BE6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4250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Asset Inventory Reports</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What</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2343985" cy="2671762"/>
          </a:xfrm>
        </p:spPr>
        <p:txBody>
          <a:bodyPr>
            <a:normAutofit/>
          </a:bodyPr>
          <a:lstStyle/>
          <a:p>
            <a:r>
              <a:rPr lang="en-US" sz="1600" dirty="0">
                <a:solidFill>
                  <a:schemeClr val="tx1">
                    <a:lumMod val="50000"/>
                    <a:lumOff val="50000"/>
                  </a:schemeClr>
                </a:solidFill>
                <a:latin typeface="+mj-lt"/>
              </a:rPr>
              <a:t>List of assets and the evidence of their compliance with the Firm’s Cyber Program</a:t>
            </a:r>
          </a:p>
          <a:p>
            <a:pPr marL="461963" lvl="1" indent="-227013">
              <a:spcBef>
                <a:spcPts val="300"/>
              </a:spcBef>
            </a:pPr>
            <a:r>
              <a:rPr lang="en-US" sz="1400" dirty="0">
                <a:solidFill>
                  <a:schemeClr val="tx1">
                    <a:lumMod val="50000"/>
                    <a:lumOff val="50000"/>
                  </a:schemeClr>
                </a:solidFill>
                <a:latin typeface="+mj-lt"/>
              </a:rPr>
              <a:t>Systems</a:t>
            </a:r>
          </a:p>
          <a:p>
            <a:pPr marL="461963" lvl="1" indent="-227013">
              <a:spcBef>
                <a:spcPts val="300"/>
              </a:spcBef>
            </a:pPr>
            <a:r>
              <a:rPr lang="en-US" sz="1400" dirty="0">
                <a:solidFill>
                  <a:schemeClr val="tx1">
                    <a:lumMod val="50000"/>
                    <a:lumOff val="50000"/>
                  </a:schemeClr>
                </a:solidFill>
                <a:latin typeface="+mj-lt"/>
              </a:rPr>
              <a:t>Software</a:t>
            </a:r>
          </a:p>
          <a:p>
            <a:pPr marL="461963" lvl="1" indent="-227013">
              <a:spcBef>
                <a:spcPts val="300"/>
              </a:spcBef>
            </a:pPr>
            <a:r>
              <a:rPr lang="en-US" sz="1400" dirty="0">
                <a:solidFill>
                  <a:schemeClr val="tx1">
                    <a:lumMod val="50000"/>
                    <a:lumOff val="50000"/>
                  </a:schemeClr>
                </a:solidFill>
                <a:latin typeface="+mj-lt"/>
              </a:rPr>
              <a:t>Data</a:t>
            </a:r>
          </a:p>
          <a:p>
            <a:pPr marL="461963" lvl="1" indent="-227013">
              <a:spcBef>
                <a:spcPts val="300"/>
              </a:spcBef>
            </a:pPr>
            <a:r>
              <a:rPr lang="en-US" sz="1400" dirty="0">
                <a:solidFill>
                  <a:schemeClr val="tx1">
                    <a:lumMod val="50000"/>
                    <a:lumOff val="50000"/>
                  </a:schemeClr>
                </a:solidFill>
                <a:latin typeface="+mj-lt"/>
              </a:rPr>
              <a:t>Users</a:t>
            </a:r>
          </a:p>
          <a:p>
            <a:pPr marL="461963" lvl="1" indent="-227013">
              <a:spcBef>
                <a:spcPts val="300"/>
              </a:spcBef>
            </a:pPr>
            <a:r>
              <a:rPr lang="en-US" sz="1400" dirty="0">
                <a:solidFill>
                  <a:schemeClr val="tx1">
                    <a:lumMod val="50000"/>
                    <a:lumOff val="50000"/>
                  </a:schemeClr>
                </a:solidFill>
                <a:latin typeface="+mj-lt"/>
              </a:rPr>
              <a:t>Endpoints</a:t>
            </a:r>
          </a:p>
          <a:p>
            <a:pPr marL="461963" lvl="1" indent="-227013">
              <a:spcBef>
                <a:spcPts val="300"/>
              </a:spcBef>
            </a:pPr>
            <a:r>
              <a:rPr lang="en-US" sz="1400" dirty="0">
                <a:solidFill>
                  <a:schemeClr val="tx1">
                    <a:lumMod val="50000"/>
                    <a:lumOff val="50000"/>
                  </a:schemeClr>
                </a:solidFill>
                <a:latin typeface="+mj-lt"/>
              </a:rPr>
              <a:t>Networks</a:t>
            </a:r>
          </a:p>
          <a:p>
            <a:pPr marL="461963" lvl="1" indent="-227013">
              <a:spcBef>
                <a:spcPts val="300"/>
              </a:spcBef>
            </a:pPr>
            <a:r>
              <a:rPr lang="en-US" sz="1400" dirty="0">
                <a:solidFill>
                  <a:schemeClr val="tx1">
                    <a:lumMod val="50000"/>
                    <a:lumOff val="50000"/>
                  </a:schemeClr>
                </a:solidFill>
                <a:latin typeface="+mj-lt"/>
              </a:rPr>
              <a:t>Locations</a:t>
            </a:r>
          </a:p>
          <a:p>
            <a:pPr marL="0" indent="0">
              <a:buNone/>
            </a:pPr>
            <a:endParaRPr lang="en-US" sz="1100" dirty="0">
              <a:solidFill>
                <a:schemeClr val="tx1">
                  <a:lumMod val="50000"/>
                  <a:lumOff val="50000"/>
                </a:schemeClr>
              </a:solidFill>
              <a:latin typeface="+mj-lt"/>
            </a:endParaRP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3189418" cy="2671762"/>
          </a:xfrm>
        </p:spPr>
        <p:txBody>
          <a:bodyPr>
            <a:normAutofit/>
          </a:bodyPr>
          <a:lstStyle/>
          <a:p>
            <a:pPr>
              <a:spcBef>
                <a:spcPts val="300"/>
              </a:spcBef>
            </a:pPr>
            <a:r>
              <a:rPr lang="en-US" sz="1600" dirty="0">
                <a:solidFill>
                  <a:schemeClr val="tx1">
                    <a:lumMod val="50000"/>
                    <a:lumOff val="50000"/>
                  </a:schemeClr>
                </a:solidFill>
                <a:latin typeface="+mj-lt"/>
              </a:rPr>
              <a:t>For compliance verification</a:t>
            </a:r>
          </a:p>
          <a:p>
            <a:pPr>
              <a:spcBef>
                <a:spcPts val="300"/>
              </a:spcBef>
            </a:pPr>
            <a:r>
              <a:rPr lang="en-US" sz="1600" dirty="0">
                <a:solidFill>
                  <a:schemeClr val="tx1">
                    <a:lumMod val="50000"/>
                    <a:lumOff val="50000"/>
                  </a:schemeClr>
                </a:solidFill>
                <a:latin typeface="+mj-lt"/>
              </a:rPr>
              <a:t>As evidence during and exam or a breach</a:t>
            </a:r>
          </a:p>
          <a:p>
            <a:pPr>
              <a:spcBef>
                <a:spcPts val="300"/>
              </a:spcBef>
            </a:pPr>
            <a:r>
              <a:rPr lang="en-US" sz="1600" dirty="0">
                <a:solidFill>
                  <a:schemeClr val="tx1">
                    <a:lumMod val="50000"/>
                    <a:lumOff val="50000"/>
                  </a:schemeClr>
                </a:solidFill>
                <a:latin typeface="+mj-lt"/>
              </a:rPr>
              <a:t>for Lifecycle management (onboarding and decommissioning)</a:t>
            </a:r>
          </a:p>
          <a:p>
            <a:pPr>
              <a:spcBef>
                <a:spcPts val="300"/>
              </a:spcBef>
            </a:pPr>
            <a:r>
              <a:rPr lang="en-US" sz="1600" dirty="0">
                <a:solidFill>
                  <a:schemeClr val="tx1">
                    <a:lumMod val="50000"/>
                    <a:lumOff val="50000"/>
                  </a:schemeClr>
                </a:solidFill>
                <a:latin typeface="+mj-lt"/>
              </a:rPr>
              <a:t>For vendor management and approved vendors list</a:t>
            </a:r>
          </a:p>
          <a:p>
            <a:endParaRPr lang="en-US" sz="16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How</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373785" cy="2671762"/>
          </a:xfrm>
        </p:spPr>
        <p:txBody>
          <a:bodyPr>
            <a:normAutofit/>
          </a:bodyPr>
          <a:lstStyle/>
          <a:p>
            <a:pPr>
              <a:spcBef>
                <a:spcPts val="300"/>
              </a:spcBef>
            </a:pPr>
            <a:r>
              <a:rPr lang="en-US" sz="1600" dirty="0">
                <a:solidFill>
                  <a:schemeClr val="tx1">
                    <a:lumMod val="50000"/>
                    <a:lumOff val="50000"/>
                  </a:schemeClr>
                </a:solidFill>
                <a:latin typeface="+mj-lt"/>
              </a:rPr>
              <a:t>Leverage automation to avoid human errors</a:t>
            </a:r>
          </a:p>
          <a:p>
            <a:pPr>
              <a:spcBef>
                <a:spcPts val="300"/>
              </a:spcBef>
            </a:pPr>
            <a:r>
              <a:rPr lang="en-US" sz="1600" dirty="0">
                <a:solidFill>
                  <a:schemeClr val="tx1">
                    <a:lumMod val="50000"/>
                    <a:lumOff val="50000"/>
                  </a:schemeClr>
                </a:solidFill>
                <a:latin typeface="+mj-lt"/>
              </a:rPr>
              <a:t>Produce columnar reports for quick and easy reference</a:t>
            </a:r>
          </a:p>
          <a:p>
            <a:pPr>
              <a:spcBef>
                <a:spcPts val="300"/>
              </a:spcBef>
            </a:pPr>
            <a:r>
              <a:rPr lang="en-US" sz="1600" dirty="0">
                <a:solidFill>
                  <a:schemeClr val="tx1">
                    <a:lumMod val="50000"/>
                    <a:lumOff val="50000"/>
                  </a:schemeClr>
                </a:solidFill>
                <a:latin typeface="+mj-lt"/>
              </a:rPr>
              <a:t>Keep versions in time for further reference during breaches</a:t>
            </a:r>
          </a:p>
          <a:p>
            <a:pPr>
              <a:spcBef>
                <a:spcPts val="300"/>
              </a:spcBef>
            </a:pPr>
            <a:endParaRPr lang="en-US" sz="1600" dirty="0">
              <a:solidFill>
                <a:schemeClr val="tx1">
                  <a:lumMod val="50000"/>
                  <a:lumOff val="50000"/>
                </a:schemeClr>
              </a:solidFill>
              <a:latin typeface="+mj-lt"/>
            </a:endParaRPr>
          </a:p>
          <a:p>
            <a:pPr>
              <a:spcBef>
                <a:spcPts val="300"/>
              </a:spcBef>
            </a:pPr>
            <a:endParaRPr lang="en-US" sz="1600" dirty="0">
              <a:solidFill>
                <a:schemeClr val="tx1">
                  <a:lumMod val="50000"/>
                  <a:lumOff val="50000"/>
                </a:schemeClr>
              </a:solidFill>
              <a:latin typeface="+mj-lt"/>
            </a:endParaRPr>
          </a:p>
          <a:p>
            <a:pPr marL="0" indent="0">
              <a:buNone/>
            </a:pPr>
            <a:endParaRPr lang="en-US" sz="1600" dirty="0">
              <a:solidFill>
                <a:schemeClr val="tx1">
                  <a:lumMod val="50000"/>
                  <a:lumOff val="50000"/>
                </a:schemeClr>
              </a:solidFill>
              <a:latin typeface="+mj-lt"/>
            </a:endParaRPr>
          </a:p>
        </p:txBody>
      </p:sp>
      <p:sp>
        <p:nvSpPr>
          <p:cNvPr id="11" name="TextBox 10">
            <a:extLst>
              <a:ext uri="{FF2B5EF4-FFF2-40B4-BE49-F238E27FC236}">
                <a16:creationId xmlns:a16="http://schemas.microsoft.com/office/drawing/2014/main" id="{5E8DC2A5-A66F-2CD5-184F-C0806F6875C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9" name="Picture 2">
            <a:extLst>
              <a:ext uri="{FF2B5EF4-FFF2-40B4-BE49-F238E27FC236}">
                <a16:creationId xmlns:a16="http://schemas.microsoft.com/office/drawing/2014/main" id="{F8E521F3-D9EB-E393-0942-A04C76D43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131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Asset Inventory Reports</a:t>
            </a:r>
          </a:p>
        </p:txBody>
      </p:sp>
      <p:sp>
        <p:nvSpPr>
          <p:cNvPr id="9" name="TextBox 8">
            <a:extLst>
              <a:ext uri="{FF2B5EF4-FFF2-40B4-BE49-F238E27FC236}">
                <a16:creationId xmlns:a16="http://schemas.microsoft.com/office/drawing/2014/main" id="{51740622-F9F5-3C1E-81CE-B58E29777E26}"/>
              </a:ext>
            </a:extLst>
          </p:cNvPr>
          <p:cNvSpPr txBox="1"/>
          <p:nvPr/>
        </p:nvSpPr>
        <p:spPr>
          <a:xfrm>
            <a:off x="904119" y="2713876"/>
            <a:ext cx="3567298" cy="2454518"/>
          </a:xfrm>
          <a:prstGeom prst="rect">
            <a:avLst/>
          </a:prstGeom>
          <a:noFill/>
        </p:spPr>
        <p:txBody>
          <a:bodyPr wrap="square" rtlCol="0">
            <a:spAutoFit/>
          </a:bodyPr>
          <a:lstStyle/>
          <a:p>
            <a:pPr>
              <a:spcBef>
                <a:spcPts val="300"/>
              </a:spcBef>
            </a:pPr>
            <a:r>
              <a:rPr lang="en-US" sz="2400" dirty="0"/>
              <a:t>Assets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Systems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Software</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Data</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Users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Endpoints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Networks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Locations</a:t>
            </a:r>
          </a:p>
        </p:txBody>
      </p:sp>
      <p:sp>
        <p:nvSpPr>
          <p:cNvPr id="10" name="TextBox 9">
            <a:extLst>
              <a:ext uri="{FF2B5EF4-FFF2-40B4-BE49-F238E27FC236}">
                <a16:creationId xmlns:a16="http://schemas.microsoft.com/office/drawing/2014/main" id="{EC9724EB-2AA2-77D8-3690-7BE418621141}"/>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sp>
        <p:nvSpPr>
          <p:cNvPr id="26" name="TextBox 25">
            <a:extLst>
              <a:ext uri="{FF2B5EF4-FFF2-40B4-BE49-F238E27FC236}">
                <a16:creationId xmlns:a16="http://schemas.microsoft.com/office/drawing/2014/main" id="{F4AA0AEA-8B37-4C96-B4DE-0C1F0962E040}"/>
              </a:ext>
            </a:extLst>
          </p:cNvPr>
          <p:cNvSpPr txBox="1"/>
          <p:nvPr/>
        </p:nvSpPr>
        <p:spPr>
          <a:xfrm>
            <a:off x="7066455" y="2711256"/>
            <a:ext cx="3941064" cy="2469907"/>
          </a:xfrm>
          <a:prstGeom prst="rect">
            <a:avLst/>
          </a:prstGeom>
          <a:noFill/>
        </p:spPr>
        <p:txBody>
          <a:bodyPr wrap="square" rtlCol="0">
            <a:spAutoFit/>
          </a:bodyPr>
          <a:lstStyle/>
          <a:p>
            <a:pPr>
              <a:spcBef>
                <a:spcPts val="300"/>
              </a:spcBef>
            </a:pPr>
            <a:r>
              <a:rPr lang="en-US" sz="2400" dirty="0"/>
              <a:t>Ask your team</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Copy of the Firm’s latest Asset Inventory Reports</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Copy of an Endpoint Asset Inventory Report dated 1 year ago</a:t>
            </a: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p:txBody>
      </p:sp>
      <p:pic>
        <p:nvPicPr>
          <p:cNvPr id="3" name="Picture 2">
            <a:extLst>
              <a:ext uri="{FF2B5EF4-FFF2-40B4-BE49-F238E27FC236}">
                <a16:creationId xmlns:a16="http://schemas.microsoft.com/office/drawing/2014/main" id="{D9DFBF08-C2F7-A890-82AD-8FC15D592784}"/>
              </a:ext>
            </a:extLst>
          </p:cNvPr>
          <p:cNvPicPr>
            <a:picLocks noChangeAspect="1"/>
          </p:cNvPicPr>
          <p:nvPr/>
        </p:nvPicPr>
        <p:blipFill rotWithShape="1">
          <a:blip r:embed="rId2"/>
          <a:srcRect l="13451" t="6751" r="13451" b="20545"/>
          <a:stretch/>
        </p:blipFill>
        <p:spPr>
          <a:xfrm>
            <a:off x="6096000" y="2804487"/>
            <a:ext cx="885926" cy="881150"/>
          </a:xfrm>
          <a:prstGeom prst="rect">
            <a:avLst/>
          </a:prstGeom>
        </p:spPr>
      </p:pic>
      <p:pic>
        <p:nvPicPr>
          <p:cNvPr id="4" name="Picture 2">
            <a:extLst>
              <a:ext uri="{FF2B5EF4-FFF2-40B4-BE49-F238E27FC236}">
                <a16:creationId xmlns:a16="http://schemas.microsoft.com/office/drawing/2014/main" id="{F4EA22C0-240B-93EA-8D54-E1C7911F7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343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Security Risk Assessment</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3" y="3179610"/>
            <a:ext cx="2817809" cy="2671762"/>
          </a:xfrm>
        </p:spPr>
        <p:txBody>
          <a:bodyPr>
            <a:normAutofit fontScale="92500" lnSpcReduction="10000"/>
          </a:bodyPr>
          <a:lstStyle/>
          <a:p>
            <a:pPr marL="0" indent="0">
              <a:buNone/>
            </a:pPr>
            <a:r>
              <a:rPr lang="en-US" sz="1100" dirty="0">
                <a:solidFill>
                  <a:schemeClr val="tx1">
                    <a:lumMod val="50000"/>
                    <a:lumOff val="50000"/>
                  </a:schemeClr>
                </a:solidFill>
                <a:latin typeface="+mj-lt"/>
              </a:rPr>
              <a:t>1/27/2020 Cybersecurity &amp; Resiliency</a:t>
            </a:r>
          </a:p>
          <a:p>
            <a:pPr marL="0" indent="0">
              <a:buNone/>
            </a:pPr>
            <a:r>
              <a:rPr lang="en-US" sz="1600" dirty="0">
                <a:solidFill>
                  <a:schemeClr val="tx1">
                    <a:lumMod val="50000"/>
                    <a:lumOff val="50000"/>
                  </a:schemeClr>
                </a:solidFill>
                <a:latin typeface="+mj-lt"/>
              </a:rPr>
              <a:t>“Risk assessment to identify, analyze, and prioritize cybersecurity risks to the organization.”</a:t>
            </a:r>
          </a:p>
          <a:p>
            <a:pPr marL="0" indent="0">
              <a:buNone/>
            </a:pPr>
            <a:endParaRPr lang="en-US" sz="1600" dirty="0">
              <a:solidFill>
                <a:schemeClr val="tx1">
                  <a:lumMod val="50000"/>
                  <a:lumOff val="50000"/>
                </a:schemeClr>
              </a:solidFill>
              <a:latin typeface="+mj-lt"/>
            </a:endParaRPr>
          </a:p>
          <a:p>
            <a:pPr marL="0" indent="0">
              <a:buNone/>
            </a:pPr>
            <a:r>
              <a:rPr lang="en-US" sz="1100" dirty="0">
                <a:solidFill>
                  <a:schemeClr val="tx1">
                    <a:lumMod val="50000"/>
                    <a:lumOff val="50000"/>
                  </a:schemeClr>
                </a:solidFill>
                <a:latin typeface="+mj-lt"/>
              </a:rPr>
              <a:t>8/7/2017 Observations Risk Alert VI.5</a:t>
            </a:r>
            <a:br>
              <a:rPr lang="en-US" sz="1100" dirty="0">
                <a:solidFill>
                  <a:schemeClr val="tx1">
                    <a:lumMod val="50000"/>
                    <a:lumOff val="50000"/>
                  </a:schemeClr>
                </a:solidFill>
                <a:latin typeface="+mj-lt"/>
              </a:rPr>
            </a:br>
            <a:br>
              <a:rPr lang="en-US" sz="1100" dirty="0">
                <a:solidFill>
                  <a:schemeClr val="tx1">
                    <a:lumMod val="50000"/>
                    <a:lumOff val="50000"/>
                  </a:schemeClr>
                </a:solidFill>
                <a:latin typeface="+mj-lt"/>
              </a:rPr>
            </a:br>
            <a:r>
              <a:rPr lang="en-US" sz="1600" dirty="0">
                <a:solidFill>
                  <a:schemeClr val="tx1">
                    <a:lumMod val="50000"/>
                    <a:lumOff val="50000"/>
                  </a:schemeClr>
                </a:solidFill>
                <a:latin typeface="+mj-lt"/>
              </a:rPr>
              <a:t>“Vulnerability scans of infrastructure required to aid in identifying potential weaknesses in a Firm’s key systems.”</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9" y="3179610"/>
            <a:ext cx="2956662" cy="2671762"/>
          </a:xfrm>
        </p:spPr>
        <p:txBody>
          <a:bodyPr>
            <a:normAutofit/>
          </a:bodyPr>
          <a:lstStyle/>
          <a:p>
            <a:pPr marL="0" indent="0">
              <a:buNone/>
            </a:pPr>
            <a:r>
              <a:rPr lang="en-US" sz="1100" dirty="0">
                <a:solidFill>
                  <a:schemeClr val="tx1">
                    <a:lumMod val="50000"/>
                    <a:lumOff val="50000"/>
                  </a:schemeClr>
                </a:solidFill>
                <a:latin typeface="+mj-lt"/>
              </a:rPr>
              <a:t>Cybersecurity Report 2018 </a:t>
            </a:r>
          </a:p>
          <a:p>
            <a:pPr marL="0" indent="0">
              <a:buNone/>
            </a:pPr>
            <a:r>
              <a:rPr lang="en-US" sz="1600" dirty="0">
                <a:solidFill>
                  <a:schemeClr val="tx1">
                    <a:lumMod val="50000"/>
                    <a:lumOff val="50000"/>
                  </a:schemeClr>
                </a:solidFill>
                <a:latin typeface="+mj-lt"/>
              </a:rPr>
              <a:t>“Conduct annual risk assessments and testing of firm controls to verify effectiveness and adequacy. This assessment may be accomplished using third-party or firm security experts.”</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2956663" cy="2671762"/>
          </a:xfrm>
        </p:spPr>
        <p:txBody>
          <a:bodyPr>
            <a:normAutofit/>
          </a:bodyPr>
          <a:lstStyle/>
          <a:p>
            <a:pPr marL="0" indent="0">
              <a:buNone/>
            </a:pPr>
            <a:r>
              <a:rPr lang="en-US" sz="1100" dirty="0">
                <a:solidFill>
                  <a:schemeClr val="tx1">
                    <a:lumMod val="50000"/>
                    <a:lumOff val="50000"/>
                  </a:schemeClr>
                </a:solidFill>
                <a:latin typeface="+mj-lt"/>
              </a:rPr>
              <a:t>3/1/2017 23 NYCRR 500</a:t>
            </a:r>
          </a:p>
          <a:p>
            <a:pPr marL="0" indent="0">
              <a:buNone/>
            </a:pPr>
            <a:r>
              <a:rPr lang="en-US" sz="1600" dirty="0">
                <a:solidFill>
                  <a:schemeClr val="tx1">
                    <a:lumMod val="50000"/>
                    <a:lumOff val="50000"/>
                  </a:schemeClr>
                </a:solidFill>
                <a:latin typeface="+mj-lt"/>
              </a:rPr>
              <a:t>“Companies should have a documented program to identify, assess, track, and remediate vulnerabilities on all enterprise assets within their infrastructure and include periodic penetration testing.”</a:t>
            </a:r>
          </a:p>
          <a:p>
            <a:pPr marL="0" indent="0">
              <a:buNone/>
            </a:pPr>
            <a:endParaRPr lang="en-US" sz="1600" dirty="0">
              <a:solidFill>
                <a:schemeClr val="tx1">
                  <a:lumMod val="50000"/>
                  <a:lumOff val="50000"/>
                </a:schemeClr>
              </a:solidFill>
              <a:latin typeface="+mj-lt"/>
            </a:endParaRPr>
          </a:p>
        </p:txBody>
      </p:sp>
      <p:sp>
        <p:nvSpPr>
          <p:cNvPr id="9" name="TextBox 8">
            <a:extLst>
              <a:ext uri="{FF2B5EF4-FFF2-40B4-BE49-F238E27FC236}">
                <a16:creationId xmlns:a16="http://schemas.microsoft.com/office/drawing/2014/main" id="{44C29D26-9A2F-44C7-3F8F-8CC98A0E8704}"/>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10" name="Picture 2">
            <a:extLst>
              <a:ext uri="{FF2B5EF4-FFF2-40B4-BE49-F238E27FC236}">
                <a16:creationId xmlns:a16="http://schemas.microsoft.com/office/drawing/2014/main" id="{4CBAA424-ABA8-8C1F-1EC3-8ECE85794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2633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Security Risk Assessment</a:t>
            </a:r>
            <a:endParaRPr lang="en-US" sz="4000" dirty="0"/>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What</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09"/>
            <a:ext cx="2769420" cy="3237815"/>
          </a:xfrm>
        </p:spPr>
        <p:txBody>
          <a:bodyPr>
            <a:normAutofit/>
          </a:bodyPr>
          <a:lstStyle/>
          <a:p>
            <a:pPr>
              <a:spcBef>
                <a:spcPts val="300"/>
              </a:spcBef>
            </a:pPr>
            <a:r>
              <a:rPr lang="en-US" sz="1600" dirty="0">
                <a:solidFill>
                  <a:schemeClr val="tx1">
                    <a:lumMod val="50000"/>
                    <a:lumOff val="50000"/>
                  </a:schemeClr>
                </a:solidFill>
                <a:latin typeface="+mj-lt"/>
              </a:rPr>
              <a:t>Annual review of Cyber Program’s Policies and Procedures and the evidence that tasks associated with them are performed</a:t>
            </a:r>
          </a:p>
          <a:p>
            <a:pPr>
              <a:spcBef>
                <a:spcPts val="300"/>
              </a:spcBef>
            </a:pPr>
            <a:r>
              <a:rPr lang="en-US" sz="1600" dirty="0">
                <a:solidFill>
                  <a:schemeClr val="tx1">
                    <a:lumMod val="50000"/>
                    <a:lumOff val="50000"/>
                  </a:schemeClr>
                </a:solidFill>
                <a:latin typeface="+mj-lt"/>
              </a:rPr>
              <a:t>Annual vulnerability scans and network penetration testing to identify potential weaknesses or security flaws</a:t>
            </a:r>
          </a:p>
          <a:p>
            <a:pPr>
              <a:spcBef>
                <a:spcPts val="300"/>
              </a:spcBef>
            </a:pPr>
            <a:r>
              <a:rPr lang="en-US" sz="1600" dirty="0">
                <a:solidFill>
                  <a:schemeClr val="tx1">
                    <a:lumMod val="50000"/>
                    <a:lumOff val="50000"/>
                  </a:schemeClr>
                </a:solidFill>
                <a:latin typeface="+mj-lt"/>
              </a:rPr>
              <a:t>Corrective and Prevention Plan to address the results</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2948349" cy="2671762"/>
          </a:xfrm>
        </p:spPr>
        <p:txBody>
          <a:bodyPr>
            <a:normAutofit/>
          </a:bodyPr>
          <a:lstStyle/>
          <a:p>
            <a:pPr>
              <a:spcBef>
                <a:spcPts val="300"/>
              </a:spcBef>
            </a:pPr>
            <a:r>
              <a:rPr lang="en-US" sz="1600" dirty="0">
                <a:solidFill>
                  <a:schemeClr val="tx1">
                    <a:lumMod val="50000"/>
                    <a:lumOff val="50000"/>
                  </a:schemeClr>
                </a:solidFill>
                <a:latin typeface="+mj-lt"/>
              </a:rPr>
              <a:t>Help the Firm to proactively address security issues and strengthen its overall cybersecurity posture</a:t>
            </a:r>
          </a:p>
          <a:p>
            <a:pPr>
              <a:spcBef>
                <a:spcPts val="300"/>
              </a:spcBef>
            </a:pPr>
            <a:endParaRPr lang="en-US" sz="1600" dirty="0">
              <a:solidFill>
                <a:schemeClr val="tx1">
                  <a:lumMod val="50000"/>
                  <a:lumOff val="50000"/>
                </a:schemeClr>
              </a:solidFill>
              <a:latin typeface="+mj-lt"/>
            </a:endParaRPr>
          </a:p>
        </p:txBody>
      </p:sp>
      <p:sp>
        <p:nvSpPr>
          <p:cNvPr id="10" name="TextBox 9">
            <a:extLst>
              <a:ext uri="{FF2B5EF4-FFF2-40B4-BE49-F238E27FC236}">
                <a16:creationId xmlns:a16="http://schemas.microsoft.com/office/drawing/2014/main" id="{F6DA39D7-1EE2-47D0-5FA2-3D48D238C37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sp>
        <p:nvSpPr>
          <p:cNvPr id="9" name="TextBox 8">
            <a:extLst>
              <a:ext uri="{FF2B5EF4-FFF2-40B4-BE49-F238E27FC236}">
                <a16:creationId xmlns:a16="http://schemas.microsoft.com/office/drawing/2014/main" id="{B69E09D0-BC42-89F7-B0AE-30634CFC2AEB}"/>
              </a:ext>
            </a:extLst>
          </p:cNvPr>
          <p:cNvSpPr txBox="1"/>
          <p:nvPr/>
        </p:nvSpPr>
        <p:spPr>
          <a:xfrm>
            <a:off x="8662498" y="2711256"/>
            <a:ext cx="2867254" cy="2115964"/>
          </a:xfrm>
          <a:prstGeom prst="rect">
            <a:avLst/>
          </a:prstGeom>
          <a:noFill/>
        </p:spPr>
        <p:txBody>
          <a:bodyPr wrap="square" rtlCol="0">
            <a:spAutoFit/>
          </a:bodyPr>
          <a:lstStyle/>
          <a:p>
            <a:pPr>
              <a:spcBef>
                <a:spcPts val="300"/>
              </a:spcBef>
            </a:pPr>
            <a:r>
              <a:rPr lang="en-US" sz="2400" dirty="0"/>
              <a:t>Ask your team</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Copy of the latest Security Risk Assessment with its Corrective and Prevention Plan</a:t>
            </a: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p:txBody>
      </p:sp>
      <p:pic>
        <p:nvPicPr>
          <p:cNvPr id="11" name="Picture 10">
            <a:extLst>
              <a:ext uri="{FF2B5EF4-FFF2-40B4-BE49-F238E27FC236}">
                <a16:creationId xmlns:a16="http://schemas.microsoft.com/office/drawing/2014/main" id="{E95917B1-6363-83C8-4881-86827390BA7D}"/>
              </a:ext>
            </a:extLst>
          </p:cNvPr>
          <p:cNvPicPr>
            <a:picLocks noChangeAspect="1"/>
          </p:cNvPicPr>
          <p:nvPr/>
        </p:nvPicPr>
        <p:blipFill rotWithShape="1">
          <a:blip r:embed="rId2"/>
          <a:srcRect l="13451" t="6751" r="13451" b="20545"/>
          <a:stretch/>
        </p:blipFill>
        <p:spPr>
          <a:xfrm>
            <a:off x="7692043" y="2804487"/>
            <a:ext cx="885926" cy="881150"/>
          </a:xfrm>
          <a:prstGeom prst="rect">
            <a:avLst/>
          </a:prstGeom>
        </p:spPr>
      </p:pic>
      <p:pic>
        <p:nvPicPr>
          <p:cNvPr id="7" name="Picture 2">
            <a:extLst>
              <a:ext uri="{FF2B5EF4-FFF2-40B4-BE49-F238E27FC236}">
                <a16:creationId xmlns:a16="http://schemas.microsoft.com/office/drawing/2014/main" id="{83F63C73-B382-68CF-3EAA-B5D7A4BB10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727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Mock SEC Exam</a:t>
            </a:r>
          </a:p>
        </p:txBody>
      </p:sp>
      <p:sp>
        <p:nvSpPr>
          <p:cNvPr id="9" name="TextBox 8">
            <a:extLst>
              <a:ext uri="{FF2B5EF4-FFF2-40B4-BE49-F238E27FC236}">
                <a16:creationId xmlns:a16="http://schemas.microsoft.com/office/drawing/2014/main" id="{51740622-F9F5-3C1E-81CE-B58E29777E26}"/>
              </a:ext>
            </a:extLst>
          </p:cNvPr>
          <p:cNvSpPr txBox="1"/>
          <p:nvPr/>
        </p:nvSpPr>
        <p:spPr>
          <a:xfrm>
            <a:off x="904118" y="2713876"/>
            <a:ext cx="5014543" cy="992579"/>
          </a:xfrm>
          <a:prstGeom prst="rect">
            <a:avLst/>
          </a:prstGeom>
          <a:noFill/>
        </p:spPr>
        <p:txBody>
          <a:bodyPr wrap="square" rtlCol="0">
            <a:spAutoFit/>
          </a:bodyPr>
          <a:lstStyle/>
          <a:p>
            <a:pPr>
              <a:spcBef>
                <a:spcPts val="300"/>
              </a:spcBef>
            </a:pPr>
            <a:r>
              <a:rPr lang="en-US" sz="2400" dirty="0"/>
              <a:t>Assets</a:t>
            </a:r>
          </a:p>
          <a:p>
            <a:pPr>
              <a:spcBef>
                <a:spcPts val="300"/>
              </a:spcBef>
            </a:pPr>
            <a:r>
              <a:rPr lang="en-US" sz="1600" dirty="0">
                <a:solidFill>
                  <a:schemeClr val="tx1">
                    <a:lumMod val="50000"/>
                    <a:lumOff val="50000"/>
                  </a:schemeClr>
                </a:solidFill>
                <a:latin typeface="+mj-lt"/>
              </a:rPr>
              <a:t>To aid organizations in exam preparation, the SEC has released a sample of questions typically posed to firms.</a:t>
            </a:r>
          </a:p>
        </p:txBody>
      </p:sp>
      <p:sp>
        <p:nvSpPr>
          <p:cNvPr id="10" name="TextBox 9">
            <a:extLst>
              <a:ext uri="{FF2B5EF4-FFF2-40B4-BE49-F238E27FC236}">
                <a16:creationId xmlns:a16="http://schemas.microsoft.com/office/drawing/2014/main" id="{EC9724EB-2AA2-77D8-3690-7BE418621141}"/>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sp>
        <p:nvSpPr>
          <p:cNvPr id="26" name="TextBox 25">
            <a:extLst>
              <a:ext uri="{FF2B5EF4-FFF2-40B4-BE49-F238E27FC236}">
                <a16:creationId xmlns:a16="http://schemas.microsoft.com/office/drawing/2014/main" id="{F4AA0AEA-8B37-4C96-B4DE-0C1F0962E040}"/>
              </a:ext>
            </a:extLst>
          </p:cNvPr>
          <p:cNvSpPr txBox="1"/>
          <p:nvPr/>
        </p:nvSpPr>
        <p:spPr>
          <a:xfrm>
            <a:off x="7590160" y="2711256"/>
            <a:ext cx="3941064" cy="2223686"/>
          </a:xfrm>
          <a:prstGeom prst="rect">
            <a:avLst/>
          </a:prstGeom>
          <a:noFill/>
        </p:spPr>
        <p:txBody>
          <a:bodyPr wrap="square" rtlCol="0">
            <a:spAutoFit/>
          </a:bodyPr>
          <a:lstStyle/>
          <a:p>
            <a:pPr>
              <a:spcBef>
                <a:spcPts val="300"/>
              </a:spcBef>
            </a:pPr>
            <a:r>
              <a:rPr lang="en-US" sz="2400" dirty="0"/>
              <a:t>Ask your team</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Answer each question of the SEC Exam sample</a:t>
            </a:r>
          </a:p>
          <a:p>
            <a:pPr marL="285750" indent="-285750">
              <a:spcBef>
                <a:spcPts val="300"/>
              </a:spcBef>
              <a:buFont typeface="Arial" panose="020B0604020202020204" pitchFamily="34" charset="0"/>
              <a:buChar char="•"/>
            </a:pPr>
            <a:r>
              <a:rPr lang="en-US" sz="1600" dirty="0">
                <a:solidFill>
                  <a:schemeClr val="tx1">
                    <a:lumMod val="50000"/>
                    <a:lumOff val="50000"/>
                  </a:schemeClr>
                </a:solidFill>
                <a:latin typeface="+mj-lt"/>
              </a:rPr>
              <a:t>Present results to Senior Leadership</a:t>
            </a: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a:p>
            <a:pPr marL="285750" indent="-285750">
              <a:spcBef>
                <a:spcPts val="300"/>
              </a:spcBef>
              <a:buFont typeface="Arial" panose="020B0604020202020204" pitchFamily="34" charset="0"/>
              <a:buChar char="•"/>
            </a:pPr>
            <a:endParaRPr lang="en-US" dirty="0">
              <a:solidFill>
                <a:schemeClr val="bg1">
                  <a:lumMod val="65000"/>
                </a:schemeClr>
              </a:solidFill>
              <a:latin typeface="+mj-lt"/>
            </a:endParaRPr>
          </a:p>
        </p:txBody>
      </p:sp>
      <p:pic>
        <p:nvPicPr>
          <p:cNvPr id="3" name="Picture 2">
            <a:extLst>
              <a:ext uri="{FF2B5EF4-FFF2-40B4-BE49-F238E27FC236}">
                <a16:creationId xmlns:a16="http://schemas.microsoft.com/office/drawing/2014/main" id="{D9DFBF08-C2F7-A890-82AD-8FC15D592784}"/>
              </a:ext>
            </a:extLst>
          </p:cNvPr>
          <p:cNvPicPr>
            <a:picLocks noChangeAspect="1"/>
          </p:cNvPicPr>
          <p:nvPr/>
        </p:nvPicPr>
        <p:blipFill rotWithShape="1">
          <a:blip r:embed="rId2"/>
          <a:srcRect l="13451" t="6751" r="13451" b="20545"/>
          <a:stretch/>
        </p:blipFill>
        <p:spPr>
          <a:xfrm>
            <a:off x="6619705" y="2804487"/>
            <a:ext cx="885926" cy="881150"/>
          </a:xfrm>
          <a:prstGeom prst="rect">
            <a:avLst/>
          </a:prstGeom>
        </p:spPr>
      </p:pic>
      <p:pic>
        <p:nvPicPr>
          <p:cNvPr id="5" name="Picture 4">
            <a:extLst>
              <a:ext uri="{FF2B5EF4-FFF2-40B4-BE49-F238E27FC236}">
                <a16:creationId xmlns:a16="http://schemas.microsoft.com/office/drawing/2014/main" id="{1DDCE1ED-076F-F8BE-33D7-9E31FD127155}"/>
              </a:ext>
            </a:extLst>
          </p:cNvPr>
          <p:cNvPicPr>
            <a:picLocks noChangeAspect="1"/>
          </p:cNvPicPr>
          <p:nvPr/>
        </p:nvPicPr>
        <p:blipFill>
          <a:blip r:embed="rId3"/>
          <a:stretch>
            <a:fillRect/>
          </a:stretch>
        </p:blipFill>
        <p:spPr>
          <a:xfrm>
            <a:off x="839788" y="3973767"/>
            <a:ext cx="4866940" cy="2287412"/>
          </a:xfrm>
          <a:prstGeom prst="rect">
            <a:avLst/>
          </a:prstGeom>
        </p:spPr>
      </p:pic>
      <p:pic>
        <p:nvPicPr>
          <p:cNvPr id="4" name="Picture 2">
            <a:extLst>
              <a:ext uri="{FF2B5EF4-FFF2-40B4-BE49-F238E27FC236}">
                <a16:creationId xmlns:a16="http://schemas.microsoft.com/office/drawing/2014/main" id="{A082CA0E-15B2-C55D-4D58-F9C5855004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253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Reporting to the Board of Directors</a:t>
            </a:r>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SEC</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3" y="3179610"/>
            <a:ext cx="2877486" cy="2671762"/>
          </a:xfrm>
        </p:spPr>
        <p:txBody>
          <a:bodyPr>
            <a:normAutofit/>
          </a:bodyPr>
          <a:lstStyle/>
          <a:p>
            <a:pPr marL="0" indent="0">
              <a:buNone/>
            </a:pPr>
            <a:r>
              <a:rPr lang="en-US" sz="1100" dirty="0">
                <a:solidFill>
                  <a:schemeClr val="tx1">
                    <a:lumMod val="50000"/>
                    <a:lumOff val="50000"/>
                  </a:schemeClr>
                </a:solidFill>
                <a:latin typeface="+mj-lt"/>
              </a:rPr>
              <a:t>1/27/2020 Cybersecurity &amp; Resiliency</a:t>
            </a:r>
          </a:p>
          <a:p>
            <a:pPr marL="0" indent="0">
              <a:buNone/>
            </a:pPr>
            <a:r>
              <a:rPr lang="en-US" sz="1600" dirty="0">
                <a:solidFill>
                  <a:schemeClr val="tx1">
                    <a:lumMod val="50000"/>
                    <a:lumOff val="50000"/>
                  </a:schemeClr>
                </a:solidFill>
                <a:latin typeface="+mj-lt"/>
              </a:rPr>
              <a:t>“Responding promptly to testing and monitoring results by updating policies and procedures to address any gaps or weaknesses and involving board and senior leadership appropriately.”</a:t>
            </a:r>
          </a:p>
          <a:p>
            <a:pPr marL="0" indent="0">
              <a:buNone/>
            </a:pPr>
            <a:br>
              <a:rPr lang="en-US" sz="1100" dirty="0">
                <a:solidFill>
                  <a:schemeClr val="tx1">
                    <a:lumMod val="50000"/>
                    <a:lumOff val="50000"/>
                  </a:schemeClr>
                </a:solidFill>
                <a:latin typeface="+mj-lt"/>
              </a:rPr>
            </a:br>
            <a:endParaRPr lang="en-US" sz="1100" dirty="0">
              <a:solidFill>
                <a:schemeClr val="tx1">
                  <a:lumMod val="50000"/>
                  <a:lumOff val="50000"/>
                </a:schemeClr>
              </a:solidFill>
              <a:latin typeface="+mj-lt"/>
            </a:endParaRP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FINRA</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3056415" cy="2671762"/>
          </a:xfrm>
        </p:spPr>
        <p:txBody>
          <a:bodyPr>
            <a:normAutofit/>
          </a:bodyPr>
          <a:lstStyle/>
          <a:p>
            <a:pPr marL="0" indent="0">
              <a:buNone/>
            </a:pPr>
            <a:r>
              <a:rPr lang="en-US" sz="1100" dirty="0">
                <a:solidFill>
                  <a:schemeClr val="tx1">
                    <a:lumMod val="50000"/>
                    <a:lumOff val="50000"/>
                  </a:schemeClr>
                </a:solidFill>
                <a:latin typeface="+mj-lt"/>
              </a:rPr>
              <a:t>Cybersecurity Practices 2015</a:t>
            </a:r>
          </a:p>
          <a:p>
            <a:pPr marL="0" indent="0">
              <a:buNone/>
            </a:pPr>
            <a:r>
              <a:rPr lang="en-US" sz="1600" dirty="0">
                <a:solidFill>
                  <a:schemeClr val="tx1">
                    <a:lumMod val="50000"/>
                    <a:lumOff val="50000"/>
                  </a:schemeClr>
                </a:solidFill>
                <a:latin typeface="+mj-lt"/>
              </a:rPr>
              <a:t>“At a number of firms, the board receives annual cybersecurity-related reporting while other firms report on a quarterly basis. A number of firms also provide ad hoc reporting to the board in the event of major cybersecurity events.”</a:t>
            </a:r>
            <a:endParaRPr lang="en-US" sz="1000" dirty="0">
              <a:solidFill>
                <a:schemeClr val="tx1">
                  <a:lumMod val="50000"/>
                  <a:lumOff val="50000"/>
                </a:schemeClr>
              </a:solidFill>
              <a:latin typeface="+mj-lt"/>
            </a:endParaRP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NYDFS</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056415" cy="2671762"/>
          </a:xfrm>
        </p:spPr>
        <p:txBody>
          <a:bodyPr>
            <a:normAutofit/>
          </a:bodyPr>
          <a:lstStyle/>
          <a:p>
            <a:pPr marL="0" indent="0">
              <a:buNone/>
            </a:pPr>
            <a:r>
              <a:rPr lang="en-US" sz="1100" dirty="0">
                <a:solidFill>
                  <a:schemeClr val="tx1">
                    <a:lumMod val="50000"/>
                    <a:lumOff val="50000"/>
                  </a:schemeClr>
                </a:solidFill>
                <a:latin typeface="+mj-lt"/>
              </a:rPr>
              <a:t>3/1/2017 23 NYCRR 500</a:t>
            </a:r>
          </a:p>
          <a:p>
            <a:pPr marL="0" indent="0">
              <a:buNone/>
            </a:pPr>
            <a:r>
              <a:rPr lang="en-US" sz="1600" dirty="0">
                <a:solidFill>
                  <a:schemeClr val="tx1">
                    <a:lumMod val="50000"/>
                    <a:lumOff val="50000"/>
                  </a:schemeClr>
                </a:solidFill>
                <a:latin typeface="+mj-lt"/>
              </a:rPr>
              <a:t>“The CISO of each Covered Entity shall report in writing at least annually to the Covered Entity’s board of directors or equivalent governing body.”</a:t>
            </a:r>
          </a:p>
          <a:p>
            <a:pPr marL="0" indent="0">
              <a:buNone/>
            </a:pPr>
            <a:endParaRPr lang="en-US" sz="1600" dirty="0">
              <a:solidFill>
                <a:schemeClr val="tx1">
                  <a:lumMod val="50000"/>
                  <a:lumOff val="50000"/>
                </a:schemeClr>
              </a:solidFill>
              <a:latin typeface="+mj-lt"/>
            </a:endParaRPr>
          </a:p>
        </p:txBody>
      </p:sp>
      <p:sp>
        <p:nvSpPr>
          <p:cNvPr id="9" name="TextBox 8">
            <a:extLst>
              <a:ext uri="{FF2B5EF4-FFF2-40B4-BE49-F238E27FC236}">
                <a16:creationId xmlns:a16="http://schemas.microsoft.com/office/drawing/2014/main" id="{44C29D26-9A2F-44C7-3F8F-8CC98A0E8704}"/>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10" name="Picture 2">
            <a:extLst>
              <a:ext uri="{FF2B5EF4-FFF2-40B4-BE49-F238E27FC236}">
                <a16:creationId xmlns:a16="http://schemas.microsoft.com/office/drawing/2014/main" id="{88828E43-4BE4-144E-6EA1-B79FD0168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998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AB0A3-0208-8A0C-D107-FEC284E6BAA8}"/>
              </a:ext>
            </a:extLst>
          </p:cNvPr>
          <p:cNvSpPr>
            <a:spLocks noGrp="1"/>
          </p:cNvSpPr>
          <p:nvPr>
            <p:ph type="title"/>
          </p:nvPr>
        </p:nvSpPr>
        <p:spPr>
          <a:xfrm>
            <a:off x="839788" y="1204705"/>
            <a:ext cx="10515600" cy="1325563"/>
          </a:xfrm>
        </p:spPr>
        <p:txBody>
          <a:bodyPr>
            <a:normAutofit/>
          </a:bodyPr>
          <a:lstStyle/>
          <a:p>
            <a:r>
              <a:rPr lang="en-US" sz="4000" b="1" dirty="0">
                <a:latin typeface="+mn-lt"/>
              </a:rPr>
              <a:t>Reporting to the Board of Directors</a:t>
            </a:r>
            <a:endParaRPr lang="en-US" sz="4000" dirty="0"/>
          </a:p>
        </p:txBody>
      </p:sp>
      <p:sp>
        <p:nvSpPr>
          <p:cNvPr id="3" name="Text Placeholder 2">
            <a:extLst>
              <a:ext uri="{FF2B5EF4-FFF2-40B4-BE49-F238E27FC236}">
                <a16:creationId xmlns:a16="http://schemas.microsoft.com/office/drawing/2014/main" id="{CCEE0236-0533-0011-D32F-F8F9235637D0}"/>
              </a:ext>
            </a:extLst>
          </p:cNvPr>
          <p:cNvSpPr>
            <a:spLocks noGrp="1"/>
          </p:cNvSpPr>
          <p:nvPr>
            <p:ph type="body" idx="1"/>
          </p:nvPr>
        </p:nvSpPr>
        <p:spPr>
          <a:xfrm>
            <a:off x="867221" y="2355698"/>
            <a:ext cx="3299949" cy="823912"/>
          </a:xfrm>
        </p:spPr>
        <p:txBody>
          <a:bodyPr/>
          <a:lstStyle/>
          <a:p>
            <a:r>
              <a:rPr lang="en-US" b="0" dirty="0"/>
              <a:t>What</a:t>
            </a:r>
          </a:p>
        </p:txBody>
      </p:sp>
      <p:sp>
        <p:nvSpPr>
          <p:cNvPr id="4" name="Content Placeholder 3">
            <a:extLst>
              <a:ext uri="{FF2B5EF4-FFF2-40B4-BE49-F238E27FC236}">
                <a16:creationId xmlns:a16="http://schemas.microsoft.com/office/drawing/2014/main" id="{68DB0F01-8529-224E-124D-D75CED8BA49B}"/>
              </a:ext>
            </a:extLst>
          </p:cNvPr>
          <p:cNvSpPr>
            <a:spLocks noGrp="1"/>
          </p:cNvSpPr>
          <p:nvPr>
            <p:ph sz="half" idx="2"/>
          </p:nvPr>
        </p:nvSpPr>
        <p:spPr>
          <a:xfrm>
            <a:off x="867222" y="3179610"/>
            <a:ext cx="2343985" cy="2671762"/>
          </a:xfrm>
        </p:spPr>
        <p:txBody>
          <a:bodyPr>
            <a:normAutofit/>
          </a:bodyPr>
          <a:lstStyle/>
          <a:p>
            <a:pPr>
              <a:spcBef>
                <a:spcPts val="300"/>
              </a:spcBef>
            </a:pPr>
            <a:r>
              <a:rPr lang="en-US" sz="1600" dirty="0">
                <a:solidFill>
                  <a:schemeClr val="tx1">
                    <a:lumMod val="50000"/>
                    <a:lumOff val="50000"/>
                  </a:schemeClr>
                </a:solidFill>
                <a:latin typeface="+mj-lt"/>
              </a:rPr>
              <a:t>Material risks</a:t>
            </a:r>
          </a:p>
          <a:p>
            <a:pPr>
              <a:spcBef>
                <a:spcPts val="300"/>
              </a:spcBef>
            </a:pPr>
            <a:r>
              <a:rPr lang="en-US" sz="1600" dirty="0">
                <a:solidFill>
                  <a:schemeClr val="tx1">
                    <a:lumMod val="50000"/>
                    <a:lumOff val="50000"/>
                  </a:schemeClr>
                </a:solidFill>
                <a:latin typeface="+mj-lt"/>
              </a:rPr>
              <a:t>Overall effectiveness of the Cyber Program</a:t>
            </a:r>
          </a:p>
          <a:p>
            <a:pPr>
              <a:spcBef>
                <a:spcPts val="300"/>
              </a:spcBef>
            </a:pPr>
            <a:r>
              <a:rPr lang="en-US" sz="1600" dirty="0">
                <a:solidFill>
                  <a:schemeClr val="tx1">
                    <a:lumMod val="50000"/>
                    <a:lumOff val="50000"/>
                  </a:schemeClr>
                </a:solidFill>
                <a:latin typeface="+mj-lt"/>
              </a:rPr>
              <a:t>Security event and breaches</a:t>
            </a:r>
          </a:p>
          <a:p>
            <a:pPr>
              <a:spcBef>
                <a:spcPts val="300"/>
              </a:spcBef>
            </a:pPr>
            <a:r>
              <a:rPr lang="en-US" sz="1600" dirty="0">
                <a:solidFill>
                  <a:schemeClr val="tx1">
                    <a:lumMod val="50000"/>
                    <a:lumOff val="50000"/>
                  </a:schemeClr>
                </a:solidFill>
                <a:latin typeface="+mj-lt"/>
              </a:rPr>
              <a:t>Cybersecurity-related matters involving vendors</a:t>
            </a:r>
          </a:p>
        </p:txBody>
      </p:sp>
      <p:sp>
        <p:nvSpPr>
          <p:cNvPr id="5" name="Text Placeholder 4">
            <a:extLst>
              <a:ext uri="{FF2B5EF4-FFF2-40B4-BE49-F238E27FC236}">
                <a16:creationId xmlns:a16="http://schemas.microsoft.com/office/drawing/2014/main" id="{0FBDB08D-C45E-739F-4759-07FF84936137}"/>
              </a:ext>
            </a:extLst>
          </p:cNvPr>
          <p:cNvSpPr>
            <a:spLocks noGrp="1"/>
          </p:cNvSpPr>
          <p:nvPr>
            <p:ph type="body" sz="quarter" idx="3"/>
          </p:nvPr>
        </p:nvSpPr>
        <p:spPr>
          <a:xfrm>
            <a:off x="4267098" y="2355698"/>
            <a:ext cx="3478876" cy="823912"/>
          </a:xfrm>
        </p:spPr>
        <p:txBody>
          <a:bodyPr/>
          <a:lstStyle/>
          <a:p>
            <a:r>
              <a:rPr lang="en-US" b="0" dirty="0"/>
              <a:t>Why</a:t>
            </a:r>
          </a:p>
        </p:txBody>
      </p:sp>
      <p:sp>
        <p:nvSpPr>
          <p:cNvPr id="6" name="Content Placeholder 5">
            <a:extLst>
              <a:ext uri="{FF2B5EF4-FFF2-40B4-BE49-F238E27FC236}">
                <a16:creationId xmlns:a16="http://schemas.microsoft.com/office/drawing/2014/main" id="{3375AFAE-FAEA-FC0D-61CD-72DED95E3648}"/>
              </a:ext>
            </a:extLst>
          </p:cNvPr>
          <p:cNvSpPr>
            <a:spLocks noGrp="1"/>
          </p:cNvSpPr>
          <p:nvPr>
            <p:ph sz="quarter" idx="4"/>
          </p:nvPr>
        </p:nvSpPr>
        <p:spPr>
          <a:xfrm>
            <a:off x="4267098" y="3179610"/>
            <a:ext cx="2948349" cy="2671762"/>
          </a:xfrm>
        </p:spPr>
        <p:txBody>
          <a:bodyPr>
            <a:normAutofit/>
          </a:bodyPr>
          <a:lstStyle/>
          <a:p>
            <a:pPr>
              <a:spcBef>
                <a:spcPts val="300"/>
              </a:spcBef>
            </a:pPr>
            <a:r>
              <a:rPr lang="en-US" sz="1600" dirty="0">
                <a:solidFill>
                  <a:schemeClr val="tx1">
                    <a:lumMod val="50000"/>
                    <a:lumOff val="50000"/>
                  </a:schemeClr>
                </a:solidFill>
                <a:latin typeface="+mj-lt"/>
              </a:rPr>
              <a:t>To protect</a:t>
            </a:r>
          </a:p>
          <a:p>
            <a:pPr marL="461963" lvl="1" indent="-227013">
              <a:spcBef>
                <a:spcPts val="300"/>
              </a:spcBef>
            </a:pPr>
            <a:r>
              <a:rPr lang="en-US" sz="1400" dirty="0">
                <a:solidFill>
                  <a:schemeClr val="tx1">
                    <a:lumMod val="50000"/>
                    <a:lumOff val="50000"/>
                  </a:schemeClr>
                </a:solidFill>
                <a:latin typeface="+mj-lt"/>
              </a:rPr>
              <a:t>Shareholders</a:t>
            </a:r>
          </a:p>
          <a:p>
            <a:pPr marL="461963" lvl="1" indent="-227013">
              <a:spcBef>
                <a:spcPts val="300"/>
              </a:spcBef>
            </a:pPr>
            <a:r>
              <a:rPr lang="en-US" sz="1400" dirty="0">
                <a:solidFill>
                  <a:schemeClr val="tx1">
                    <a:lumMod val="50000"/>
                    <a:lumOff val="50000"/>
                  </a:schemeClr>
                </a:solidFill>
                <a:latin typeface="+mj-lt"/>
              </a:rPr>
              <a:t>The Firm’s reputation</a:t>
            </a:r>
          </a:p>
          <a:p>
            <a:pPr marL="461963" lvl="1" indent="-227013">
              <a:spcBef>
                <a:spcPts val="300"/>
              </a:spcBef>
            </a:pPr>
            <a:r>
              <a:rPr lang="en-US" sz="1400" dirty="0">
                <a:solidFill>
                  <a:schemeClr val="tx1">
                    <a:lumMod val="50000"/>
                    <a:lumOff val="50000"/>
                  </a:schemeClr>
                </a:solidFill>
                <a:latin typeface="+mj-lt"/>
              </a:rPr>
              <a:t>Themselves</a:t>
            </a:r>
          </a:p>
        </p:txBody>
      </p:sp>
      <p:sp>
        <p:nvSpPr>
          <p:cNvPr id="7" name="Text Placeholder 6">
            <a:extLst>
              <a:ext uri="{FF2B5EF4-FFF2-40B4-BE49-F238E27FC236}">
                <a16:creationId xmlns:a16="http://schemas.microsoft.com/office/drawing/2014/main" id="{BD5FC5DE-5E02-CDF5-0519-B7EC5D9BFA86}"/>
              </a:ext>
            </a:extLst>
          </p:cNvPr>
          <p:cNvSpPr>
            <a:spLocks noGrp="1"/>
          </p:cNvSpPr>
          <p:nvPr>
            <p:ph type="body" sz="quarter" idx="10"/>
          </p:nvPr>
        </p:nvSpPr>
        <p:spPr>
          <a:xfrm>
            <a:off x="7873335" y="2355698"/>
            <a:ext cx="3478876" cy="823912"/>
          </a:xfrm>
        </p:spPr>
        <p:txBody>
          <a:bodyPr/>
          <a:lstStyle/>
          <a:p>
            <a:r>
              <a:rPr lang="en-US" b="0" dirty="0"/>
              <a:t>How</a:t>
            </a:r>
          </a:p>
        </p:txBody>
      </p:sp>
      <p:sp>
        <p:nvSpPr>
          <p:cNvPr id="8" name="Content Placeholder 7">
            <a:extLst>
              <a:ext uri="{FF2B5EF4-FFF2-40B4-BE49-F238E27FC236}">
                <a16:creationId xmlns:a16="http://schemas.microsoft.com/office/drawing/2014/main" id="{2B8189B7-76A4-FF2A-4D6C-134E2BA53CF3}"/>
              </a:ext>
            </a:extLst>
          </p:cNvPr>
          <p:cNvSpPr>
            <a:spLocks noGrp="1"/>
          </p:cNvSpPr>
          <p:nvPr>
            <p:ph sz="quarter" idx="11"/>
          </p:nvPr>
        </p:nvSpPr>
        <p:spPr>
          <a:xfrm>
            <a:off x="7873335" y="3179610"/>
            <a:ext cx="3182592" cy="2671762"/>
          </a:xfrm>
        </p:spPr>
        <p:txBody>
          <a:bodyPr>
            <a:normAutofit/>
          </a:bodyPr>
          <a:lstStyle/>
          <a:p>
            <a:pPr>
              <a:spcBef>
                <a:spcPts val="300"/>
              </a:spcBef>
            </a:pPr>
            <a:r>
              <a:rPr lang="en-US" sz="1600" dirty="0">
                <a:solidFill>
                  <a:schemeClr val="tx1">
                    <a:lumMod val="50000"/>
                    <a:lumOff val="50000"/>
                  </a:schemeClr>
                </a:solidFill>
                <a:latin typeface="+mj-lt"/>
              </a:rPr>
              <a:t>Request cyber updates and reports</a:t>
            </a:r>
          </a:p>
          <a:p>
            <a:pPr>
              <a:spcBef>
                <a:spcPts val="300"/>
              </a:spcBef>
            </a:pPr>
            <a:r>
              <a:rPr lang="en-US" sz="1600" dirty="0">
                <a:solidFill>
                  <a:schemeClr val="tx1">
                    <a:lumMod val="50000"/>
                    <a:lumOff val="50000"/>
                  </a:schemeClr>
                </a:solidFill>
                <a:latin typeface="+mj-lt"/>
              </a:rPr>
              <a:t>Maintain accurate meeting minutes when addressing cybersecurity topics</a:t>
            </a:r>
          </a:p>
          <a:p>
            <a:pPr>
              <a:spcBef>
                <a:spcPts val="300"/>
              </a:spcBef>
            </a:pPr>
            <a:endParaRPr lang="en-US" sz="1600" dirty="0">
              <a:solidFill>
                <a:schemeClr val="tx1">
                  <a:lumMod val="50000"/>
                  <a:lumOff val="50000"/>
                </a:schemeClr>
              </a:solidFill>
              <a:latin typeface="+mj-lt"/>
            </a:endParaRPr>
          </a:p>
          <a:p>
            <a:pPr marL="0" indent="0">
              <a:buNone/>
            </a:pPr>
            <a:endParaRPr lang="en-US" sz="1600" dirty="0">
              <a:solidFill>
                <a:schemeClr val="tx1">
                  <a:lumMod val="50000"/>
                  <a:lumOff val="50000"/>
                </a:schemeClr>
              </a:solidFill>
              <a:latin typeface="+mj-lt"/>
            </a:endParaRPr>
          </a:p>
        </p:txBody>
      </p:sp>
      <p:sp>
        <p:nvSpPr>
          <p:cNvPr id="10" name="TextBox 9">
            <a:extLst>
              <a:ext uri="{FF2B5EF4-FFF2-40B4-BE49-F238E27FC236}">
                <a16:creationId xmlns:a16="http://schemas.microsoft.com/office/drawing/2014/main" id="{F6DA39D7-1EE2-47D0-5FA2-3D48D238C37E}"/>
              </a:ext>
            </a:extLst>
          </p:cNvPr>
          <p:cNvSpPr txBox="1"/>
          <p:nvPr/>
        </p:nvSpPr>
        <p:spPr>
          <a:xfrm>
            <a:off x="851747" y="1129991"/>
            <a:ext cx="10628127" cy="307777"/>
          </a:xfrm>
          <a:prstGeom prst="rect">
            <a:avLst/>
          </a:prstGeom>
          <a:noFill/>
        </p:spPr>
        <p:txBody>
          <a:bodyPr wrap="square" rtlCol="0">
            <a:spAutoFit/>
          </a:bodyPr>
          <a:lstStyle/>
          <a:p>
            <a:r>
              <a:rPr lang="en-US" sz="1400" dirty="0">
                <a:solidFill>
                  <a:schemeClr val="bg1">
                    <a:lumMod val="65000"/>
                  </a:schemeClr>
                </a:solidFill>
              </a:rPr>
              <a:t>CYBERSECURITY REGULATORY REQUIREMENT</a:t>
            </a:r>
          </a:p>
        </p:txBody>
      </p:sp>
      <p:pic>
        <p:nvPicPr>
          <p:cNvPr id="9" name="Picture 2">
            <a:extLst>
              <a:ext uri="{FF2B5EF4-FFF2-40B4-BE49-F238E27FC236}">
                <a16:creationId xmlns:a16="http://schemas.microsoft.com/office/drawing/2014/main" id="{3E4B472E-D524-33B1-06B3-A312E9B494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781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5246C-0CC3-E910-B48E-4B181EB1AA1D}"/>
              </a:ext>
            </a:extLst>
          </p:cNvPr>
          <p:cNvSpPr>
            <a:spLocks noGrp="1"/>
          </p:cNvSpPr>
          <p:nvPr>
            <p:ph type="ctrTitle"/>
          </p:nvPr>
        </p:nvSpPr>
        <p:spPr>
          <a:xfrm>
            <a:off x="2456411" y="2053388"/>
            <a:ext cx="7279178" cy="2387600"/>
          </a:xfrm>
        </p:spPr>
        <p:txBody>
          <a:bodyPr>
            <a:noAutofit/>
          </a:bodyPr>
          <a:lstStyle/>
          <a:p>
            <a:r>
              <a:rPr lang="en-US" sz="4000" dirty="0"/>
              <a:t>During a security exam or a breach, will you be considered compliant or negligent?</a:t>
            </a:r>
          </a:p>
        </p:txBody>
      </p:sp>
      <p:pic>
        <p:nvPicPr>
          <p:cNvPr id="3" name="Picture 2">
            <a:extLst>
              <a:ext uri="{FF2B5EF4-FFF2-40B4-BE49-F238E27FC236}">
                <a16:creationId xmlns:a16="http://schemas.microsoft.com/office/drawing/2014/main" id="{0E47526C-9097-F3F8-4B7A-4B39FC5326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6281" y="248606"/>
            <a:ext cx="864553" cy="90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435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9728B7CB0AB0F44AD07F77726D618CF" ma:contentTypeVersion="18" ma:contentTypeDescription="Create a new document." ma:contentTypeScope="" ma:versionID="d64584f67956fb6c7123727cde55f32d">
  <xsd:schema xmlns:xsd="http://www.w3.org/2001/XMLSchema" xmlns:xs="http://www.w3.org/2001/XMLSchema" xmlns:p="http://schemas.microsoft.com/office/2006/metadata/properties" xmlns:ns2="702a17bc-2da2-4fb7-a4fb-c10936b8d7de" xmlns:ns3="7e81ff0a-7b47-4573-8501-a4583f78be9e" targetNamespace="http://schemas.microsoft.com/office/2006/metadata/properties" ma:root="true" ma:fieldsID="7e724edce0b58e36071777a41bee58bd" ns2:_="" ns3:_="">
    <xsd:import namespace="702a17bc-2da2-4fb7-a4fb-c10936b8d7de"/>
    <xsd:import namespace="7e81ff0a-7b47-4573-8501-a4583f78be9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2a17bc-2da2-4fb7-a4fb-c10936b8d7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8a034fc-6895-452d-a915-0a000c850d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81ff0a-7b47-4573-8501-a4583f78be9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9d230236-568f-48c0-ac19-1179709fa75a}" ma:internalName="TaxCatchAll" ma:showField="CatchAllData" ma:web="7e81ff0a-7b47-4573-8501-a4583f78be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02a17bc-2da2-4fb7-a4fb-c10936b8d7de">
      <Terms xmlns="http://schemas.microsoft.com/office/infopath/2007/PartnerControls"/>
    </lcf76f155ced4ddcb4097134ff3c332f>
    <TaxCatchAll xmlns="7e81ff0a-7b47-4573-8501-a4583f78be9e" xsi:nil="true"/>
  </documentManagement>
</p:properties>
</file>

<file path=customXml/itemProps1.xml><?xml version="1.0" encoding="utf-8"?>
<ds:datastoreItem xmlns:ds="http://schemas.openxmlformats.org/officeDocument/2006/customXml" ds:itemID="{5F6FA5AD-BED6-41A8-BE32-2B42C800D8BA}">
  <ds:schemaRefs>
    <ds:schemaRef ds:uri="http://schemas.microsoft.com/sharepoint/v3/contenttype/forms"/>
  </ds:schemaRefs>
</ds:datastoreItem>
</file>

<file path=customXml/itemProps2.xml><?xml version="1.0" encoding="utf-8"?>
<ds:datastoreItem xmlns:ds="http://schemas.openxmlformats.org/officeDocument/2006/customXml" ds:itemID="{F4082490-495D-4CA9-AD17-8598E221B9DF}"/>
</file>

<file path=customXml/itemProps3.xml><?xml version="1.0" encoding="utf-8"?>
<ds:datastoreItem xmlns:ds="http://schemas.openxmlformats.org/officeDocument/2006/customXml" ds:itemID="{035A5B3A-7F75-4AFE-BF9F-AF0F52F74EC5}">
  <ds:schemaRefs>
    <ds:schemaRef ds:uri="http://purl.org/dc/dcmitype/"/>
    <ds:schemaRef ds:uri="702a17bc-2da2-4fb7-a4fb-c10936b8d7de"/>
    <ds:schemaRef ds:uri="http://schemas.openxmlformats.org/package/2006/metadata/core-properties"/>
    <ds:schemaRef ds:uri="http://schemas.microsoft.com/office/2006/documentManagement/types"/>
    <ds:schemaRef ds:uri="http://purl.org/dc/terms/"/>
    <ds:schemaRef ds:uri="7e81ff0a-7b47-4573-8501-a4583f78be9e"/>
    <ds:schemaRef ds:uri="http://purl.org/dc/elements/1.1/"/>
    <ds:schemaRef ds:uri="http://schemas.microsoft.com/office/infopath/2007/PartnerControls"/>
    <ds:schemaRef ds:uri="http://schemas.microsoft.com/office/2006/metadata/properties"/>
    <ds:schemaRef ds:uri="http://www.w3.org/XML/1998/namespace"/>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
  <TotalTime>8259</TotalTime>
  <Words>1728</Words>
  <Application>Microsoft Macintosh PowerPoint</Application>
  <PresentationFormat>Widescreen</PresentationFormat>
  <Paragraphs>271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Inter</vt:lpstr>
      <vt:lpstr>Office Theme</vt:lpstr>
      <vt:lpstr>To Senior Leadership &amp; Board of Directors</vt:lpstr>
      <vt:lpstr>3 Deliverables to Assess Cybersecurity Compliance</vt:lpstr>
      <vt:lpstr>Cybersecurity Regulatory Requirements</vt:lpstr>
      <vt:lpstr>Senior Leadership Involvement</vt:lpstr>
      <vt:lpstr>Senior Leadership Involvement</vt:lpstr>
      <vt:lpstr>CISO Nomination</vt:lpstr>
      <vt:lpstr>Chief Information Security Officer (CISO)</vt:lpstr>
      <vt:lpstr>CISO Job Description</vt:lpstr>
      <vt:lpstr>Active Cyber Program</vt:lpstr>
      <vt:lpstr>Active Cyber Program</vt:lpstr>
      <vt:lpstr>Active Cyber Program</vt:lpstr>
      <vt:lpstr>Asset Inventory Reports</vt:lpstr>
      <vt:lpstr>Asset Inventory Reports</vt:lpstr>
      <vt:lpstr>Asset Inventory Reports</vt:lpstr>
      <vt:lpstr>Security Risk Assessment</vt:lpstr>
      <vt:lpstr>Security Risk Assessment</vt:lpstr>
      <vt:lpstr>Mock SEC Exam</vt:lpstr>
      <vt:lpstr>Reporting to the Board of Directors</vt:lpstr>
      <vt:lpstr>Reporting to the Board of Directors</vt:lpstr>
      <vt:lpstr>During a security exam or a breach, will you be considered compliant or negligent?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 Senior Leadership &amp; Board of Directors</dc:title>
  <dc:subject/>
  <dc:creator/>
  <cp:keywords/>
  <dc:description/>
  <cp:lastModifiedBy>Vincent Guyaux</cp:lastModifiedBy>
  <cp:revision>3</cp:revision>
  <dcterms:created xsi:type="dcterms:W3CDTF">2023-07-21T12:30:07Z</dcterms:created>
  <dcterms:modified xsi:type="dcterms:W3CDTF">2023-08-07T11:39:20Z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0x01010029728B7CB0AB0F44AD07F77726D618CF</vt:lpwstr>
  </property>
  <property fmtid="{D5CDD505-2E9C-101B-9397-08002B2CF9AE}" pid="3" name="MediaServiceImageTags">
    <vt:lpwstr/>
  </property>
</Properties>
</file>