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1227" r:id="rId5"/>
    <p:sldId id="1316" r:id="rId6"/>
    <p:sldId id="1317" r:id="rId7"/>
    <p:sldId id="1090" r:id="rId8"/>
    <p:sldId id="1318" r:id="rId9"/>
    <p:sldId id="1321" r:id="rId10"/>
    <p:sldId id="1330" r:id="rId11"/>
    <p:sldId id="1319" r:id="rId12"/>
    <p:sldId id="1331" r:id="rId13"/>
    <p:sldId id="1320" r:id="rId14"/>
    <p:sldId id="1322" r:id="rId15"/>
    <p:sldId id="1324" r:id="rId16"/>
    <p:sldId id="1332" r:id="rId17"/>
    <p:sldId id="1333" r:id="rId18"/>
    <p:sldId id="1325" r:id="rId19"/>
    <p:sldId id="1323" r:id="rId20"/>
    <p:sldId id="1315" r:id="rId21"/>
    <p:sldId id="1021" r:id="rId22"/>
    <p:sldId id="1013" r:id="rId23"/>
    <p:sldId id="1198" r:id="rId24"/>
    <p:sldId id="130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2FF"/>
    <a:srgbClr val="E1E1E1"/>
    <a:srgbClr val="D40004"/>
    <a:srgbClr val="C10000"/>
    <a:srgbClr val="480001"/>
    <a:srgbClr val="FFFFFF"/>
    <a:srgbClr val="3983FD"/>
    <a:srgbClr val="5B9BD5"/>
    <a:srgbClr val="F2F2F2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C37A2F-58D3-FE44-9C9A-FF570A286776}" v="1" dt="2025-11-03T13:48:25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61"/>
    <p:restoredTop sz="94629"/>
  </p:normalViewPr>
  <p:slideViewPr>
    <p:cSldViewPr snapToGrid="0">
      <p:cViewPr varScale="1">
        <p:scale>
          <a:sx n="150" d="100"/>
          <a:sy n="150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Guyaux" userId="849a79fd-172d-43c3-9fa0-af98b21dc4cb" providerId="ADAL" clId="{E87CD8AA-F86D-51C6-AFB4-BD434ABBD246}"/>
    <pc:docChg chg="undo custSel addSld modSld">
      <pc:chgData name="Vincent Guyaux" userId="849a79fd-172d-43c3-9fa0-af98b21dc4cb" providerId="ADAL" clId="{E87CD8AA-F86D-51C6-AFB4-BD434ABBD246}" dt="2025-11-03T14:57:40.322" v="38" actId="20577"/>
      <pc:docMkLst>
        <pc:docMk/>
      </pc:docMkLst>
      <pc:sldChg chg="delSp mod">
        <pc:chgData name="Vincent Guyaux" userId="849a79fd-172d-43c3-9fa0-af98b21dc4cb" providerId="ADAL" clId="{E87CD8AA-F86D-51C6-AFB4-BD434ABBD246}" dt="2025-11-03T10:45:36.955" v="0" actId="478"/>
        <pc:sldMkLst>
          <pc:docMk/>
          <pc:sldMk cId="2501896222" sldId="1227"/>
        </pc:sldMkLst>
        <pc:spChg chg="del">
          <ac:chgData name="Vincent Guyaux" userId="849a79fd-172d-43c3-9fa0-af98b21dc4cb" providerId="ADAL" clId="{E87CD8AA-F86D-51C6-AFB4-BD434ABBD246}" dt="2025-11-03T10:45:36.955" v="0" actId="478"/>
          <ac:spMkLst>
            <pc:docMk/>
            <pc:sldMk cId="2501896222" sldId="1227"/>
            <ac:spMk id="5" creationId="{61112993-63E2-CDF0-1F95-5B9B68CCD991}"/>
          </ac:spMkLst>
        </pc:spChg>
      </pc:sldChg>
      <pc:sldChg chg="modSp add mod">
        <pc:chgData name="Vincent Guyaux" userId="849a79fd-172d-43c3-9fa0-af98b21dc4cb" providerId="ADAL" clId="{E87CD8AA-F86D-51C6-AFB4-BD434ABBD246}" dt="2025-11-03T14:57:40.322" v="38" actId="20577"/>
        <pc:sldMkLst>
          <pc:docMk/>
          <pc:sldMk cId="1751533534" sldId="1300"/>
        </pc:sldMkLst>
        <pc:spChg chg="mod">
          <ac:chgData name="Vincent Guyaux" userId="849a79fd-172d-43c3-9fa0-af98b21dc4cb" providerId="ADAL" clId="{E87CD8AA-F86D-51C6-AFB4-BD434ABBD246}" dt="2025-11-03T14:57:40.322" v="38" actId="20577"/>
          <ac:spMkLst>
            <pc:docMk/>
            <pc:sldMk cId="1751533534" sldId="1300"/>
            <ac:spMk id="2" creationId="{1CB6FEE4-C4CA-651F-831A-42420E51BC91}"/>
          </ac:spMkLst>
        </pc:spChg>
      </pc:sldChg>
      <pc:sldChg chg="modSp mod">
        <pc:chgData name="Vincent Guyaux" userId="849a79fd-172d-43c3-9fa0-af98b21dc4cb" providerId="ADAL" clId="{E87CD8AA-F86D-51C6-AFB4-BD434ABBD246}" dt="2025-11-03T10:46:02.927" v="35" actId="20577"/>
        <pc:sldMkLst>
          <pc:docMk/>
          <pc:sldMk cId="2089289385" sldId="1319"/>
        </pc:sldMkLst>
        <pc:spChg chg="mod">
          <ac:chgData name="Vincent Guyaux" userId="849a79fd-172d-43c3-9fa0-af98b21dc4cb" providerId="ADAL" clId="{E87CD8AA-F86D-51C6-AFB4-BD434ABBD246}" dt="2025-11-03T10:46:02.927" v="35" actId="20577"/>
          <ac:spMkLst>
            <pc:docMk/>
            <pc:sldMk cId="2089289385" sldId="1319"/>
            <ac:spMk id="3" creationId="{BE32C76F-1415-F0D6-BEB7-D813282C19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D942D-D86F-6B44-9408-7779CF2E7F9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102A4-EB14-8148-BF27-41D844684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15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/>
              <a:t>It is to answer this question that we created the Actionable 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/>
              <a:t>Switch to Acme 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/>
              <a:t>You get here the  actions that you or your firms have to take based on what is presented in the dashboard, which is directly an analysis, or a summary of the asset inventory report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/>
              <a:t>The first section is presented the high-risk alerts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/>
              <a:t>As an example, I see that 9 devices have an end-of-life operating system. If I click on the card, it shows them all, can download the list and act on 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/>
              <a:t>There are close to 60 cards with supporting data from operating systems, domains, workgroup, usernames, and endpoints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102A4-EB14-8148-BF27-41D844684D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41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17235-BF2A-E08B-B732-90763107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BC2F1-3CF8-6E3A-23A8-78795ACC7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3E671-C1F1-6A76-7782-9CB2FF153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01CE6-75BD-0998-B487-1200D7F4E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102A4-EB14-8148-BF27-41D844684DA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86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102A4-EB14-8148-BF27-41D844684DA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56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A1831-F0E7-DE43-8D93-D067AD467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9FFF7-CBBF-2243-97B6-AE38D0684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9261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7B22-5523-F945-8BAB-35D42A861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80B20-DBC4-FA40-80EE-D665F184A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C15AC-2B26-2F43-B80C-0C7149E33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B793F-DE0F-7949-9C0E-27EF29434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B7C90-EA9E-AB45-9EB2-D870598E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43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4FC4-7926-244A-800D-36EBF5B29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394B0-9B80-3049-BDF4-5FE262946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E2C1B-F622-224F-82DB-EF0DA40C8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1A9CB-2256-2748-8795-4F3C2D538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A33D1-A1D5-A440-B8F7-2F8A22F0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41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C0D4-295B-C049-ABA2-3F57425C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B9216-3556-2B42-8F71-C8297F7C0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E2B38-69F1-9B41-B33D-2B7182034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EF2AE-068D-4A4D-A605-C3FDC3AA6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5EB57-3E76-C14B-BFEB-8BFD24DE3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E87B6-100B-6445-8C91-1E780AA2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19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129F-32F5-3741-BDFD-93D06EE9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CF9FC-D5A1-5743-AB36-09B1F0569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C2C41-4409-F349-96B5-AED9619DB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B1884C-E1E2-AD41-BEBE-6B70BED61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F0C06-3F57-804B-BFCF-8342B6A7A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356C67-D153-7843-B007-1AC5E6BEC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F0404B-9D69-1545-9918-DFB8F63A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2119E-7F14-B145-A834-84B9DD7E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09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8787-D31B-5C4B-862C-69C4B48E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C15BB6-1C60-EC4F-AAF9-2478DED1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D2200-4B52-324F-B0FA-B42FF8077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CDB47-06C0-9C4F-9F05-BDFDC9A3B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8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10F29E-5783-2E49-81AF-F886C759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794AE-1E8C-9F41-A15B-092C17A4C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D1284-D170-754A-AABD-14C09853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5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E092-6643-1546-BE22-47CFC72AB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C9BB-3958-B141-ACB3-F30630F68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1806B-6B60-414E-8CAB-945638F9A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428A9-173E-024E-B5DF-FF5E80F0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65B7B-F9DE-CA43-925A-5C63EB1F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5B2DF-2B4C-FC46-B34F-9AE0A8E2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97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0712-4DB9-944F-A691-91F039AEB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B6481A-3538-F543-83DC-081217A84A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2BF30-8674-0248-9224-CB058FD28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DC75A-93E7-9345-BEE6-2C2BFDF0B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F6941-FA7A-704E-A4EE-91A9F00FE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2B06F-A493-D549-B5AD-AA4D21C9E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70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8A27-35FB-3C43-AC1B-6CAC4B7D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5729B-2B85-D140-9DC5-012B96B52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47E36-A251-2240-93DE-9EAF28B1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D0784-6D32-2B4F-8278-67DCF10C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87125-182E-2545-A6E0-837C3F9E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7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FDD28A-77AE-564D-8FF8-F8B220AD5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E782E-5CAA-D44A-ACA0-01AB2A03C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64D47-9C0B-C149-BC83-24547FDCF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B89AD-88E2-324D-ABC9-76EC6DD59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0EA1D-65D6-F24A-8E76-B0062128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00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00AD99-1CCB-A646-B7FA-1E43697E4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29F18-40E9-CA4D-9DB5-7C99B5F19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6069F-2722-3849-8585-97F4308A0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2F418-200A-DF4C-94C7-1FF9D813D28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846E4-DF76-104F-A582-65394BC4A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4DD8B-84F5-0B40-97FB-B21D37384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2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CEA0-8CB6-E988-0FBA-8C6B5739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raphic 32">
            <a:extLst>
              <a:ext uri="{FF2B5EF4-FFF2-40B4-BE49-F238E27FC236}">
                <a16:creationId xmlns:a16="http://schemas.microsoft.com/office/drawing/2014/main" id="{90D47EF2-9A31-C023-A460-A2E62E9B9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7065" y="5781110"/>
            <a:ext cx="5143500" cy="832379"/>
          </a:xfrm>
          <a:prstGeom prst="rect">
            <a:avLst/>
          </a:prstGeom>
        </p:spPr>
      </p:pic>
      <p:pic>
        <p:nvPicPr>
          <p:cNvPr id="6" name="Picture 5" descr="A red shield with white text&#10;&#10;Description automatically generated">
            <a:extLst>
              <a:ext uri="{FF2B5EF4-FFF2-40B4-BE49-F238E27FC236}">
                <a16:creationId xmlns:a16="http://schemas.microsoft.com/office/drawing/2014/main" id="{0AF3B5A3-E44E-76EC-A6EF-DF29650C9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56" y="908572"/>
            <a:ext cx="1629178" cy="16291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F99275-62BD-C156-04DB-3D7077B0DC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078" y="5947418"/>
            <a:ext cx="640115" cy="6313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DA6E22-6638-2B36-EA08-72C450E091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0025" y="4908814"/>
            <a:ext cx="579295" cy="7622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CD9731-CEF0-47D4-E168-7C773F4C6E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6423" y="3858614"/>
            <a:ext cx="628356" cy="8267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7FE4EA-392A-2C5C-9D0B-AAA96E000A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00305"/>
            <a:ext cx="10370916" cy="30658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C68A64-8E77-4B03-57BF-1E43C0346654}"/>
              </a:ext>
            </a:extLst>
          </p:cNvPr>
          <p:cNvSpPr txBox="1"/>
          <p:nvPr/>
        </p:nvSpPr>
        <p:spPr>
          <a:xfrm>
            <a:off x="736656" y="4808397"/>
            <a:ext cx="9444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Enterprise Endpoint Safeguard Visibility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F7950-6259-0B41-6957-0A5E390C442D}"/>
              </a:ext>
            </a:extLst>
          </p:cNvPr>
          <p:cNvSpPr txBox="1"/>
          <p:nvPr/>
        </p:nvSpPr>
        <p:spPr>
          <a:xfrm>
            <a:off x="2575608" y="1215329"/>
            <a:ext cx="504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You can’t protect what you can’t see.</a:t>
            </a:r>
          </a:p>
          <a:p>
            <a:r>
              <a:rPr lang="en-US" sz="2000"/>
              <a:t>However, Enterprises can be held accountable for the negligence of missing safeguards.</a:t>
            </a:r>
          </a:p>
        </p:txBody>
      </p:sp>
    </p:spTree>
    <p:extLst>
      <p:ext uri="{BB962C8B-B14F-4D97-AF65-F5344CB8AC3E}">
        <p14:creationId xmlns:p14="http://schemas.microsoft.com/office/powerpoint/2010/main" val="2501896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78E0D-933C-69B1-EF3C-92AE7017A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Pain points we are hearing in the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1479C-15F4-860C-A0E1-EE965C7B8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/>
              <a:t>Price: Cannot find a replacement product at the right price</a:t>
            </a:r>
          </a:p>
          <a:p>
            <a:r>
              <a:rPr lang="en-US" sz="2000"/>
              <a:t>Features: Promises made and not kept</a:t>
            </a:r>
          </a:p>
          <a:p>
            <a:pPr lvl="1"/>
            <a:r>
              <a:rPr lang="en-US" sz="1600"/>
              <a:t>Ie: Interactive enforcement</a:t>
            </a:r>
            <a:endParaRPr lang="en-US" sz="1400"/>
          </a:p>
          <a:p>
            <a:r>
              <a:rPr lang="en-US" sz="2000"/>
              <a:t>Implementation efforts and costs to replace are manual and office-by-office</a:t>
            </a:r>
          </a:p>
          <a:p>
            <a:r>
              <a:rPr lang="en-US" sz="2000"/>
              <a:t>Maintenance challenges</a:t>
            </a:r>
          </a:p>
          <a:p>
            <a:pPr lvl="1"/>
            <a:r>
              <a:rPr lang="en-US" sz="1800"/>
              <a:t>Devices</a:t>
            </a:r>
          </a:p>
          <a:p>
            <a:pPr lvl="2"/>
            <a:r>
              <a:rPr lang="en-US" sz="1400"/>
              <a:t>New, Unknown, BYOD, or non-compliant devices allowed to connect</a:t>
            </a:r>
          </a:p>
          <a:p>
            <a:pPr lvl="2"/>
            <a:r>
              <a:rPr lang="en-US" sz="1400"/>
              <a:t>Devices not online anymore, updates</a:t>
            </a:r>
          </a:p>
          <a:p>
            <a:pPr lvl="2"/>
            <a:r>
              <a:rPr lang="en-US" sz="1400"/>
              <a:t>Devices no longer in use or not associated with Firm (but still having software from the Firm)</a:t>
            </a:r>
          </a:p>
          <a:p>
            <a:pPr lvl="2"/>
            <a:r>
              <a:rPr lang="en-US" sz="1400"/>
              <a:t>Decommissioning not documented</a:t>
            </a:r>
          </a:p>
          <a:p>
            <a:pPr lvl="1"/>
            <a:r>
              <a:rPr lang="en-US" sz="1800"/>
              <a:t>User Data</a:t>
            </a:r>
          </a:p>
          <a:p>
            <a:pPr lvl="2"/>
            <a:r>
              <a:rPr lang="en-US" sz="1400"/>
              <a:t>Manual correlation of device, user, office, and supervisory data</a:t>
            </a:r>
          </a:p>
          <a:p>
            <a:pPr lvl="2"/>
            <a:r>
              <a:rPr lang="en-US" sz="1400"/>
              <a:t>Stale data</a:t>
            </a:r>
          </a:p>
          <a:p>
            <a:pPr lvl="1"/>
            <a:r>
              <a:rPr lang="en-US" sz="1800"/>
              <a:t>Change in security and compliance officers</a:t>
            </a:r>
          </a:p>
          <a:p>
            <a:pPr lvl="1"/>
            <a:r>
              <a:rPr lang="en-US" sz="1800"/>
              <a:t>Removing legacy and at-risk software</a:t>
            </a:r>
          </a:p>
          <a:p>
            <a:endParaRPr lang="en-US" sz="2000"/>
          </a:p>
        </p:txBody>
      </p:sp>
      <p:pic>
        <p:nvPicPr>
          <p:cNvPr id="4" name="Google Shape;14;p2">
            <a:extLst>
              <a:ext uri="{FF2B5EF4-FFF2-40B4-BE49-F238E27FC236}">
                <a16:creationId xmlns:a16="http://schemas.microsoft.com/office/drawing/2014/main" id="{4FCB381B-CF76-1D5C-EF4C-CB5910EEA336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491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FE12-7548-1EC1-021F-05816F0DE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318CB-C8A8-6D42-3D55-490366AF9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F1171-3498-B0F1-8AD1-86F8857D8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/>
              <a:t>Next-Generation Endpoint Safeguard Audit</a:t>
            </a:r>
          </a:p>
          <a:p>
            <a:r>
              <a:rPr lang="en-US" sz="2000"/>
              <a:t>High-risk compliance dashboards</a:t>
            </a:r>
          </a:p>
          <a:p>
            <a:pPr lvl="1"/>
            <a:r>
              <a:rPr lang="en-US" sz="1600"/>
              <a:t>Surface things that need attention</a:t>
            </a:r>
          </a:p>
          <a:p>
            <a:pPr lvl="1"/>
            <a:r>
              <a:rPr lang="en-US" sz="1600"/>
              <a:t>EOL OS, Device no longer connected, Connecting from out of country, Not encrypted, No antivirus, Etc.</a:t>
            </a:r>
          </a:p>
          <a:p>
            <a:r>
              <a:rPr lang="en-US" sz="2000"/>
              <a:t>Enterprise and field office views</a:t>
            </a:r>
            <a:endParaRPr lang="en-US" sz="1600"/>
          </a:p>
          <a:p>
            <a:pPr lvl="1"/>
            <a:r>
              <a:rPr lang="en-US" sz="1600"/>
              <a:t>View by Location, Branch or Agency, Firm Code, Supervisory Code</a:t>
            </a:r>
          </a:p>
          <a:p>
            <a:pPr lvl="1"/>
            <a:r>
              <a:rPr lang="en-US" sz="1600"/>
              <a:t>Multiple grouping</a:t>
            </a:r>
          </a:p>
          <a:p>
            <a:r>
              <a:rPr lang="en-US" sz="2000"/>
              <a:t>Security officer portal</a:t>
            </a:r>
          </a:p>
          <a:p>
            <a:pPr lvl="1"/>
            <a:r>
              <a:rPr lang="en-US" sz="1600"/>
              <a:t>Features that create efficiency for Security Officers</a:t>
            </a:r>
          </a:p>
          <a:p>
            <a:pPr lvl="1"/>
            <a:r>
              <a:rPr lang="en-US" sz="1600"/>
              <a:t>High-Risk alerts</a:t>
            </a:r>
          </a:p>
          <a:p>
            <a:pPr lvl="1"/>
            <a:r>
              <a:rPr lang="en-US" sz="1600"/>
              <a:t>Efficient decommissioning</a:t>
            </a:r>
          </a:p>
          <a:p>
            <a:pPr lvl="1"/>
            <a:r>
              <a:rPr lang="en-US" sz="1600"/>
              <a:t>Update directory, device info, etc.</a:t>
            </a:r>
          </a:p>
          <a:p>
            <a:pPr lvl="1"/>
            <a:r>
              <a:rPr lang="en-US" sz="1600"/>
              <a:t>Automation</a:t>
            </a:r>
          </a:p>
        </p:txBody>
      </p:sp>
      <p:pic>
        <p:nvPicPr>
          <p:cNvPr id="4" name="Google Shape;14;p2">
            <a:extLst>
              <a:ext uri="{FF2B5EF4-FFF2-40B4-BE49-F238E27FC236}">
                <a16:creationId xmlns:a16="http://schemas.microsoft.com/office/drawing/2014/main" id="{E7A0265D-6C56-F429-2828-1DF87E40037C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4014C8-FBA5-EBDF-0A5B-753431E9857C}"/>
              </a:ext>
            </a:extLst>
          </p:cNvPr>
          <p:cNvSpPr txBox="1"/>
          <p:nvPr/>
        </p:nvSpPr>
        <p:spPr>
          <a:xfrm>
            <a:off x="838200" y="1321356"/>
            <a:ext cx="5369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You can’t protect what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143967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A6B2A-680A-7134-0501-B684CA8B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Actionable Dashboard</a:t>
            </a:r>
          </a:p>
        </p:txBody>
      </p:sp>
      <p:pic>
        <p:nvPicPr>
          <p:cNvPr id="5" name="Google Shape;14;p2">
            <a:extLst>
              <a:ext uri="{FF2B5EF4-FFF2-40B4-BE49-F238E27FC236}">
                <a16:creationId xmlns:a16="http://schemas.microsoft.com/office/drawing/2014/main" id="{39C3542E-13FF-14F9-344D-136E97E08164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337C9-2F09-7A7B-DE4E-F173BC43DE0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955771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1400"/>
          </a:p>
          <a:p>
            <a:endParaRPr lang="en-US" sz="1800"/>
          </a:p>
          <a:p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79EA2F-C165-B9C5-8CF4-D5A5275BEEC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550" y="610873"/>
            <a:ext cx="10245284" cy="53362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D28BFF-9461-5502-AC7A-3A3B9CD71B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2394" y="0"/>
            <a:ext cx="12561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235BC-462B-E0F6-5993-EDD5E970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C643-586D-D273-386D-E7767D37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Actionable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B6B5D-A28C-25A4-8EF9-39E3EFA91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/>
              <a:t>View</a:t>
            </a:r>
          </a:p>
          <a:p>
            <a:pPr lvl="1"/>
            <a:r>
              <a:rPr lang="en-US"/>
              <a:t>Review dashboard gauges</a:t>
            </a:r>
          </a:p>
          <a:p>
            <a:pPr marL="0" indent="0">
              <a:buNone/>
            </a:pPr>
            <a:r>
              <a:rPr lang="en-US" sz="3200"/>
              <a:t>List</a:t>
            </a:r>
          </a:p>
          <a:p>
            <a:pPr lvl="1"/>
            <a:r>
              <a:rPr lang="en-US"/>
              <a:t>Click on gauges to produce the list of devices</a:t>
            </a:r>
          </a:p>
          <a:p>
            <a:pPr marL="0" indent="0">
              <a:buNone/>
            </a:pPr>
            <a:r>
              <a:rPr lang="en-US" sz="3200"/>
              <a:t>Act </a:t>
            </a:r>
          </a:p>
          <a:p>
            <a:pPr lvl="1"/>
            <a:r>
              <a:rPr lang="en-US"/>
              <a:t>Select devices and action to perform, </a:t>
            </a:r>
            <a:r>
              <a:rPr lang="en-US" err="1"/>
              <a:t>ie</a:t>
            </a:r>
            <a:r>
              <a:rPr lang="en-US"/>
              <a:t>:</a:t>
            </a:r>
          </a:p>
          <a:p>
            <a:pPr lvl="2"/>
            <a:r>
              <a:rPr lang="en-US"/>
              <a:t>Decommission device form</a:t>
            </a:r>
          </a:p>
          <a:p>
            <a:pPr lvl="2"/>
            <a:r>
              <a:rPr lang="en-US"/>
              <a:t>Duplicate Device serial number report for repurposed computers</a:t>
            </a:r>
          </a:p>
          <a:p>
            <a:pPr lvl="2"/>
            <a:r>
              <a:rPr lang="en-US"/>
              <a:t>List of computers with multiple AVs</a:t>
            </a:r>
          </a:p>
          <a:p>
            <a:endParaRPr lang="en-US" sz="3200"/>
          </a:p>
        </p:txBody>
      </p:sp>
      <p:pic>
        <p:nvPicPr>
          <p:cNvPr id="4" name="Google Shape;14;p2">
            <a:extLst>
              <a:ext uri="{FF2B5EF4-FFF2-40B4-BE49-F238E27FC236}">
                <a16:creationId xmlns:a16="http://schemas.microsoft.com/office/drawing/2014/main" id="{BC2FF8EA-0BF6-1944-C559-6CE4D19FA36D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1481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48B6B-38F1-02E4-AE72-DB7417C3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B5E5-EA0A-52E7-ECCF-5978A9F5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01967-CBBF-4963-FBD9-4D768C294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Project: 90% less resources, efforts, money, time than others</a:t>
            </a:r>
          </a:p>
          <a:p>
            <a:r>
              <a:rPr lang="en-US" sz="2000"/>
              <a:t>Installer options</a:t>
            </a:r>
          </a:p>
          <a:p>
            <a:pPr lvl="1"/>
            <a:r>
              <a:rPr lang="en-US" sz="1600"/>
              <a:t>Verbose one-click installer to distribute</a:t>
            </a:r>
          </a:p>
          <a:p>
            <a:pPr lvl="1"/>
            <a:r>
              <a:rPr lang="en-US" sz="1600"/>
              <a:t>Silent installer to integrate and automate</a:t>
            </a:r>
          </a:p>
          <a:p>
            <a:pPr lvl="1"/>
            <a:r>
              <a:rPr lang="en-US" sz="1600"/>
              <a:t>Automated legacy audit tool removal</a:t>
            </a:r>
          </a:p>
          <a:p>
            <a:r>
              <a:rPr lang="en-US" sz="2000"/>
              <a:t>CASB Integration to only allow known devices</a:t>
            </a:r>
            <a:br>
              <a:rPr lang="en-US" sz="2000"/>
            </a:br>
            <a:r>
              <a:rPr lang="en-US" sz="1600"/>
              <a:t>Examples of options when unknown devices try to connect:</a:t>
            </a:r>
          </a:p>
          <a:p>
            <a:pPr lvl="1"/>
            <a:r>
              <a:rPr lang="en-US" sz="1600"/>
              <a:t>Ask Security Officer for approval</a:t>
            </a:r>
          </a:p>
          <a:p>
            <a:pPr lvl="1"/>
            <a:r>
              <a:rPr lang="en-US" sz="1600"/>
              <a:t>Install FCI tool</a:t>
            </a:r>
          </a:p>
          <a:p>
            <a:pPr lvl="1"/>
            <a:r>
              <a:rPr lang="en-US" sz="1600"/>
              <a:t>Provide an installer link</a:t>
            </a:r>
          </a:p>
          <a:p>
            <a:pPr lvl="1"/>
            <a:r>
              <a:rPr lang="en-US" sz="1600"/>
              <a:t>Indicate to “Contact your Security Officer”</a:t>
            </a:r>
          </a:p>
          <a:p>
            <a:r>
              <a:rPr lang="en-US" sz="2000"/>
              <a:t>Enterprise Data Capture</a:t>
            </a:r>
          </a:p>
          <a:p>
            <a:pPr lvl="1"/>
            <a:r>
              <a:rPr lang="en-US" sz="1600"/>
              <a:t>Office, user, and supervisory data and correlation</a:t>
            </a:r>
          </a:p>
          <a:p>
            <a:pPr lvl="1"/>
            <a:r>
              <a:rPr lang="en-US" sz="1600"/>
              <a:t>Integration and automation</a:t>
            </a:r>
          </a:p>
        </p:txBody>
      </p:sp>
      <p:pic>
        <p:nvPicPr>
          <p:cNvPr id="4" name="Google Shape;14;p2">
            <a:extLst>
              <a:ext uri="{FF2B5EF4-FFF2-40B4-BE49-F238E27FC236}">
                <a16:creationId xmlns:a16="http://schemas.microsoft.com/office/drawing/2014/main" id="{303E283B-7FEF-0F1B-D5C2-17CA342476AD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210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4DFBE-68DF-3C7B-FA38-3130995C2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Sorting &amp; Filtering Enterprise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46F155-AAB0-4CB7-EB25-941DA6274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36" y="1450845"/>
            <a:ext cx="9444419" cy="5232232"/>
          </a:xfrm>
          <a:prstGeom prst="rect">
            <a:avLst/>
          </a:prstGeom>
        </p:spPr>
      </p:pic>
      <p:pic>
        <p:nvPicPr>
          <p:cNvPr id="8" name="Google Shape;14;p2">
            <a:extLst>
              <a:ext uri="{FF2B5EF4-FFF2-40B4-BE49-F238E27FC236}">
                <a16:creationId xmlns:a16="http://schemas.microsoft.com/office/drawing/2014/main" id="{4CD1E42D-8AF0-C24E-CAAC-ABE31712F529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710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FB11F-5CDF-66E6-1148-AECC7EDD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CB61-D97C-15F8-AD44-53591B7E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Enterprise Data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2C76F-1415-F0D6-BEB7-D813282C1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687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End-User entering and updating data</a:t>
            </a:r>
          </a:p>
          <a:p>
            <a:r>
              <a:rPr lang="en-US" sz="2000" dirty="0"/>
              <a:t>Integrated Data processing for </a:t>
            </a:r>
          </a:p>
          <a:p>
            <a:pPr lvl="1"/>
            <a:r>
              <a:rPr lang="en-US" sz="1600" dirty="0"/>
              <a:t>Supervisory reassignments</a:t>
            </a:r>
          </a:p>
          <a:p>
            <a:pPr lvl="1"/>
            <a:r>
              <a:rPr lang="en-US" sz="1600" dirty="0"/>
              <a:t>Enterprise user directory integration for data augmentation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4400" dirty="0">
                <a:latin typeface="+mj-lt"/>
                <a:ea typeface="+mj-ea"/>
                <a:cs typeface="+mj-cs"/>
              </a:rPr>
              <a:t>Device Lifecycle Management</a:t>
            </a:r>
          </a:p>
          <a:p>
            <a:r>
              <a:rPr lang="en-US" sz="2000" dirty="0"/>
              <a:t>New device notification to the Security Officer</a:t>
            </a:r>
          </a:p>
          <a:p>
            <a:r>
              <a:rPr lang="en-US" sz="2000" dirty="0"/>
              <a:t>Evidence of compliance with Asset Inventory Report</a:t>
            </a:r>
          </a:p>
          <a:p>
            <a:pPr lvl="1"/>
            <a:r>
              <a:rPr lang="en-US" sz="1600" dirty="0"/>
              <a:t>Option for low impact enforcement</a:t>
            </a:r>
          </a:p>
          <a:p>
            <a:r>
              <a:rPr lang="en-US" sz="2000" dirty="0"/>
              <a:t>Device decommissioning with evidence</a:t>
            </a:r>
            <a:endParaRPr lang="en-US" sz="1600" dirty="0"/>
          </a:p>
        </p:txBody>
      </p:sp>
      <p:pic>
        <p:nvPicPr>
          <p:cNvPr id="4" name="Google Shape;14;p2">
            <a:extLst>
              <a:ext uri="{FF2B5EF4-FFF2-40B4-BE49-F238E27FC236}">
                <a16:creationId xmlns:a16="http://schemas.microsoft.com/office/drawing/2014/main" id="{26C50746-2359-575B-C775-FC1EEABE76AA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9289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F290A4-8141-BB50-361E-4C6852051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756" y="-77515"/>
            <a:ext cx="6978959" cy="3506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38B144-B1EA-9773-099A-73A0C645E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262" y="3273961"/>
            <a:ext cx="7015879" cy="350651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F9C68C5-C6AF-FB79-25E3-63AE27B8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High-Risk</a:t>
            </a:r>
            <a:br>
              <a:rPr lang="en-US"/>
            </a:br>
            <a:r>
              <a:rPr lang="en-US"/>
              <a:t>Visibility</a:t>
            </a:r>
          </a:p>
        </p:txBody>
      </p:sp>
    </p:spTree>
    <p:extLst>
      <p:ext uri="{BB962C8B-B14F-4D97-AF65-F5344CB8AC3E}">
        <p14:creationId xmlns:p14="http://schemas.microsoft.com/office/powerpoint/2010/main" val="3827314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05C56-035F-47D9-7F02-789564F34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C61D-6662-51A0-CB86-DC9359B9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EF8FC-DD90-230F-FF73-F23F6AD20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Increases </a:t>
            </a:r>
          </a:p>
          <a:p>
            <a:pPr lvl="1"/>
            <a:r>
              <a:rPr lang="en-US" sz="1800" b="1"/>
              <a:t>Security: </a:t>
            </a:r>
            <a:r>
              <a:rPr lang="en-US" sz="1800"/>
              <a:t>Enhances the security posture of financial firms by identifying and mitigating vulnerabilities.</a:t>
            </a:r>
          </a:p>
          <a:p>
            <a:pPr lvl="1"/>
            <a:r>
              <a:rPr lang="en-US" sz="1800" b="1"/>
              <a:t>Regulatory Compliance: </a:t>
            </a:r>
            <a:r>
              <a:rPr lang="en-US" sz="1800"/>
              <a:t>Helps firms stay compliant with industry regulations, reducing the risk of fines and sanctions.</a:t>
            </a:r>
          </a:p>
          <a:p>
            <a:pPr lvl="1"/>
            <a:r>
              <a:rPr lang="en-US" sz="1800" b="1"/>
              <a:t>Operational Efficiency: </a:t>
            </a:r>
            <a:r>
              <a:rPr lang="en-US" sz="1800"/>
              <a:t>Improves operational efficiency through automated audits and streamlined processes.</a:t>
            </a:r>
          </a:p>
          <a:p>
            <a:r>
              <a:rPr lang="en-US" sz="2400" b="1"/>
              <a:t>Reduces</a:t>
            </a:r>
          </a:p>
          <a:p>
            <a:pPr lvl="1"/>
            <a:r>
              <a:rPr lang="en-US" sz="1800" b="1"/>
              <a:t>Administrative Efforts: </a:t>
            </a:r>
            <a:r>
              <a:rPr lang="en-US" sz="1800"/>
              <a:t>Simplifies the management of groups, reducing the administrative burden on IT staff.</a:t>
            </a:r>
          </a:p>
          <a:p>
            <a:pPr lvl="1"/>
            <a:r>
              <a:rPr lang="en-US" sz="1800" b="1"/>
              <a:t>Deployment Costs:</a:t>
            </a:r>
            <a:r>
              <a:rPr lang="en-US" sz="1800"/>
              <a:t> Offers an easy system to deploy, significantly lowering the deployment costs compared to legacy systems.</a:t>
            </a:r>
          </a:p>
          <a:p>
            <a:pPr lvl="1"/>
            <a:r>
              <a:rPr lang="en-US" sz="1800" b="1"/>
              <a:t>Risks: </a:t>
            </a:r>
            <a:r>
              <a:rPr lang="en-US" sz="1800"/>
              <a:t>Reduces costs associated with security breaches and non-compliance penalties.</a:t>
            </a:r>
          </a:p>
        </p:txBody>
      </p:sp>
      <p:pic>
        <p:nvPicPr>
          <p:cNvPr id="4" name="Google Shape;14;p2">
            <a:extLst>
              <a:ext uri="{FF2B5EF4-FFF2-40B4-BE49-F238E27FC236}">
                <a16:creationId xmlns:a16="http://schemas.microsoft.com/office/drawing/2014/main" id="{0C601B99-B003-DAF4-A4E0-F7F19DECA16F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8318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8F87-AD18-B406-9D6E-28AE4AE57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0C745-0D04-67EC-DAF1-EFBF05F1D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60-Day Pilot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CD56E-44AD-F27E-AD24-7DED98646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Installer</a:t>
            </a:r>
          </a:p>
          <a:p>
            <a:r>
              <a:rPr lang="en-US" sz="2400"/>
              <a:t>Weekly Asset Inventory Reports</a:t>
            </a:r>
          </a:p>
          <a:p>
            <a:r>
              <a:rPr lang="en-US" sz="2400"/>
              <a:t>New install notifications</a:t>
            </a:r>
          </a:p>
          <a:p>
            <a:r>
              <a:rPr lang="en-US" sz="2400"/>
              <a:t>Actionable Dashboard</a:t>
            </a:r>
          </a:p>
          <a:p>
            <a:r>
              <a:rPr lang="en-US" sz="2400"/>
              <a:t>Manual endpoint user data update</a:t>
            </a:r>
          </a:p>
          <a:p>
            <a:r>
              <a:rPr lang="en-US" sz="2400"/>
              <a:t>Option: Removal of legacy audit software</a:t>
            </a:r>
          </a:p>
          <a:p>
            <a:endParaRPr lang="en-US" sz="2400"/>
          </a:p>
        </p:txBody>
      </p:sp>
      <p:pic>
        <p:nvPicPr>
          <p:cNvPr id="4" name="Google Shape;14;p2">
            <a:extLst>
              <a:ext uri="{FF2B5EF4-FFF2-40B4-BE49-F238E27FC236}">
                <a16:creationId xmlns:a16="http://schemas.microsoft.com/office/drawing/2014/main" id="{69276588-20D3-B23E-73AB-A98D775DD31B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8488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5A688-FEEF-623F-2945-B2E55F23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421C7-3A77-8708-719B-BF7A9A73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Price</a:t>
            </a:r>
          </a:p>
        </p:txBody>
      </p:sp>
      <p:pic>
        <p:nvPicPr>
          <p:cNvPr id="4" name="Google Shape;14;p2">
            <a:extLst>
              <a:ext uri="{FF2B5EF4-FFF2-40B4-BE49-F238E27FC236}">
                <a16:creationId xmlns:a16="http://schemas.microsoft.com/office/drawing/2014/main" id="{2F288854-9917-A65D-CEC3-DD1E96D73CC1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96A16-A431-02F1-E612-747618755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690688"/>
            <a:ext cx="7772400" cy="268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35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025C7-9B60-3B63-8831-A191FF2F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ED25-9ABE-98B8-EA92-985358AC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5D3A4-2347-52A9-044F-1F1BD891B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Microsoft</a:t>
            </a:r>
          </a:p>
          <a:p>
            <a:pPr lvl="1"/>
            <a:r>
              <a:rPr lang="en-US" sz="2000"/>
              <a:t>Everything needs to be joined to the Enterprise Microsoft account</a:t>
            </a:r>
          </a:p>
          <a:p>
            <a:pPr lvl="1"/>
            <a:r>
              <a:rPr lang="en-US" sz="2000"/>
              <a:t>Challenges to integrate Offices’ M365</a:t>
            </a:r>
          </a:p>
          <a:p>
            <a:r>
              <a:rPr lang="en-US" sz="2400" err="1"/>
              <a:t>Smarch</a:t>
            </a:r>
            <a:r>
              <a:rPr lang="en-US" sz="2400"/>
              <a:t> </a:t>
            </a:r>
            <a:r>
              <a:rPr lang="en-US" sz="2400" err="1"/>
              <a:t>Entreda</a:t>
            </a:r>
            <a:endParaRPr lang="en-US" sz="2400"/>
          </a:p>
          <a:p>
            <a:pPr lvl="1"/>
            <a:r>
              <a:rPr lang="en-US" sz="2000"/>
              <a:t>Implementation</a:t>
            </a:r>
          </a:p>
          <a:p>
            <a:pPr lvl="1"/>
            <a:r>
              <a:rPr lang="en-US" sz="2000"/>
              <a:t>Maintenance</a:t>
            </a:r>
          </a:p>
          <a:p>
            <a:pPr lvl="1"/>
            <a:r>
              <a:rPr lang="en-US" sz="2000"/>
              <a:t>Legacy architecture, UI, and UX</a:t>
            </a:r>
          </a:p>
          <a:p>
            <a:pPr lvl="1"/>
            <a:r>
              <a:rPr lang="en-US" sz="2000"/>
              <a:t>No check for unknown devices</a:t>
            </a:r>
          </a:p>
          <a:p>
            <a:pPr lvl="1"/>
            <a:r>
              <a:rPr lang="en-US" sz="2000"/>
              <a:t>User is doing enforcement or tested for it (prompt)</a:t>
            </a:r>
          </a:p>
          <a:p>
            <a:r>
              <a:rPr lang="en-US" sz="2400"/>
              <a:t>Venn</a:t>
            </a:r>
          </a:p>
          <a:p>
            <a:pPr lvl="1"/>
            <a:r>
              <a:rPr lang="en-US" sz="2000"/>
              <a:t>No enforcement capability</a:t>
            </a:r>
          </a:p>
          <a:p>
            <a:endParaRPr lang="en-US" sz="2400"/>
          </a:p>
          <a:p>
            <a:endParaRPr lang="en-US" sz="2400"/>
          </a:p>
        </p:txBody>
      </p:sp>
      <p:pic>
        <p:nvPicPr>
          <p:cNvPr id="4" name="Google Shape;14;p2">
            <a:extLst>
              <a:ext uri="{FF2B5EF4-FFF2-40B4-BE49-F238E27FC236}">
                <a16:creationId xmlns:a16="http://schemas.microsoft.com/office/drawing/2014/main" id="{4E57E034-CE4C-DB9B-5353-04A743DE336D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0032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DCCBC-2770-D47F-0178-B0AE90823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4;p2">
            <a:extLst>
              <a:ext uri="{FF2B5EF4-FFF2-40B4-BE49-F238E27FC236}">
                <a16:creationId xmlns:a16="http://schemas.microsoft.com/office/drawing/2014/main" id="{CD954104-287B-8E4E-285F-8A18E64CBD1E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EDEA95-27AC-B0A7-3A0A-49DFD77A3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Managed Cyber Tech Stack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27C940-660E-142E-B7A5-18C9AEC69F6F}"/>
              </a:ext>
            </a:extLst>
          </p:cNvPr>
          <p:cNvSpPr txBox="1"/>
          <p:nvPr/>
        </p:nvSpPr>
        <p:spPr>
          <a:xfrm>
            <a:off x="893806" y="1856764"/>
            <a:ext cx="5148648" cy="4245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/>
              <a:t>Managed Cybersecurity Services</a:t>
            </a:r>
          </a:p>
          <a:p>
            <a:pPr marL="2286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/>
              <a:t>Centralized MFA (Multi-Factor Authentication)</a:t>
            </a:r>
          </a:p>
          <a:p>
            <a:pPr marL="2286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/>
              <a:t>Endpoint Security Enforcement</a:t>
            </a:r>
          </a:p>
          <a:p>
            <a:pPr marL="2286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/>
              <a:t>Endpoint Protection with MXDR (Managed Extended Detection &amp;   Response)</a:t>
            </a:r>
          </a:p>
          <a:p>
            <a:pPr marL="2286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/>
              <a:t>Data Exfiltration Protection &amp; DLP (Data Leakage Protection)</a:t>
            </a:r>
          </a:p>
          <a:p>
            <a:pPr marL="2286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/>
              <a:t>Network Security</a:t>
            </a:r>
          </a:p>
          <a:p>
            <a:pPr marL="2286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/>
              <a:t>Cloud-Based Firewall with Always-On-VPN and SASE (Secure Access Service Edge </a:t>
            </a:r>
          </a:p>
          <a:p>
            <a:pPr marL="2286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/>
              <a:t>Centralized Logs / SIEM (Security Information &amp; Event Management)</a:t>
            </a:r>
          </a:p>
          <a:p>
            <a:pPr marL="2286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/>
              <a:t>Centralized Configuration Change Logs</a:t>
            </a:r>
          </a:p>
          <a:p>
            <a:pPr marL="2286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/>
              <a:t>SOAR (Security Orchestration, Automation, &amp; Response)</a:t>
            </a:r>
          </a:p>
          <a:p>
            <a:pPr marL="2286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/>
              <a:t>SOC (Security Operation Center) Cloud Hardening Services</a:t>
            </a:r>
          </a:p>
          <a:p>
            <a:pPr marL="22860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/>
              <a:t>CASB (Cloud Access Security Broker)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E84B65C-16CE-3957-93A1-8BDF50EB0A60}"/>
              </a:ext>
            </a:extLst>
          </p:cNvPr>
          <p:cNvSpPr txBox="1">
            <a:spLocks/>
          </p:cNvSpPr>
          <p:nvPr/>
        </p:nvSpPr>
        <p:spPr>
          <a:xfrm>
            <a:off x="7799601" y="1856764"/>
            <a:ext cx="3300886" cy="23818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Security Assessment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/>
              <a:t>Vulnerability Scans and Network Penetration Testing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/>
              <a:t>Public Asset Assessment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/>
              <a:t>Security Score</a:t>
            </a:r>
          </a:p>
        </p:txBody>
      </p:sp>
    </p:spTree>
    <p:extLst>
      <p:ext uri="{BB962C8B-B14F-4D97-AF65-F5344CB8AC3E}">
        <p14:creationId xmlns:p14="http://schemas.microsoft.com/office/powerpoint/2010/main" val="1466013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EB4B3-8F90-2235-654D-1CB05F0A8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raphic 32">
            <a:extLst>
              <a:ext uri="{FF2B5EF4-FFF2-40B4-BE49-F238E27FC236}">
                <a16:creationId xmlns:a16="http://schemas.microsoft.com/office/drawing/2014/main" id="{7B7DAA53-1973-2403-A77B-C72442AE0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7065" y="5781110"/>
            <a:ext cx="5143500" cy="832379"/>
          </a:xfrm>
          <a:prstGeom prst="rect">
            <a:avLst/>
          </a:prstGeom>
        </p:spPr>
      </p:pic>
      <p:pic>
        <p:nvPicPr>
          <p:cNvPr id="6" name="Picture 5" descr="A red shield with white text&#10;&#10;Description automatically generated">
            <a:extLst>
              <a:ext uri="{FF2B5EF4-FFF2-40B4-BE49-F238E27FC236}">
                <a16:creationId xmlns:a16="http://schemas.microsoft.com/office/drawing/2014/main" id="{2A37D671-AD5D-CAD7-D88B-12C921726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56" y="908572"/>
            <a:ext cx="1629178" cy="16291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4A3EF1-8D30-3130-4C46-896CB51B9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078" y="5947418"/>
            <a:ext cx="640115" cy="6313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EDD067-4AE6-3411-EA56-4FFE92F878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0025" y="4908814"/>
            <a:ext cx="579295" cy="7622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A27971-37AE-EC18-E02D-573975B9AC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6423" y="3858614"/>
            <a:ext cx="628356" cy="8267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EB2861-17CF-9657-EFE1-43BF0E4532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00305"/>
            <a:ext cx="10370916" cy="30658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ADD7A3-DA27-E06C-1825-2C16AB1C9295}"/>
              </a:ext>
            </a:extLst>
          </p:cNvPr>
          <p:cNvSpPr txBox="1"/>
          <p:nvPr/>
        </p:nvSpPr>
        <p:spPr>
          <a:xfrm>
            <a:off x="736656" y="4808397"/>
            <a:ext cx="9444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solidFill>
                  <a:schemeClr val="bg1"/>
                </a:solidFill>
              </a:rPr>
              <a:t>Visibility</a:t>
            </a:r>
          </a:p>
        </p:txBody>
      </p:sp>
    </p:spTree>
    <p:extLst>
      <p:ext uri="{BB962C8B-B14F-4D97-AF65-F5344CB8AC3E}">
        <p14:creationId xmlns:p14="http://schemas.microsoft.com/office/powerpoint/2010/main" val="653917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E8F2B-BF30-D49F-DEC0-44D5D466C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68AA-B175-8DE0-8FBC-2D9E03F07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High-Risk Vulnerability Fixes available with Visibility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6E1F4-8D6F-9EF8-E0A8-F7773A704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Options that can be included with Visibility</a:t>
            </a:r>
          </a:p>
          <a:p>
            <a:r>
              <a:rPr lang="en-US" sz="2000"/>
              <a:t>OS Security Patch Enforcement (no management)</a:t>
            </a:r>
          </a:p>
          <a:p>
            <a:r>
              <a:rPr lang="en-US" sz="2000"/>
              <a:t>USB forced encryption</a:t>
            </a:r>
          </a:p>
          <a:p>
            <a:endParaRPr lang="en-US" sz="2000"/>
          </a:p>
          <a:p>
            <a:pPr marL="0" indent="0">
              <a:buNone/>
            </a:pPr>
            <a:r>
              <a:rPr lang="en-US" sz="2400"/>
              <a:t>Others are available with Enforcement Services</a:t>
            </a:r>
          </a:p>
          <a:p>
            <a:r>
              <a:rPr lang="en-US" sz="2000"/>
              <a:t>See full list</a:t>
            </a:r>
          </a:p>
          <a:p>
            <a:pPr marL="0" indent="0">
              <a:buNone/>
            </a:pPr>
            <a:endParaRPr lang="en-US" sz="2400"/>
          </a:p>
          <a:p>
            <a:endParaRPr lang="en-US" sz="2000"/>
          </a:p>
        </p:txBody>
      </p:sp>
      <p:pic>
        <p:nvPicPr>
          <p:cNvPr id="4" name="Google Shape;14;p2">
            <a:extLst>
              <a:ext uri="{FF2B5EF4-FFF2-40B4-BE49-F238E27FC236}">
                <a16:creationId xmlns:a16="http://schemas.microsoft.com/office/drawing/2014/main" id="{F5C8F287-0957-FF89-F45E-F1BF95720CE2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1706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D602-0DEC-893B-3453-BD3963F28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6F42E9AB-375C-B89D-87CD-E89942041DE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EB4BF59-B4CE-358A-BCC3-4E3AEC2A9D30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Audit &amp; Monitoring Tool</a:t>
            </a:r>
            <a:endParaRPr lang="en-US" sz="3200" b="1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Poppins ExtraBold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11576D-259B-563E-EC78-8E02FCDE090E}"/>
              </a:ext>
            </a:extLst>
          </p:cNvPr>
          <p:cNvSpPr txBox="1"/>
          <p:nvPr/>
        </p:nvSpPr>
        <p:spPr>
          <a:xfrm>
            <a:off x="854092" y="2168861"/>
            <a:ext cx="512082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Visibility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8A95D5-5A8D-87F7-149B-AFFC1F878D3E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>
              <a:alpha val="49412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62588E0-6931-0760-313D-AD49911CB492}"/>
              </a:ext>
            </a:extLst>
          </p:cNvPr>
          <p:cNvSpPr/>
          <p:nvPr/>
        </p:nvSpPr>
        <p:spPr>
          <a:xfrm>
            <a:off x="6861262" y="538162"/>
            <a:ext cx="4591050" cy="57816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48271" sx="95202" sy="95202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579EFF-D375-CE76-D97E-991068490312}"/>
              </a:ext>
            </a:extLst>
          </p:cNvPr>
          <p:cNvCxnSpPr/>
          <p:nvPr/>
        </p:nvCxnSpPr>
        <p:spPr>
          <a:xfrm>
            <a:off x="7299412" y="3594498"/>
            <a:ext cx="3714750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C91DB6-F0FF-98AF-4455-58825BF22FF8}"/>
              </a:ext>
            </a:extLst>
          </p:cNvPr>
          <p:cNvSpPr txBox="1"/>
          <p:nvPr/>
        </p:nvSpPr>
        <p:spPr>
          <a:xfrm>
            <a:off x="854091" y="3983308"/>
            <a:ext cx="4621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Technical Information Inventory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Cyber Posture Inventory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Actionable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19FD7-5164-4620-FFD1-7F60A81B121A}"/>
              </a:ext>
            </a:extLst>
          </p:cNvPr>
          <p:cNvSpPr txBox="1"/>
          <p:nvPr/>
        </p:nvSpPr>
        <p:spPr>
          <a:xfrm>
            <a:off x="7299412" y="1001645"/>
            <a:ext cx="339569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Segmentation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633612-B1CD-40E3-97E2-512875EFAA22}"/>
              </a:ext>
            </a:extLst>
          </p:cNvPr>
          <p:cNvSpPr txBox="1">
            <a:spLocks/>
          </p:cNvSpPr>
          <p:nvPr/>
        </p:nvSpPr>
        <p:spPr>
          <a:xfrm>
            <a:off x="7308668" y="1659695"/>
            <a:ext cx="3818136" cy="176930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Firm-Defined Segmentation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/>
              <a:t>Location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/>
              <a:t>Branch or Agency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/>
              <a:t>Firm code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/>
              <a:t>Title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/>
              <a:t>Supervisory Code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/>
              <a:t>Etc.</a:t>
            </a:r>
            <a:endParaRPr lang="en-US" sz="1400" b="1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Poppins ExtraBold" pitchFamily="2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1572994-C8D9-6A94-B9BF-2B004A15F327}"/>
              </a:ext>
            </a:extLst>
          </p:cNvPr>
          <p:cNvSpPr txBox="1">
            <a:spLocks/>
          </p:cNvSpPr>
          <p:nvPr/>
        </p:nvSpPr>
        <p:spPr>
          <a:xfrm>
            <a:off x="7308668" y="3820092"/>
            <a:ext cx="3818136" cy="23820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Segmentation Method</a:t>
            </a:r>
          </a:p>
          <a:p>
            <a:pPr marL="120650" indent="-1206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/>
              <a:t>User-Managed</a:t>
            </a:r>
          </a:p>
          <a:p>
            <a:pPr marL="120650" indent="-1206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/>
              <a:t>Data File Processing</a:t>
            </a:r>
          </a:p>
          <a:p>
            <a:pPr marL="120650" indent="-1206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/>
              <a:t>System Integration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9F997E-03E5-FCE7-5026-80B4C2EC5D2B}"/>
              </a:ext>
            </a:extLst>
          </p:cNvPr>
          <p:cNvCxnSpPr/>
          <p:nvPr/>
        </p:nvCxnSpPr>
        <p:spPr>
          <a:xfrm>
            <a:off x="7299412" y="1517227"/>
            <a:ext cx="3714750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085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AAD053C-8F32-233E-8BFF-7466CDBA8CF6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Visibility Over</a:t>
            </a:r>
            <a:br>
              <a:rPr lang="en-US" sz="3200" b="1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Security &amp; Compliance</a:t>
            </a:r>
            <a:endParaRPr lang="en-US" sz="3200" b="1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Poppins ExtraBold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75D19-D504-CAEA-18FF-BA64CFE84A54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Actionable</a:t>
            </a:r>
            <a:br>
              <a:rPr lang="en-US" sz="3200" b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r>
              <a:rPr lang="en-US" sz="3200" b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A78056-49C8-77A1-2831-0A12997F2C1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>
              <a:alpha val="49412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4F6774E-8C3C-6328-4FC5-42A52A9FABE2}"/>
              </a:ext>
            </a:extLst>
          </p:cNvPr>
          <p:cNvSpPr/>
          <p:nvPr/>
        </p:nvSpPr>
        <p:spPr>
          <a:xfrm>
            <a:off x="6861262" y="538162"/>
            <a:ext cx="4591050" cy="57816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48271" sx="95202" sy="95202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93F148-9908-F540-93F4-1DD9B69AD6FF}"/>
              </a:ext>
            </a:extLst>
          </p:cNvPr>
          <p:cNvCxnSpPr/>
          <p:nvPr/>
        </p:nvCxnSpPr>
        <p:spPr>
          <a:xfrm>
            <a:off x="7299412" y="3594498"/>
            <a:ext cx="3714750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ADE4E89-03A8-B870-EDF8-3A6E867A866F}"/>
              </a:ext>
            </a:extLst>
          </p:cNvPr>
          <p:cNvSpPr txBox="1"/>
          <p:nvPr/>
        </p:nvSpPr>
        <p:spPr>
          <a:xfrm>
            <a:off x="854091" y="4309129"/>
            <a:ext cx="46217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Aggregation from multiple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IT and cyber settings and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Updated daily (not real-time)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Identify risks and act on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Click on card to view computers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Download 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2D3B3-E6E7-D476-687E-FEA90FCCA20A}"/>
              </a:ext>
            </a:extLst>
          </p:cNvPr>
          <p:cNvSpPr txBox="1"/>
          <p:nvPr/>
        </p:nvSpPr>
        <p:spPr>
          <a:xfrm>
            <a:off x="7299412" y="1001645"/>
            <a:ext cx="339569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Actionable Dashboard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33A39-B56A-4AD1-C23E-7CDA7AEF88E1}"/>
              </a:ext>
            </a:extLst>
          </p:cNvPr>
          <p:cNvSpPr txBox="1">
            <a:spLocks/>
          </p:cNvSpPr>
          <p:nvPr/>
        </p:nvSpPr>
        <p:spPr>
          <a:xfrm>
            <a:off x="7308668" y="1659695"/>
            <a:ext cx="3818136" cy="17693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~10 Controls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/>
              <a:t>End-od-Life OS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/>
              <a:t>Remote Desktop Protocol(RDP) without MFA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/>
              <a:t>Unique Usernames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/>
              <a:t>Microsoft Managed Accounts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/>
              <a:t>Etc.</a:t>
            </a:r>
            <a:endParaRPr lang="en-US" sz="1400" b="1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Poppins ExtraBold" pitchFamily="2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4284216-B291-202B-CFD2-C99786669514}"/>
              </a:ext>
            </a:extLst>
          </p:cNvPr>
          <p:cNvSpPr txBox="1">
            <a:spLocks/>
          </p:cNvSpPr>
          <p:nvPr/>
        </p:nvSpPr>
        <p:spPr>
          <a:xfrm>
            <a:off x="7308668" y="3820092"/>
            <a:ext cx="3818136" cy="238204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~40 Safeguards</a:t>
            </a:r>
          </a:p>
          <a:p>
            <a:pPr marL="120650" indent="-1206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/>
              <a:t>Antivirus</a:t>
            </a:r>
          </a:p>
          <a:p>
            <a:pPr marL="120650" indent="-1206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/>
              <a:t>Full-Disk Encryption</a:t>
            </a:r>
          </a:p>
          <a:p>
            <a:pPr marL="120650" indent="-1206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/>
              <a:t>Screen Saver, Inactivity Lockout</a:t>
            </a:r>
          </a:p>
          <a:p>
            <a:pPr marL="120650" indent="-1206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/>
              <a:t>Complex Password</a:t>
            </a:r>
          </a:p>
          <a:p>
            <a:pPr marL="120650" indent="-1206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/>
              <a:t>Computer Firewall</a:t>
            </a:r>
          </a:p>
          <a:p>
            <a:pPr marL="120650" indent="-1206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/>
              <a:t>OS Security Patches</a:t>
            </a:r>
          </a:p>
          <a:p>
            <a:pPr marL="120650" indent="-1206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/>
              <a:t>Etc.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30D1AF-0EFE-37C7-1B50-2B9A036463C1}"/>
              </a:ext>
            </a:extLst>
          </p:cNvPr>
          <p:cNvCxnSpPr/>
          <p:nvPr/>
        </p:nvCxnSpPr>
        <p:spPr>
          <a:xfrm>
            <a:off x="7299412" y="1517227"/>
            <a:ext cx="3714750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268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AAD053C-8F32-233E-8BFF-7466CDBA8CF6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Technical Information</a:t>
            </a:r>
            <a:br>
              <a:rPr lang="en-US" sz="3200" b="1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&amp; Cyber Posture</a:t>
            </a:r>
            <a:endParaRPr lang="en-US" sz="3200" b="1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Poppins ExtraBold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75D19-D504-CAEA-18FF-BA64CFE84A54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Asset Inventory</a:t>
            </a:r>
            <a:br>
              <a:rPr lang="en-US" sz="3200" b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r>
              <a:rPr lang="en-US" sz="3200" b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Reports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A78056-49C8-77A1-2831-0A12997F2C1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>
              <a:alpha val="49412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4F6774E-8C3C-6328-4FC5-42A52A9FABE2}"/>
              </a:ext>
            </a:extLst>
          </p:cNvPr>
          <p:cNvSpPr/>
          <p:nvPr/>
        </p:nvSpPr>
        <p:spPr>
          <a:xfrm>
            <a:off x="6861262" y="538162"/>
            <a:ext cx="4591050" cy="57816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48271" sx="95202" sy="95202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93F148-9908-F540-93F4-1DD9B69AD6FF}"/>
              </a:ext>
            </a:extLst>
          </p:cNvPr>
          <p:cNvCxnSpPr/>
          <p:nvPr/>
        </p:nvCxnSpPr>
        <p:spPr>
          <a:xfrm>
            <a:off x="7299412" y="3712187"/>
            <a:ext cx="3714750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ADE4E89-03A8-B870-EDF8-3A6E867A866F}"/>
              </a:ext>
            </a:extLst>
          </p:cNvPr>
          <p:cNvSpPr txBox="1"/>
          <p:nvPr/>
        </p:nvSpPr>
        <p:spPr>
          <a:xfrm>
            <a:off x="854092" y="4456269"/>
            <a:ext cx="4502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Excel file with 1 Computer per Row for easy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Sent over Public Networks (Time-stamped) For Future Evidence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2D3B3-E6E7-D476-687E-FEA90FCCA20A}"/>
              </a:ext>
            </a:extLst>
          </p:cNvPr>
          <p:cNvSpPr txBox="1"/>
          <p:nvPr/>
        </p:nvSpPr>
        <p:spPr>
          <a:xfrm>
            <a:off x="7299412" y="1001645"/>
            <a:ext cx="339569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Asset Inventory Reports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33A39-B56A-4AD1-C23E-7CDA7AEF88E1}"/>
              </a:ext>
            </a:extLst>
          </p:cNvPr>
          <p:cNvSpPr txBox="1">
            <a:spLocks/>
          </p:cNvSpPr>
          <p:nvPr/>
        </p:nvSpPr>
        <p:spPr>
          <a:xfrm>
            <a:off x="7308668" y="1659695"/>
            <a:ext cx="3818136" cy="195273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1. Technical Information Report</a:t>
            </a:r>
          </a:p>
          <a:p>
            <a:pPr>
              <a:lnSpc>
                <a:spcPct val="120000"/>
              </a:lnSpc>
            </a:pPr>
            <a:r>
              <a:rPr lang="en-US" sz="1400" b="1">
                <a:latin typeface="+mn-lt"/>
              </a:rPr>
              <a:t>~ 20 Columns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Install date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Hardware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OS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Hard Disk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CPU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RAM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Serial numbers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Etc.</a:t>
            </a:r>
            <a:endParaRPr lang="en-US" sz="1100" b="1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Poppins ExtraBold" pitchFamily="2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4284216-B291-202B-CFD2-C99786669514}"/>
              </a:ext>
            </a:extLst>
          </p:cNvPr>
          <p:cNvSpPr txBox="1">
            <a:spLocks/>
          </p:cNvSpPr>
          <p:nvPr/>
        </p:nvSpPr>
        <p:spPr>
          <a:xfrm>
            <a:off x="7308668" y="3937782"/>
            <a:ext cx="3818136" cy="20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2. Cyber Posture Report</a:t>
            </a:r>
          </a:p>
          <a:p>
            <a:pPr>
              <a:lnSpc>
                <a:spcPct val="120000"/>
              </a:lnSpc>
            </a:pPr>
            <a:r>
              <a:rPr lang="en-US" sz="2200" b="1">
                <a:latin typeface="+mn-lt"/>
              </a:rPr>
              <a:t>~ 40 Columns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/>
              <a:t>Antivirus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/>
              <a:t>Full-Disk Encryption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/>
              <a:t>Inactivity Timeout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/>
              <a:t>Complex Password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/>
              <a:t>Firewall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/>
              <a:t>OS Patches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/>
              <a:t>OS Multi-Factor Authentication</a:t>
            </a:r>
          </a:p>
          <a:p>
            <a:pPr marL="120650" indent="-1206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/>
              <a:t>Etc.</a:t>
            </a:r>
            <a:endParaRPr lang="en-US" sz="1800" b="1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Poppins ExtraBold" pitchFamily="2" charset="7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30D1AF-0EFE-37C7-1B50-2B9A036463C1}"/>
              </a:ext>
            </a:extLst>
          </p:cNvPr>
          <p:cNvCxnSpPr/>
          <p:nvPr/>
        </p:nvCxnSpPr>
        <p:spPr>
          <a:xfrm>
            <a:off x="7299412" y="1517227"/>
            <a:ext cx="3714750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9190E83-A82D-1504-E327-E755CC9641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041" y="2183601"/>
            <a:ext cx="864524" cy="864524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FBCDA158-ADA7-6A70-F17B-19F9E57850D2}"/>
              </a:ext>
            </a:extLst>
          </p:cNvPr>
          <p:cNvGrpSpPr/>
          <p:nvPr/>
        </p:nvGrpSpPr>
        <p:grpSpPr>
          <a:xfrm>
            <a:off x="10052041" y="4316529"/>
            <a:ext cx="864524" cy="864524"/>
            <a:chOff x="10149638" y="4376606"/>
            <a:chExt cx="864524" cy="86452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E0C1A10-2F3D-7815-3F24-51F200E274F1}"/>
                </a:ext>
              </a:extLst>
            </p:cNvPr>
            <p:cNvGrpSpPr/>
            <p:nvPr/>
          </p:nvGrpSpPr>
          <p:grpSpPr>
            <a:xfrm>
              <a:off x="10149638" y="4376606"/>
              <a:ext cx="864524" cy="864524"/>
              <a:chOff x="10149638" y="4118907"/>
              <a:chExt cx="864524" cy="864524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6BA660ED-E50B-5255-2CB7-0D0A805D4E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149638" y="4118907"/>
                <a:ext cx="864524" cy="864524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DFD118EF-A535-D6E2-9A00-3E4DBB37DF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10425" y="4492625"/>
                <a:ext cx="544900" cy="405324"/>
              </a:xfrm>
              <a:prstGeom prst="rect">
                <a:avLst/>
              </a:prstGeom>
            </p:spPr>
          </p:pic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5FC9551-9DE6-F3EA-1AD2-05B7AE80B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67721" y="4753643"/>
              <a:ext cx="433065" cy="4330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6090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8B7C-C498-F9D3-985C-01D20B93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Computer Inventory Reports</a:t>
            </a:r>
          </a:p>
        </p:txBody>
      </p:sp>
      <p:pic>
        <p:nvPicPr>
          <p:cNvPr id="6" name="Google Shape;14;p2">
            <a:extLst>
              <a:ext uri="{FF2B5EF4-FFF2-40B4-BE49-F238E27FC236}">
                <a16:creationId xmlns:a16="http://schemas.microsoft.com/office/drawing/2014/main" id="{79B5CF9B-BA20-8BE9-5658-559EB95571E5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F9B7A8-BF25-87CA-91B4-D231F911670A}"/>
              </a:ext>
            </a:extLst>
          </p:cNvPr>
          <p:cNvSpPr txBox="1"/>
          <p:nvPr/>
        </p:nvSpPr>
        <p:spPr>
          <a:xfrm>
            <a:off x="838200" y="1590692"/>
            <a:ext cx="4579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Technical Information Report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2A5EB-AC01-8F06-0427-4DAFBACD1F4D}"/>
              </a:ext>
            </a:extLst>
          </p:cNvPr>
          <p:cNvSpPr txBox="1"/>
          <p:nvPr/>
        </p:nvSpPr>
        <p:spPr>
          <a:xfrm>
            <a:off x="838200" y="3835305"/>
            <a:ext cx="4579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b="1">
                <a:solidFill>
                  <a:srgbClr val="C00000"/>
                </a:solidFill>
                <a:latin typeface="+mn-lt"/>
                <a:cs typeface="Poppins ExtraBold" pitchFamily="2" charset="77"/>
              </a:rPr>
              <a:t>Cyber Posture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9FD65-1AEC-AB0B-EA06-C10E80FA6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49" y="1983982"/>
            <a:ext cx="7772400" cy="1693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662E94-4070-7484-B1B6-15E28A6CC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799" y="4309038"/>
            <a:ext cx="7772400" cy="1462351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6F2AC54-064F-FE36-24EF-DB8EDB22DA0C}"/>
              </a:ext>
            </a:extLst>
          </p:cNvPr>
          <p:cNvSpPr txBox="1">
            <a:spLocks/>
          </p:cNvSpPr>
          <p:nvPr/>
        </p:nvSpPr>
        <p:spPr>
          <a:xfrm>
            <a:off x="8929354" y="1142890"/>
            <a:ext cx="233484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Password Complexity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Password Expiration Date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Password Min Length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Password Max Age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Password History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Active Antivirus Products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Antivirus Definition Status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Antivirus Status Date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USB Encryption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Disk Encryption Product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Disk Encryption Status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Disk Encryption Status Date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TPM Status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Chrome Version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User Admin Status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RDP Access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IT RMM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Machine Status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Group ID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Last Check-in Time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Domain/Workgroup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Contact Name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Last Logged In User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Computer Name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Operating System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OS Version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OS Patch Date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OS MFA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Active Firewall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Firewall Logging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Login Success Log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Login Failure Log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/>
              <a:t>Inactivity Timeout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0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0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0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0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0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450115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4C1C30-C4D3-B68C-8FE5-FBF125F2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Compliance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F14550-B8F4-7046-B4B6-165FC0C54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4334" y="1713705"/>
            <a:ext cx="4589388" cy="4547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/>
              <a:t>Approved Vendor Program</a:t>
            </a:r>
          </a:p>
          <a:p>
            <a:r>
              <a:rPr lang="en-US" sz="1200"/>
              <a:t>Do you have a program to review vendors, or the Field Offices are doing it?</a:t>
            </a:r>
          </a:p>
          <a:p>
            <a:r>
              <a:rPr lang="en-US" sz="1200"/>
              <a:t>If you have a program, can we participate?</a:t>
            </a:r>
          </a:p>
          <a:p>
            <a:endParaRPr lang="en-US" sz="1200"/>
          </a:p>
          <a:p>
            <a:pPr marL="0" indent="0">
              <a:buNone/>
            </a:pPr>
            <a:r>
              <a:rPr lang="en-US" sz="1600" b="1"/>
              <a:t>Information Security Policy Document</a:t>
            </a:r>
          </a:p>
          <a:p>
            <a:r>
              <a:rPr lang="en-US" sz="1200"/>
              <a:t>Do you have a document that you send to the Field Offices?</a:t>
            </a:r>
          </a:p>
          <a:p>
            <a:r>
              <a:rPr lang="en-US" sz="1200"/>
              <a:t>If yes, can we get a copy to ensure we enforce the sections that apply to FCI services?</a:t>
            </a:r>
          </a:p>
          <a:p>
            <a:endParaRPr lang="en-US" sz="1200"/>
          </a:p>
          <a:p>
            <a:pPr marL="0" indent="0">
              <a:buNone/>
            </a:pPr>
            <a:r>
              <a:rPr lang="en-US" sz="1600" b="1"/>
              <a:t>Annual Review of Field Office Compliance</a:t>
            </a:r>
          </a:p>
          <a:p>
            <a:r>
              <a:rPr lang="en-US" sz="1200"/>
              <a:t>Do you review the Cyber compliance of your Field Offices?</a:t>
            </a:r>
          </a:p>
          <a:p>
            <a:r>
              <a:rPr lang="en-US" sz="1200"/>
              <a:t>If you agree to promote it, we have a special offer (next slide)</a:t>
            </a:r>
          </a:p>
          <a:p>
            <a:endParaRPr lang="en-US" sz="1050"/>
          </a:p>
        </p:txBody>
      </p:sp>
      <p:pic>
        <p:nvPicPr>
          <p:cNvPr id="10" name="Google Shape;14;p2">
            <a:extLst>
              <a:ext uri="{FF2B5EF4-FFF2-40B4-BE49-F238E27FC236}">
                <a16:creationId xmlns:a16="http://schemas.microsoft.com/office/drawing/2014/main" id="{D7D2E63D-3B72-F0D2-8055-3CA3A35E84D8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97985" y="612777"/>
            <a:ext cx="752422" cy="8302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1CB6FEE4-C4CA-651F-831A-42420E51BC91}"/>
              </a:ext>
            </a:extLst>
          </p:cNvPr>
          <p:cNvSpPr txBox="1">
            <a:spLocks/>
          </p:cNvSpPr>
          <p:nvPr/>
        </p:nvSpPr>
        <p:spPr>
          <a:xfrm>
            <a:off x="6724261" y="1713705"/>
            <a:ext cx="4839604" cy="4547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Field Offices: FCI Clients </a:t>
            </a:r>
          </a:p>
          <a:p>
            <a:r>
              <a:rPr lang="en-US" sz="1200" dirty="0"/>
              <a:t>FCI </a:t>
            </a:r>
            <a:r>
              <a:rPr lang="en-US" sz="1200" dirty="0" err="1"/>
              <a:t>Protectit</a:t>
            </a:r>
            <a:endParaRPr lang="en-US" sz="1200" dirty="0"/>
          </a:p>
          <a:p>
            <a:pPr lvl="1"/>
            <a:r>
              <a:rPr lang="en-US" sz="1000" dirty="0"/>
              <a:t>Client 1</a:t>
            </a:r>
          </a:p>
          <a:p>
            <a:pPr lvl="1"/>
            <a:r>
              <a:rPr lang="en-US" sz="1000" dirty="0"/>
              <a:t>Client 2</a:t>
            </a:r>
          </a:p>
          <a:p>
            <a:r>
              <a:rPr lang="en-US" sz="1200" dirty="0"/>
              <a:t>FCI Exchange Sync ?</a:t>
            </a:r>
          </a:p>
          <a:p>
            <a:pPr marL="457200" lvl="1" indent="0"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Actionable Compliance Dashboard Demo</a:t>
            </a:r>
          </a:p>
          <a:p>
            <a:pPr marL="228600" lvl="1">
              <a:spcBef>
                <a:spcPts val="1000"/>
              </a:spcBef>
            </a:pPr>
            <a:r>
              <a:rPr lang="en-US" sz="1200" dirty="0"/>
              <a:t>Per Firm</a:t>
            </a:r>
          </a:p>
          <a:p>
            <a:pPr marL="228600" lvl="1">
              <a:spcBef>
                <a:spcPts val="1000"/>
              </a:spcBef>
            </a:pPr>
            <a:r>
              <a:rPr lang="en-US" sz="1200" dirty="0"/>
              <a:t>For All Firms</a:t>
            </a:r>
          </a:p>
          <a:p>
            <a:pPr marL="228600" lvl="1">
              <a:spcBef>
                <a:spcPts val="1000"/>
              </a:spcBef>
            </a:pPr>
            <a:r>
              <a:rPr lang="en-US" sz="1200" dirty="0"/>
              <a:t>Segmentation per location, supervisory code, etc. </a:t>
            </a:r>
          </a:p>
          <a:p>
            <a:pPr marL="228600" lvl="1">
              <a:spcBef>
                <a:spcPts val="1000"/>
              </a:spcBef>
            </a:pPr>
            <a:endParaRPr lang="en-US" sz="1200" dirty="0"/>
          </a:p>
          <a:p>
            <a:pPr marL="228600" lvl="1">
              <a:spcBef>
                <a:spcPts val="1000"/>
              </a:spcBef>
            </a:pPr>
            <a:endParaRPr lang="en-US" sz="1200" dirty="0"/>
          </a:p>
          <a:p>
            <a:pPr lvl="1"/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751533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2a17bc-2da2-4fb7-a4fb-c10936b8d7de">
      <Terms xmlns="http://schemas.microsoft.com/office/infopath/2007/PartnerControls"/>
    </lcf76f155ced4ddcb4097134ff3c332f>
    <TaxCatchAll xmlns="7e81ff0a-7b47-4573-8501-a4583f78be9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728B7CB0AB0F44AD07F77726D618CF" ma:contentTypeVersion="18" ma:contentTypeDescription="Create a new document." ma:contentTypeScope="" ma:versionID="d64584f67956fb6c7123727cde55f32d">
  <xsd:schema xmlns:xsd="http://www.w3.org/2001/XMLSchema" xmlns:xs="http://www.w3.org/2001/XMLSchema" xmlns:p="http://schemas.microsoft.com/office/2006/metadata/properties" xmlns:ns2="702a17bc-2da2-4fb7-a4fb-c10936b8d7de" xmlns:ns3="7e81ff0a-7b47-4573-8501-a4583f78be9e" targetNamespace="http://schemas.microsoft.com/office/2006/metadata/properties" ma:root="true" ma:fieldsID="7e724edce0b58e36071777a41bee58bd" ns2:_="" ns3:_="">
    <xsd:import namespace="702a17bc-2da2-4fb7-a4fb-c10936b8d7de"/>
    <xsd:import namespace="7e81ff0a-7b47-4573-8501-a4583f78be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2a17bc-2da2-4fb7-a4fb-c10936b8d7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8a034fc-6895-452d-a915-0a000c850d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1ff0a-7b47-4573-8501-a4583f78be9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d230236-568f-48c0-ac19-1179709fa75a}" ma:internalName="TaxCatchAll" ma:showField="CatchAllData" ma:web="7e81ff0a-7b47-4573-8501-a4583f78be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8DA0B4-C701-4B0C-8F4B-951E4ED3CDC8}">
  <ds:schemaRefs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7e81ff0a-7b47-4573-8501-a4583f78be9e"/>
    <ds:schemaRef ds:uri="http://schemas.openxmlformats.org/package/2006/metadata/core-properties"/>
    <ds:schemaRef ds:uri="http://purl.org/dc/dcmitype/"/>
    <ds:schemaRef ds:uri="http://www.w3.org/XML/1998/namespace"/>
    <ds:schemaRef ds:uri="702a17bc-2da2-4fb7-a4fb-c10936b8d7de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5148BC8-F1DF-4AA5-A53A-EA37C33F4989}"/>
</file>

<file path=customXml/itemProps3.xml><?xml version="1.0" encoding="utf-8"?>
<ds:datastoreItem xmlns:ds="http://schemas.openxmlformats.org/officeDocument/2006/customXml" ds:itemID="{5CB31623-A10E-4792-9379-418E9DB430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19550</TotalTime>
  <Words>1260</Words>
  <Application>Microsoft Macintosh PowerPoint</Application>
  <PresentationFormat>Widescreen</PresentationFormat>
  <Paragraphs>270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Open Sans ExtraBold</vt:lpstr>
      <vt:lpstr>Office Theme</vt:lpstr>
      <vt:lpstr>PowerPoint Presentation</vt:lpstr>
      <vt:lpstr>Pain points we are hearing in the market</vt:lpstr>
      <vt:lpstr>Visibility</vt:lpstr>
      <vt:lpstr>Actionable Dashboard</vt:lpstr>
      <vt:lpstr>Actionable Dashboard</vt:lpstr>
      <vt:lpstr>Implementation</vt:lpstr>
      <vt:lpstr>Sorting &amp; Filtering Enterprise Data</vt:lpstr>
      <vt:lpstr>Enterprise Data Maintenance</vt:lpstr>
      <vt:lpstr>High-Risk Visibility</vt:lpstr>
      <vt:lpstr>Benefits</vt:lpstr>
      <vt:lpstr>60-Day Pilot Project</vt:lpstr>
      <vt:lpstr>Price</vt:lpstr>
      <vt:lpstr>Competition</vt:lpstr>
      <vt:lpstr>Managed Cyber Tech Stack</vt:lpstr>
      <vt:lpstr>PowerPoint Presentation</vt:lpstr>
      <vt:lpstr>High-Risk Vulnerability Fixes available with Visibility</vt:lpstr>
      <vt:lpstr>PowerPoint Presentation</vt:lpstr>
      <vt:lpstr>PowerPoint Presentation</vt:lpstr>
      <vt:lpstr>PowerPoint Presentation</vt:lpstr>
      <vt:lpstr>Computer Inventory Reports</vt:lpstr>
      <vt:lpstr>Field Compliance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Guyaux</dc:creator>
  <cp:lastModifiedBy>Vincent Guyaux</cp:lastModifiedBy>
  <cp:revision>6</cp:revision>
  <cp:lastPrinted>2023-11-28T17:47:00Z</cp:lastPrinted>
  <dcterms:created xsi:type="dcterms:W3CDTF">2019-04-23T18:39:58Z</dcterms:created>
  <dcterms:modified xsi:type="dcterms:W3CDTF">2025-11-03T14:57:45Z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0x01010029728B7CB0AB0F44AD07F77726D618CF</vt:lpwstr>
  </property>
  <property fmtid="{D5CDD505-2E9C-101B-9397-08002B2CF9AE}" pid="3" name="MediaServiceImageTags">
    <vt:lpwstr/>
  </property>
</Properties>
</file>