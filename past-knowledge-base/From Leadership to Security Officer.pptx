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324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1"/>
    <p:restoredTop sz="96327"/>
  </p:normalViewPr>
  <p:slideViewPr>
    <p:cSldViewPr snapToGrid="0">
      <p:cViewPr varScale="1">
        <p:scale>
          <a:sx n="123" d="100"/>
          <a:sy n="123" d="100"/>
        </p:scale>
        <p:origin x="8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0" d="100"/>
        <a:sy n="16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52D6B-2B6F-C75A-F7A5-8E19561C8D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443840-5439-7B16-B0DE-B010453F8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817FB-3E83-4BC4-E969-796578F1E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2AB9-0280-E540-B9D6-31134B89BC4D}" type="datetimeFigureOut">
              <a:rPr lang="en-US" smtClean="0"/>
              <a:t>8/7/23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2871B-412B-D4E6-349D-A7D6256BD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7CB4A-55BB-30E0-0FD1-63571C251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454A-5975-4D4D-92CB-06759A277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07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0B7C8-6BB4-3CA4-467E-586D9888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26E4D-BB84-1749-C02C-9F71C05AF9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62E878-C4FE-388C-C55C-A179292D7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2AB9-0280-E540-B9D6-31134B89BC4D}" type="datetimeFigureOut">
              <a:rPr lang="en-US" smtClean="0"/>
              <a:t>8/7/23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8789E-2D01-CADE-A4D8-960FEABEA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6836B-F98B-3FA7-CD3E-2DD293376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454A-5975-4D4D-92CB-06759A277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450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65094-BAE5-4C9D-7A96-4E0ACBD3D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9B8F8-7E42-145D-6A3E-578B5D8EB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2E4AE-3EA3-8CAA-6910-E2FE94EA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2AB9-0280-E540-B9D6-31134B89BC4D}" type="datetimeFigureOut">
              <a:rPr lang="en-US" smtClean="0"/>
              <a:t>8/7/23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2FDB8-80B3-4AB7-0514-BBA68A85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23B32-B360-577A-20DE-EFFC884C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454A-5975-4D4D-92CB-06759A277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30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4594-D78A-AC0D-DDA8-B8D5B2985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68429-2B02-B66C-98AD-FCA1D129D1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2221F2-4792-2D61-392D-AB962741A2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CB41BB-F6A7-F675-1AF2-3CBC15E58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2AB9-0280-E540-B9D6-31134B89BC4D}" type="datetimeFigureOut">
              <a:rPr lang="en-US" smtClean="0"/>
              <a:t>8/7/23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8D599-D33D-0609-D49C-60B8122C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587CBC-3450-DF30-96EB-99365F9A4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454A-5975-4D4D-92CB-06759A277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35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9F7E1-A434-8CCE-0A85-24EA45146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F464-45AC-FE7A-AB48-17BB9394E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C6452-A88E-8B23-B879-237993493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DAF7C-7F75-E97D-50B8-33D465D19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505AA-6FA5-DD80-1C1B-43C3623DB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5CC6D4-AB4E-8666-D663-5DE1EF1C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2AB9-0280-E540-B9D6-31134B89BC4D}" type="datetimeFigureOut">
              <a:rPr lang="en-US" smtClean="0"/>
              <a:t>8/7/23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2843ED-2E1C-4F6A-7524-5350A5AF5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471A9E-9C52-148B-5141-809FCFF6D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454A-5975-4D4D-92CB-06759A277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65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9F7E1-A434-8CCE-0A85-24EA45146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83F464-45AC-FE7A-AB48-17BB9394E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29994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DC6452-A88E-8B23-B879-237993493F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32999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CDAF7C-7F75-E97D-50B8-33D465D19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67098" y="1681163"/>
            <a:ext cx="34788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505AA-6FA5-DD80-1C1B-43C3623DB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67098" y="2505075"/>
            <a:ext cx="347887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4D874B1-EF34-917A-9253-3BD17ACF11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873335" y="1681163"/>
            <a:ext cx="34788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E001EB21-1E9C-EFA7-EC87-5D2792959BD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873335" y="2505075"/>
            <a:ext cx="347887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1971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64FD9-6741-F274-9319-9B970FDA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BBDD0-598F-6C2F-A63C-A29F099E6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2AB9-0280-E540-B9D6-31134B89BC4D}" type="datetimeFigureOut">
              <a:rPr lang="en-US" smtClean="0"/>
              <a:t>8/7/23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06DAC-FF3F-10D5-3DE6-7927F1099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886A7-1AB7-0EC1-B4DD-71B8CFDB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454A-5975-4D4D-92CB-06759A277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90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DD7693-A754-98B8-6F30-40ACA2B41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2AB9-0280-E540-B9D6-31134B89BC4D}" type="datetimeFigureOut">
              <a:rPr lang="en-US" smtClean="0"/>
              <a:t>8/7/23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59DE38-F616-F084-0081-54E8A813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B102D-1642-B1DE-8736-0E015678A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454A-5975-4D4D-92CB-06759A277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918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76410-B211-E8F4-DE95-A60C514F0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817E8-DBDF-AEB4-5B6B-36BC251B5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52C8B-91D6-63CB-4892-821AD8D97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D36F6-6551-4BA6-99AB-DB53AA946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2AB9-0280-E540-B9D6-31134B89BC4D}" type="datetimeFigureOut">
              <a:rPr lang="en-US" smtClean="0"/>
              <a:t>8/7/23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3FE04-7C1F-3123-CF66-4B9004FE5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5B3FB-6CD2-D35A-1AB5-B3AE7A07E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454A-5975-4D4D-92CB-06759A277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396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7D08-D96E-07ED-CB2C-8EF14F1F1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EF0BBD-17B1-EA1B-9812-F72EA083CD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10AA8-3FDC-10C8-6FFA-4B69CE943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2B11E5-AE62-CD85-ABBF-602D2E8F7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2AB9-0280-E540-B9D6-31134B89BC4D}" type="datetimeFigureOut">
              <a:rPr lang="en-US" smtClean="0"/>
              <a:t>8/7/23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5BA90-B930-07CB-CB37-1B843486C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370D8-1452-DB1F-8FCA-1D2ED5599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454A-5975-4D4D-92CB-06759A277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332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06BEC-36E8-228F-2E4A-8585D8087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CD83F-E2F1-4808-DFFC-3A13673C8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417AA-AC87-9543-13CF-171958FFB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2AB9-0280-E540-B9D6-31134B89BC4D}" type="datetimeFigureOut">
              <a:rPr lang="en-US" smtClean="0"/>
              <a:t>8/7/23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D9408-3C8B-0B87-D24A-4F54C982E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B45B5-DAF8-A47B-4423-F2AC37EF0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454A-5975-4D4D-92CB-06759A277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46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CBD9B4-1281-BF21-6E20-DCAC5A933B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F19723-B5E0-7F1B-8EA3-0859E1194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0D4D9-591C-41D2-B524-D7408D93A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32AB9-0280-E540-B9D6-31134B89BC4D}" type="datetimeFigureOut">
              <a:rPr lang="en-US" smtClean="0"/>
              <a:t>8/7/23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7B60D-9E06-91DC-CB75-F58124A68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BA1F5-381A-4782-9832-D9EF212A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454A-5975-4D4D-92CB-06759A277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176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 Paragraph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A6EF2-E4B2-F04C-B72F-FBB70A256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7200"/>
            <a:ext cx="7315200" cy="4961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C94CD-B25B-B040-852C-A237B0260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0" y="1371600"/>
            <a:ext cx="9753600" cy="640082"/>
          </a:xfrm>
        </p:spPr>
        <p:txBody>
          <a:bodyPr anchor="t" anchorCtr="0"/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None/>
              <a:defRPr sz="1600" b="0" i="0" cap="none" baseline="0">
                <a:solidFill>
                  <a:schemeClr val="tx1"/>
                </a:solidFill>
                <a:latin typeface="Inter" panose="020B0502030000000004" pitchFamily="34" charset="0"/>
                <a:ea typeface="Inter" panose="020B0502030000000004" pitchFamily="34" charset="0"/>
                <a:cs typeface="Inter" panose="020B05020300000000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25D18-09F2-BF46-AFEB-DB383EB9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326D4-7545-CE40-800D-D66E4EDE5E5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A5FA4-872C-5E41-B66C-A1580D73150A}"/>
              </a:ext>
            </a:extLst>
          </p:cNvPr>
          <p:cNvCxnSpPr>
            <a:cxnSpLocks/>
          </p:cNvCxnSpPr>
          <p:nvPr userDrawn="1"/>
        </p:nvCxnSpPr>
        <p:spPr>
          <a:xfrm>
            <a:off x="11082528" y="6263640"/>
            <a:ext cx="499872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19D593EE-78B6-6A4C-AAA0-C0BC0EEEE1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4469" y="5793474"/>
            <a:ext cx="804672" cy="603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615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9A4D8B-9DC3-8DC3-9B78-73E9BCCDF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5DC6E-F226-16E3-6BC2-4D4D6F227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79BE6-5247-EEC3-CBDD-EDE364A955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732AB9-0280-E540-B9D6-31134B89BC4D}" type="datetimeFigureOut">
              <a:rPr lang="en-US" smtClean="0"/>
              <a:t>8/7/23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77F94-F127-826F-CB46-8D06C4DE38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6580D-2F27-53E5-9B64-53B1DDB88B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8454A-5975-4D4D-92CB-06759A277C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3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1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fcicyber.com/wp-content/uploads/2023/07/SEC-Sample-Exam.pdf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AB0A3-0208-8A0C-D107-FEC284E6B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1204705"/>
            <a:ext cx="10856219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3 Deliverables to Assess Cybersecurity Compliance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EE0236-0533-0011-D32F-F8F9235637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7222" y="2264159"/>
            <a:ext cx="2474494" cy="428685"/>
          </a:xfrm>
        </p:spPr>
        <p:txBody>
          <a:bodyPr>
            <a:normAutofit/>
          </a:bodyPr>
          <a:lstStyle/>
          <a:p>
            <a:pPr marL="230188" indent="-230188"/>
            <a:r>
              <a:rPr lang="en-US" sz="1600" b="0" dirty="0"/>
              <a:t>1. Active Cyber 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B0F01-8529-224E-124D-D75CED8BA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727" y="2692845"/>
            <a:ext cx="2017293" cy="2671762"/>
          </a:xfrm>
        </p:spPr>
        <p:txBody>
          <a:bodyPr>
            <a:normAutofit/>
          </a:bodyPr>
          <a:lstStyle/>
          <a:p>
            <a:pPr marL="114300" indent="-114300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 of our Cyber Program and the confirmation that it meets the Firm’s cybersecurity regulatory requirements (SEC, FINRA, NYDFS, etc.).</a:t>
            </a:r>
          </a:p>
          <a:p>
            <a:pPr marL="114300" indent="-114300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List of evidence confirming the execution of recurring tasks required by regulations.</a:t>
            </a:r>
          </a:p>
          <a:p>
            <a:pPr marL="114300" indent="-114300">
              <a:buFont typeface="+mj-lt"/>
              <a:buAutoNum type="arabicPeriod"/>
            </a:pP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C29D26-9A2F-44C7-3F8F-8CC98A0E8704}"/>
              </a:ext>
            </a:extLst>
          </p:cNvPr>
          <p:cNvSpPr txBox="1"/>
          <p:nvPr/>
        </p:nvSpPr>
        <p:spPr>
          <a:xfrm>
            <a:off x="851747" y="1129991"/>
            <a:ext cx="10628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REQUEST FROM SENIOR LEADSERHIP TO SECURITY OFFICER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982B5C5E-851C-D0BB-804C-516CFEDC9CCB}"/>
              </a:ext>
            </a:extLst>
          </p:cNvPr>
          <p:cNvSpPr txBox="1">
            <a:spLocks/>
          </p:cNvSpPr>
          <p:nvPr/>
        </p:nvSpPr>
        <p:spPr>
          <a:xfrm>
            <a:off x="3410910" y="2264159"/>
            <a:ext cx="2474494" cy="4286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indent="-230188"/>
            <a:r>
              <a:rPr lang="en-US" sz="1600" b="0" dirty="0"/>
              <a:t>2. Asset Inventory Report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7D73FB30-A2AE-AA94-85EB-E4E3E93A444F}"/>
              </a:ext>
            </a:extLst>
          </p:cNvPr>
          <p:cNvSpPr txBox="1">
            <a:spLocks/>
          </p:cNvSpPr>
          <p:nvPr/>
        </p:nvSpPr>
        <p:spPr>
          <a:xfrm>
            <a:off x="3610415" y="2692845"/>
            <a:ext cx="2017293" cy="33541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>
              <a:lnSpc>
                <a:spcPct val="10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 of our current Endpoint Asset Inventory Report with technical information (serial number, OS version, etc.) and cyber posture (complex password, full-disk encryption, antivirus with endpoint protection and response, computer firewall, etc.).</a:t>
            </a:r>
          </a:p>
          <a:p>
            <a:pPr marL="114300" indent="-114300">
              <a:lnSpc>
                <a:spcPct val="100000"/>
              </a:lnSpc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 of an Endpoint Asset Inventory Report dated 1 year ago.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AF9DD0C-766F-7415-1C7F-051A30911C3C}"/>
              </a:ext>
            </a:extLst>
          </p:cNvPr>
          <p:cNvSpPr txBox="1">
            <a:spLocks/>
          </p:cNvSpPr>
          <p:nvPr/>
        </p:nvSpPr>
        <p:spPr>
          <a:xfrm>
            <a:off x="6120857" y="2264159"/>
            <a:ext cx="2474494" cy="4286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indent="-230188"/>
            <a:r>
              <a:rPr lang="en-US" sz="1600" b="0" dirty="0"/>
              <a:t>3. Security Risk Assessment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9B77D00-B1F0-9988-E488-A5064DD9AF08}"/>
              </a:ext>
            </a:extLst>
          </p:cNvPr>
          <p:cNvSpPr txBox="1">
            <a:spLocks/>
          </p:cNvSpPr>
          <p:nvPr/>
        </p:nvSpPr>
        <p:spPr>
          <a:xfrm>
            <a:off x="6320362" y="2692845"/>
            <a:ext cx="2017293" cy="2671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Copy of our latest Security Risk Assessment covering a review of our Cyber Program and a series of technical validation (vulnerability scans, network penetration testing, etc.)</a:t>
            </a:r>
          </a:p>
          <a:p>
            <a:pPr marL="114300" indent="-114300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Our current Corrective and Prevention Plan resulting from the Security Assessment.</a:t>
            </a:r>
          </a:p>
          <a:p>
            <a:pPr marL="114300" indent="-114300"/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EABCB759-7E5A-ECC8-9613-ADAAE2A86DBE}"/>
              </a:ext>
            </a:extLst>
          </p:cNvPr>
          <p:cNvSpPr txBox="1">
            <a:spLocks/>
          </p:cNvSpPr>
          <p:nvPr/>
        </p:nvSpPr>
        <p:spPr>
          <a:xfrm>
            <a:off x="9318337" y="2692844"/>
            <a:ext cx="2474494" cy="4286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SEC Mock Exam Exercise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A62730FA-A974-F8EE-1378-86E4C8C7BFA3}"/>
              </a:ext>
            </a:extLst>
          </p:cNvPr>
          <p:cNvSpPr txBox="1">
            <a:spLocks/>
          </p:cNvSpPr>
          <p:nvPr/>
        </p:nvSpPr>
        <p:spPr>
          <a:xfrm>
            <a:off x="9321265" y="3121530"/>
            <a:ext cx="2017293" cy="2671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-114300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Answer each question of the SEC Mock Exam document published by SEC.</a:t>
            </a:r>
          </a:p>
          <a:p>
            <a:pPr marL="114300" indent="-114300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Present the results to Senior Leadership</a:t>
            </a:r>
          </a:p>
          <a:p>
            <a:pPr marL="114300" indent="-114300">
              <a:buFont typeface="+mj-lt"/>
              <a:buAutoNum type="arabicPeriod"/>
            </a:pP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24" name="Picture 23">
            <a:hlinkClick r:id="rId2"/>
            <a:extLst>
              <a:ext uri="{FF2B5EF4-FFF2-40B4-BE49-F238E27FC236}">
                <a16:creationId xmlns:a16="http://schemas.microsoft.com/office/drawing/2014/main" id="{0DA99A38-AF41-5543-1C09-8026C930B9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736"/>
          <a:stretch/>
        </p:blipFill>
        <p:spPr>
          <a:xfrm>
            <a:off x="9318337" y="4490363"/>
            <a:ext cx="698500" cy="616528"/>
          </a:xfrm>
          <a:prstGeom prst="rect">
            <a:avLst/>
          </a:prstGeom>
        </p:spPr>
      </p:pic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CC3EE58F-E89E-EE70-FBCA-78AA9FD71B66}"/>
              </a:ext>
            </a:extLst>
          </p:cNvPr>
          <p:cNvSpPr txBox="1">
            <a:spLocks/>
          </p:cNvSpPr>
          <p:nvPr/>
        </p:nvSpPr>
        <p:spPr>
          <a:xfrm>
            <a:off x="9121752" y="2264159"/>
            <a:ext cx="2474494" cy="42868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188" indent="-230188"/>
            <a:r>
              <a:rPr lang="en-US" sz="1600" b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4. Optional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2C2646-5D85-80FC-4857-3CC2827B3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6281" y="248606"/>
            <a:ext cx="864553" cy="905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4C8C61-FE7C-4F7E-CD40-3832020D91F7}"/>
              </a:ext>
            </a:extLst>
          </p:cNvPr>
          <p:cNvSpPr txBox="1"/>
          <p:nvPr/>
        </p:nvSpPr>
        <p:spPr>
          <a:xfrm>
            <a:off x="9393382" y="5145464"/>
            <a:ext cx="164876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hlinkClick r:id="rId2"/>
              </a:rPr>
              <a:t>https://</a:t>
            </a:r>
            <a:r>
              <a:rPr lang="en-US" sz="900" dirty="0" err="1">
                <a:hlinkClick r:id="rId2"/>
              </a:rPr>
              <a:t>fcicyber.com</a:t>
            </a:r>
            <a:r>
              <a:rPr lang="en-US" sz="900" dirty="0">
                <a:hlinkClick r:id="rId2"/>
              </a:rPr>
              <a:t>/wp-content/uploads/2023/07/SEC-Sample-</a:t>
            </a:r>
            <a:r>
              <a:rPr lang="en-US" sz="900" dirty="0" err="1">
                <a:hlinkClick r:id="rId2"/>
              </a:rPr>
              <a:t>Exam.pdf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73282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728B7CB0AB0F44AD07F77726D618CF" ma:contentTypeVersion="18" ma:contentTypeDescription="Create a new document." ma:contentTypeScope="" ma:versionID="d64584f67956fb6c7123727cde55f32d">
  <xsd:schema xmlns:xsd="http://www.w3.org/2001/XMLSchema" xmlns:xs="http://www.w3.org/2001/XMLSchema" xmlns:p="http://schemas.microsoft.com/office/2006/metadata/properties" xmlns:ns2="702a17bc-2da2-4fb7-a4fb-c10936b8d7de" xmlns:ns3="7e81ff0a-7b47-4573-8501-a4583f78be9e" targetNamespace="http://schemas.microsoft.com/office/2006/metadata/properties" ma:root="true" ma:fieldsID="7e724edce0b58e36071777a41bee58bd" ns2:_="" ns3:_="">
    <xsd:import namespace="702a17bc-2da2-4fb7-a4fb-c10936b8d7de"/>
    <xsd:import namespace="7e81ff0a-7b47-4573-8501-a4583f78be9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2a17bc-2da2-4fb7-a4fb-c10936b8d7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8a034fc-6895-452d-a915-0a000c850d1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1ff0a-7b47-4573-8501-a4583f78be9e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9d230236-568f-48c0-ac19-1179709fa75a}" ma:internalName="TaxCatchAll" ma:showField="CatchAllData" ma:web="7e81ff0a-7b47-4573-8501-a4583f78be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2a17bc-2da2-4fb7-a4fb-c10936b8d7de">
      <Terms xmlns="http://schemas.microsoft.com/office/infopath/2007/PartnerControls"/>
    </lcf76f155ced4ddcb4097134ff3c332f>
    <TaxCatchAll xmlns="7e81ff0a-7b47-4573-8501-a4583f78be9e" xsi:nil="true"/>
  </documentManagement>
</p:properties>
</file>

<file path=customXml/itemProps1.xml><?xml version="1.0" encoding="utf-8"?>
<ds:datastoreItem xmlns:ds="http://schemas.openxmlformats.org/officeDocument/2006/customXml" ds:itemID="{6A55685F-19BC-4A88-ABEE-41004E393A87}"/>
</file>

<file path=customXml/itemProps2.xml><?xml version="1.0" encoding="utf-8"?>
<ds:datastoreItem xmlns:ds="http://schemas.openxmlformats.org/officeDocument/2006/customXml" ds:itemID="{5F6FA5AD-BED6-41A8-BE32-2B42C800D8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35A5B3A-7F75-4AFE-BF9F-AF0F52F74EC5}">
  <ds:schemaRefs>
    <ds:schemaRef ds:uri="http://purl.org/dc/dcmitype/"/>
    <ds:schemaRef ds:uri="702a17bc-2da2-4fb7-a4fb-c10936b8d7de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7e81ff0a-7b47-4573-8501-a4583f78be9e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microsoft.com/sharepoint/v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8261</TotalTime>
  <Words>203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Inter</vt:lpstr>
      <vt:lpstr>Office Theme</vt:lpstr>
      <vt:lpstr>3 Deliverables to Assess Cybersecurity Compliance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 Senior Leadership &amp; Board of Directors</dc:title>
  <dc:subject/>
  <dc:creator/>
  <cp:keywords/>
  <dc:description/>
  <cp:lastModifiedBy>Vincent Guyaux</cp:lastModifiedBy>
  <cp:revision>5</cp:revision>
  <dcterms:created xsi:type="dcterms:W3CDTF">2023-07-21T12:30:07Z</dcterms:created>
  <dcterms:modified xsi:type="dcterms:W3CDTF">2023-08-07T11:45:42Z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0x01010029728B7CB0AB0F44AD07F77726D618CF</vt:lpwstr>
  </property>
  <property fmtid="{D5CDD505-2E9C-101B-9397-08002B2CF9AE}" pid="3" name="MediaServiceImageTags">
    <vt:lpwstr/>
  </property>
</Properties>
</file>