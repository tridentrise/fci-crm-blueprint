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1231" r:id="rId5"/>
    <p:sldId id="1268" r:id="rId6"/>
    <p:sldId id="1314" r:id="rId7"/>
    <p:sldId id="1316" r:id="rId8"/>
    <p:sldId id="1315" r:id="rId9"/>
    <p:sldId id="131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68A94A-C16B-824E-9D1A-6DD45AAA16C3}" v="1" dt="2026-01-25T13:11:40.6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706"/>
  </p:normalViewPr>
  <p:slideViewPr>
    <p:cSldViewPr snapToGrid="0">
      <p:cViewPr varScale="1">
        <p:scale>
          <a:sx n="166" d="100"/>
          <a:sy n="166" d="100"/>
        </p:scale>
        <p:origin x="22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4A11F-3C18-60F4-62F2-60DC7A70DC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B6F500-D3D6-B6E6-737D-F835FFF2C5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8055F0F-AC73-D569-E229-18C7D6A86368}"/>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5" name="Footer Placeholder 4">
            <a:extLst>
              <a:ext uri="{FF2B5EF4-FFF2-40B4-BE49-F238E27FC236}">
                <a16:creationId xmlns:a16="http://schemas.microsoft.com/office/drawing/2014/main" id="{5757A0C7-CCC6-7975-D3C5-43A051CE4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5314FE-B986-8802-646F-EE24923691E4}"/>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41318022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31A77-2667-DEEE-5C0A-3CF344602F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C47EAF-786E-8B8A-8094-10791C4E8C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A062E3-26E3-4D72-0E78-CE84ED77E69C}"/>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5" name="Footer Placeholder 4">
            <a:extLst>
              <a:ext uri="{FF2B5EF4-FFF2-40B4-BE49-F238E27FC236}">
                <a16:creationId xmlns:a16="http://schemas.microsoft.com/office/drawing/2014/main" id="{2E9C4EA1-8EF8-E052-A8C2-FEE176A913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B006B7-38C4-0FDE-33C2-79457E64751B}"/>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1669313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A419A-1A39-BD89-98A1-4D51A011F6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4A8AC4-75C9-5ED3-0BB0-507B83C9E13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68969E-FF01-47A7-3127-5F62255901C9}"/>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5" name="Footer Placeholder 4">
            <a:extLst>
              <a:ext uri="{FF2B5EF4-FFF2-40B4-BE49-F238E27FC236}">
                <a16:creationId xmlns:a16="http://schemas.microsoft.com/office/drawing/2014/main" id="{73AF1A8A-81CA-5C76-DD4C-D123E12D99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20BAAC-4D45-A86C-3FF9-58AA493943F4}"/>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4074700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C4C96-F19C-A596-65F3-EC239221B5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ED9F50-1E7C-7182-16D7-F52AAA8F38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645776-9CD2-F987-3620-925F8D0076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BD16C9-3B5E-5AAA-481D-154380535290}"/>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6" name="Footer Placeholder 5">
            <a:extLst>
              <a:ext uri="{FF2B5EF4-FFF2-40B4-BE49-F238E27FC236}">
                <a16:creationId xmlns:a16="http://schemas.microsoft.com/office/drawing/2014/main" id="{68F85876-33B2-F5A3-1381-E9DC3A15DD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08CB65-51BC-8501-7F28-EA66772EE09F}"/>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1018777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58CF5-1DAA-EFB2-0A40-BB87097EF4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09058A-9BF1-E60B-A9AA-D330D58499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F2EF99-FA6B-282F-3D59-455BC3C6D6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042F20D-84D4-7A06-2C61-FA3A565EB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DFF5F-9E60-D0C9-F194-E4BC0B93696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8409C64-F9B1-A08E-A62E-E07A4B7631C0}"/>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8" name="Footer Placeholder 7">
            <a:extLst>
              <a:ext uri="{FF2B5EF4-FFF2-40B4-BE49-F238E27FC236}">
                <a16:creationId xmlns:a16="http://schemas.microsoft.com/office/drawing/2014/main" id="{022FB35A-597E-7CCC-6384-48521F3049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3EA8BA-F4A9-8A79-E911-385E9020F2DD}"/>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3440695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07D6E-9B34-2187-28F3-F20FCDBC04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6A6FC8-2C38-52F0-BD48-9DFF133D2FF7}"/>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4" name="Footer Placeholder 3">
            <a:extLst>
              <a:ext uri="{FF2B5EF4-FFF2-40B4-BE49-F238E27FC236}">
                <a16:creationId xmlns:a16="http://schemas.microsoft.com/office/drawing/2014/main" id="{52EAC9AB-F767-869C-8882-23E383332E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4F5762-B873-B4BE-0D9E-C08A70A4F8CF}"/>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2237516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E0E700-91A8-4C9A-E599-DC9F2773C5A5}"/>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3" name="Footer Placeholder 2">
            <a:extLst>
              <a:ext uri="{FF2B5EF4-FFF2-40B4-BE49-F238E27FC236}">
                <a16:creationId xmlns:a16="http://schemas.microsoft.com/office/drawing/2014/main" id="{41C744E9-1551-A0CF-7124-DF10706E28E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9F65E4-B152-0EF9-0DD3-9EEF22E762A5}"/>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20218467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A10DF-CC18-5455-CD44-F398E510EF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C2663A-FAED-ED42-BFDA-ADCD40E0C2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18423B-5E99-50EA-55FA-04AEB8651F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879042-6434-3F7F-DEAB-3A38BEAB49FF}"/>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6" name="Footer Placeholder 5">
            <a:extLst>
              <a:ext uri="{FF2B5EF4-FFF2-40B4-BE49-F238E27FC236}">
                <a16:creationId xmlns:a16="http://schemas.microsoft.com/office/drawing/2014/main" id="{2A6D2FB6-875B-7AB0-7435-CE172204A7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635786-327C-CA54-43DC-FE669910B4AC}"/>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91387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49A3C-6947-3181-3F6D-0A93B021DF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AB351D-2988-7AFB-C0B7-7FBD498B18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2138F14-BDC4-7B7F-972D-ED6456D0C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12BC76-2ABF-0F36-8601-C93B3F4693B6}"/>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6" name="Footer Placeholder 5">
            <a:extLst>
              <a:ext uri="{FF2B5EF4-FFF2-40B4-BE49-F238E27FC236}">
                <a16:creationId xmlns:a16="http://schemas.microsoft.com/office/drawing/2014/main" id="{512198C6-26E2-B747-FB3C-A941E11D0C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B9003B-2CAE-9A14-5D34-5ACB73E729C2}"/>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988412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E0D42-80AB-723F-F877-DAE66271E66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DF64C36-44A3-062E-22BF-1C057F8149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3D7F35-8A2E-D095-AA41-0473A30C3CE8}"/>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5" name="Footer Placeholder 4">
            <a:extLst>
              <a:ext uri="{FF2B5EF4-FFF2-40B4-BE49-F238E27FC236}">
                <a16:creationId xmlns:a16="http://schemas.microsoft.com/office/drawing/2014/main" id="{1B2D3B98-576E-00A8-8314-5FCE891630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CF62B1-40E1-4C20-4E62-5CB174080968}"/>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592207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490DC2-0C66-1717-F4CE-7545A2C386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19EF0D-A52E-7749-327D-0CD40EA838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D52460-3E89-0E19-8929-5CEADB39237C}"/>
              </a:ext>
            </a:extLst>
          </p:cNvPr>
          <p:cNvSpPr>
            <a:spLocks noGrp="1"/>
          </p:cNvSpPr>
          <p:nvPr>
            <p:ph type="dt" sz="half" idx="10"/>
          </p:nvPr>
        </p:nvSpPr>
        <p:spPr/>
        <p:txBody>
          <a:bodyPr/>
          <a:lstStyle/>
          <a:p>
            <a:fld id="{A2890FDA-B00E-0847-A336-1BD1BD93219E}" type="datetimeFigureOut">
              <a:rPr lang="en-US" smtClean="0"/>
              <a:t>1/25/26</a:t>
            </a:fld>
            <a:endParaRPr lang="en-US"/>
          </a:p>
        </p:txBody>
      </p:sp>
      <p:sp>
        <p:nvSpPr>
          <p:cNvPr id="5" name="Footer Placeholder 4">
            <a:extLst>
              <a:ext uri="{FF2B5EF4-FFF2-40B4-BE49-F238E27FC236}">
                <a16:creationId xmlns:a16="http://schemas.microsoft.com/office/drawing/2014/main" id="{4CD94E0B-D8F0-43D6-84F7-4177753D72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9E0449-8572-7325-DAE9-B1CAFD5574CC}"/>
              </a:ext>
            </a:extLst>
          </p:cNvPr>
          <p:cNvSpPr>
            <a:spLocks noGrp="1"/>
          </p:cNvSpPr>
          <p:nvPr>
            <p:ph type="sldNum" sz="quarter" idx="12"/>
          </p:nvPr>
        </p:nvSpPr>
        <p:spPr/>
        <p:txBody>
          <a:bodyPr/>
          <a:lstStyle/>
          <a:p>
            <a:fld id="{8A02D169-89BB-5240-AC7B-48E8A0B360F4}" type="slidenum">
              <a:rPr lang="en-US" smtClean="0"/>
              <a:t>‹#›</a:t>
            </a:fld>
            <a:endParaRPr lang="en-US"/>
          </a:p>
        </p:txBody>
      </p:sp>
    </p:spTree>
    <p:extLst>
      <p:ext uri="{BB962C8B-B14F-4D97-AF65-F5344CB8AC3E}">
        <p14:creationId xmlns:p14="http://schemas.microsoft.com/office/powerpoint/2010/main" val="3308060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E7B791-2753-7971-D8B5-38AC28FE16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69CD4E-8A54-101C-C284-3E4AA0C8E3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6E8742-1E9C-2EBD-F5E1-4C6D205D9E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890FDA-B00E-0847-A336-1BD1BD93219E}" type="datetimeFigureOut">
              <a:rPr lang="en-US" smtClean="0"/>
              <a:t>1/25/26</a:t>
            </a:fld>
            <a:endParaRPr lang="en-US"/>
          </a:p>
        </p:txBody>
      </p:sp>
      <p:sp>
        <p:nvSpPr>
          <p:cNvPr id="5" name="Footer Placeholder 4">
            <a:extLst>
              <a:ext uri="{FF2B5EF4-FFF2-40B4-BE49-F238E27FC236}">
                <a16:creationId xmlns:a16="http://schemas.microsoft.com/office/drawing/2014/main" id="{CD4DD40F-DB7A-0049-D86C-919FCF1E00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F58DC12-8D43-0C50-4061-61679A88F3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A02D169-89BB-5240-AC7B-48E8A0B360F4}" type="slidenum">
              <a:rPr lang="en-US" smtClean="0"/>
              <a:t>‹#›</a:t>
            </a:fld>
            <a:endParaRPr lang="en-US"/>
          </a:p>
        </p:txBody>
      </p:sp>
    </p:spTree>
    <p:extLst>
      <p:ext uri="{BB962C8B-B14F-4D97-AF65-F5344CB8AC3E}">
        <p14:creationId xmlns:p14="http://schemas.microsoft.com/office/powerpoint/2010/main" val="26035788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DCEA0-8CB6-E988-0FBA-8C6B57394F66}"/>
            </a:ext>
          </a:extLst>
        </p:cNvPr>
        <p:cNvGrpSpPr/>
        <p:nvPr/>
      </p:nvGrpSpPr>
      <p:grpSpPr>
        <a:xfrm>
          <a:off x="0" y="0"/>
          <a:ext cx="0" cy="0"/>
          <a:chOff x="0" y="0"/>
          <a:chExt cx="0" cy="0"/>
        </a:xfrm>
      </p:grpSpPr>
      <p:pic>
        <p:nvPicPr>
          <p:cNvPr id="33" name="Graphic 32">
            <a:extLst>
              <a:ext uri="{FF2B5EF4-FFF2-40B4-BE49-F238E27FC236}">
                <a16:creationId xmlns:a16="http://schemas.microsoft.com/office/drawing/2014/main" id="{90D47EF2-9A31-C023-A460-A2E62E9B96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7065" y="5781110"/>
            <a:ext cx="5143500" cy="832379"/>
          </a:xfrm>
          <a:prstGeom prst="rect">
            <a:avLst/>
          </a:prstGeom>
        </p:spPr>
      </p:pic>
      <p:pic>
        <p:nvPicPr>
          <p:cNvPr id="6" name="Picture 5" descr="A red shield with white text&#10;&#10;Description automatically generated">
            <a:extLst>
              <a:ext uri="{FF2B5EF4-FFF2-40B4-BE49-F238E27FC236}">
                <a16:creationId xmlns:a16="http://schemas.microsoft.com/office/drawing/2014/main" id="{0AF3B5A3-E44E-76EC-A6EF-DF29650C9A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5256" y="908572"/>
            <a:ext cx="1629178" cy="1629178"/>
          </a:xfrm>
          <a:prstGeom prst="rect">
            <a:avLst/>
          </a:prstGeom>
        </p:spPr>
      </p:pic>
      <p:pic>
        <p:nvPicPr>
          <p:cNvPr id="16" name="Picture 15">
            <a:extLst>
              <a:ext uri="{FF2B5EF4-FFF2-40B4-BE49-F238E27FC236}">
                <a16:creationId xmlns:a16="http://schemas.microsoft.com/office/drawing/2014/main" id="{73F99275-62BD-C156-04DB-3D7077B0DC8D}"/>
              </a:ext>
            </a:extLst>
          </p:cNvPr>
          <p:cNvPicPr>
            <a:picLocks noChangeAspect="1"/>
          </p:cNvPicPr>
          <p:nvPr/>
        </p:nvPicPr>
        <p:blipFill>
          <a:blip r:embed="rId5"/>
          <a:stretch>
            <a:fillRect/>
          </a:stretch>
        </p:blipFill>
        <p:spPr>
          <a:xfrm>
            <a:off x="11111078" y="5947418"/>
            <a:ext cx="640115" cy="631346"/>
          </a:xfrm>
          <a:prstGeom prst="rect">
            <a:avLst/>
          </a:prstGeom>
        </p:spPr>
      </p:pic>
      <p:pic>
        <p:nvPicPr>
          <p:cNvPr id="19" name="Picture 18">
            <a:extLst>
              <a:ext uri="{FF2B5EF4-FFF2-40B4-BE49-F238E27FC236}">
                <a16:creationId xmlns:a16="http://schemas.microsoft.com/office/drawing/2014/main" id="{0BDA6E22-6638-2B36-EA08-72C450E09144}"/>
              </a:ext>
            </a:extLst>
          </p:cNvPr>
          <p:cNvPicPr>
            <a:picLocks noChangeAspect="1"/>
          </p:cNvPicPr>
          <p:nvPr/>
        </p:nvPicPr>
        <p:blipFill>
          <a:blip r:embed="rId6"/>
          <a:stretch>
            <a:fillRect/>
          </a:stretch>
        </p:blipFill>
        <p:spPr>
          <a:xfrm>
            <a:off x="11140025" y="4908814"/>
            <a:ext cx="579295" cy="762230"/>
          </a:xfrm>
          <a:prstGeom prst="rect">
            <a:avLst/>
          </a:prstGeom>
        </p:spPr>
      </p:pic>
      <p:pic>
        <p:nvPicPr>
          <p:cNvPr id="20" name="Picture 19">
            <a:extLst>
              <a:ext uri="{FF2B5EF4-FFF2-40B4-BE49-F238E27FC236}">
                <a16:creationId xmlns:a16="http://schemas.microsoft.com/office/drawing/2014/main" id="{98CD9731-CEF0-47D4-E168-7C773F4C6E23}"/>
              </a:ext>
            </a:extLst>
          </p:cNvPr>
          <p:cNvPicPr>
            <a:picLocks noChangeAspect="1"/>
          </p:cNvPicPr>
          <p:nvPr/>
        </p:nvPicPr>
        <p:blipFill>
          <a:blip r:embed="rId7"/>
          <a:stretch>
            <a:fillRect/>
          </a:stretch>
        </p:blipFill>
        <p:spPr>
          <a:xfrm>
            <a:off x="11096423" y="3858614"/>
            <a:ext cx="628356" cy="826784"/>
          </a:xfrm>
          <a:prstGeom prst="rect">
            <a:avLst/>
          </a:prstGeom>
        </p:spPr>
      </p:pic>
      <p:pic>
        <p:nvPicPr>
          <p:cNvPr id="2" name="Picture 1">
            <a:extLst>
              <a:ext uri="{FF2B5EF4-FFF2-40B4-BE49-F238E27FC236}">
                <a16:creationId xmlns:a16="http://schemas.microsoft.com/office/drawing/2014/main" id="{A57FE4EA-392A-2C5C-9D0B-AAA96E000A7B}"/>
              </a:ext>
            </a:extLst>
          </p:cNvPr>
          <p:cNvPicPr>
            <a:picLocks noChangeAspect="1"/>
          </p:cNvPicPr>
          <p:nvPr/>
        </p:nvPicPr>
        <p:blipFill>
          <a:blip r:embed="rId8"/>
          <a:stretch>
            <a:fillRect/>
          </a:stretch>
        </p:blipFill>
        <p:spPr>
          <a:xfrm>
            <a:off x="0" y="3800305"/>
            <a:ext cx="10370916" cy="3065894"/>
          </a:xfrm>
          <a:prstGeom prst="rect">
            <a:avLst/>
          </a:prstGeom>
        </p:spPr>
      </p:pic>
      <p:sp>
        <p:nvSpPr>
          <p:cNvPr id="3" name="TextBox 2">
            <a:extLst>
              <a:ext uri="{FF2B5EF4-FFF2-40B4-BE49-F238E27FC236}">
                <a16:creationId xmlns:a16="http://schemas.microsoft.com/office/drawing/2014/main" id="{04C68A64-8E77-4B03-57BF-1E43C0346654}"/>
              </a:ext>
            </a:extLst>
          </p:cNvPr>
          <p:cNvSpPr txBox="1"/>
          <p:nvPr/>
        </p:nvSpPr>
        <p:spPr>
          <a:xfrm>
            <a:off x="736655" y="4308937"/>
            <a:ext cx="9171273" cy="2185214"/>
          </a:xfrm>
          <a:prstGeom prst="rect">
            <a:avLst/>
          </a:prstGeom>
          <a:noFill/>
        </p:spPr>
        <p:txBody>
          <a:bodyPr wrap="square" rtlCol="0">
            <a:spAutoFit/>
          </a:bodyPr>
          <a:lstStyle/>
          <a:p>
            <a:r>
              <a:rPr lang="en-US" sz="8800" dirty="0">
                <a:solidFill>
                  <a:schemeClr val="bg1"/>
                </a:solidFill>
              </a:rPr>
              <a:t>Always-On-VPN</a:t>
            </a:r>
          </a:p>
          <a:p>
            <a:r>
              <a:rPr lang="en-US" sz="4800" dirty="0">
                <a:solidFill>
                  <a:schemeClr val="bg1"/>
                </a:solidFill>
              </a:rPr>
              <a:t>With Cloud-Based Firewall</a:t>
            </a:r>
            <a:endParaRPr lang="en-US" sz="7200" dirty="0">
              <a:solidFill>
                <a:schemeClr val="bg1"/>
              </a:solidFill>
            </a:endParaRPr>
          </a:p>
        </p:txBody>
      </p:sp>
    </p:spTree>
    <p:extLst>
      <p:ext uri="{BB962C8B-B14F-4D97-AF65-F5344CB8AC3E}">
        <p14:creationId xmlns:p14="http://schemas.microsoft.com/office/powerpoint/2010/main" val="2623547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CC83-ECDE-8BED-FE0C-75E6522683F6}"/>
              </a:ext>
            </a:extLst>
          </p:cNvPr>
          <p:cNvSpPr>
            <a:spLocks noGrp="1"/>
          </p:cNvSpPr>
          <p:nvPr>
            <p:ph type="title"/>
          </p:nvPr>
        </p:nvSpPr>
        <p:spPr/>
        <p:txBody>
          <a:bodyPr>
            <a:normAutofit/>
          </a:bodyPr>
          <a:lstStyle/>
          <a:p>
            <a:r>
              <a:rPr lang="en-US" sz="4000" dirty="0"/>
              <a:t>Always-On-VPN with Cloud-Based Firewall</a:t>
            </a:r>
          </a:p>
        </p:txBody>
      </p:sp>
      <p:sp>
        <p:nvSpPr>
          <p:cNvPr id="3" name="Content Placeholder 2">
            <a:extLst>
              <a:ext uri="{FF2B5EF4-FFF2-40B4-BE49-F238E27FC236}">
                <a16:creationId xmlns:a16="http://schemas.microsoft.com/office/drawing/2014/main" id="{711EB716-6E1B-7254-A0D9-24F707F456BD}"/>
              </a:ext>
            </a:extLst>
          </p:cNvPr>
          <p:cNvSpPr>
            <a:spLocks noGrp="1"/>
          </p:cNvSpPr>
          <p:nvPr>
            <p:ph idx="1"/>
          </p:nvPr>
        </p:nvSpPr>
        <p:spPr>
          <a:xfrm>
            <a:off x="838200" y="1825625"/>
            <a:ext cx="4110728" cy="4351338"/>
          </a:xfrm>
        </p:spPr>
        <p:txBody>
          <a:bodyPr>
            <a:normAutofit fontScale="92500" lnSpcReduction="10000"/>
          </a:bodyPr>
          <a:lstStyle/>
          <a:p>
            <a:pPr marL="0" indent="0">
              <a:lnSpc>
                <a:spcPct val="110000"/>
              </a:lnSpc>
              <a:buNone/>
            </a:pPr>
            <a:r>
              <a:rPr lang="en-US" sz="2400" dirty="0"/>
              <a:t>Always-On VPN and Secure Access Service Edge (SASE) for Secure Remote Network Communications with Conditional Access</a:t>
            </a:r>
          </a:p>
          <a:p>
            <a:r>
              <a:rPr lang="en-US" sz="2000" dirty="0"/>
              <a:t>Cloud-Based Next-Generation Firewall</a:t>
            </a:r>
          </a:p>
          <a:p>
            <a:r>
              <a:rPr lang="en-US" sz="2000" dirty="0"/>
              <a:t>Secure Web Gateway</a:t>
            </a:r>
          </a:p>
          <a:p>
            <a:r>
              <a:rPr lang="en-US" sz="2000" dirty="0"/>
              <a:t>Full SSL Inspection</a:t>
            </a:r>
          </a:p>
          <a:p>
            <a:r>
              <a:rPr lang="en-US" sz="2000" dirty="0"/>
              <a:t>Intrusion Prevention System (IPS)</a:t>
            </a:r>
          </a:p>
          <a:p>
            <a:r>
              <a:rPr lang="en-US" sz="2000" dirty="0"/>
              <a:t>URL and Content Filtering</a:t>
            </a:r>
          </a:p>
          <a:p>
            <a:r>
              <a:rPr lang="en-US" sz="2000" dirty="0"/>
              <a:t>Log retention</a:t>
            </a:r>
          </a:p>
        </p:txBody>
      </p:sp>
      <p:pic>
        <p:nvPicPr>
          <p:cNvPr id="4" name="Google Shape;14;p2">
            <a:extLst>
              <a:ext uri="{FF2B5EF4-FFF2-40B4-BE49-F238E27FC236}">
                <a16:creationId xmlns:a16="http://schemas.microsoft.com/office/drawing/2014/main" id="{2B5F3F4E-C62D-6207-2B2C-89056E482910}"/>
              </a:ext>
            </a:extLst>
          </p:cNvPr>
          <p:cNvPicPr preferRelativeResize="0"/>
          <p:nvPr/>
        </p:nvPicPr>
        <p:blipFill rotWithShape="1">
          <a:blip r:embed="rId2" cstate="print">
            <a:alphaModFix/>
            <a:extLst>
              <a:ext uri="{28A0092B-C50C-407E-A947-70E740481C1C}">
                <a14:useLocalDpi xmlns:a14="http://schemas.microsoft.com/office/drawing/2010/main"/>
              </a:ext>
            </a:extLst>
          </a:blip>
          <a:srcRect/>
          <a:stretch/>
        </p:blipFill>
        <p:spPr>
          <a:xfrm>
            <a:off x="10897985" y="612777"/>
            <a:ext cx="752422" cy="830258"/>
          </a:xfrm>
          <a:prstGeom prst="rect">
            <a:avLst/>
          </a:prstGeom>
          <a:noFill/>
          <a:ln>
            <a:noFill/>
          </a:ln>
        </p:spPr>
      </p:pic>
      <p:sp>
        <p:nvSpPr>
          <p:cNvPr id="7" name="Content Placeholder 2">
            <a:extLst>
              <a:ext uri="{FF2B5EF4-FFF2-40B4-BE49-F238E27FC236}">
                <a16:creationId xmlns:a16="http://schemas.microsoft.com/office/drawing/2014/main" id="{AB03033A-717F-B690-4913-190EA3074A85}"/>
              </a:ext>
            </a:extLst>
          </p:cNvPr>
          <p:cNvSpPr txBox="1">
            <a:spLocks/>
          </p:cNvSpPr>
          <p:nvPr/>
        </p:nvSpPr>
        <p:spPr>
          <a:xfrm>
            <a:off x="6708509" y="1825625"/>
            <a:ext cx="4110728"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t>Benefits</a:t>
            </a:r>
            <a:endParaRPr lang="en-US" sz="2000" dirty="0"/>
          </a:p>
          <a:p>
            <a:r>
              <a:rPr lang="en-US" sz="2000" dirty="0"/>
              <a:t>Automatically installed by </a:t>
            </a:r>
            <a:r>
              <a:rPr lang="en-US" sz="2000" dirty="0" err="1"/>
              <a:t>Protectit</a:t>
            </a:r>
            <a:endParaRPr lang="en-US" sz="2000" dirty="0"/>
          </a:p>
          <a:p>
            <a:r>
              <a:rPr lang="en-US" sz="2000" dirty="0"/>
              <a:t>No user management is required</a:t>
            </a:r>
          </a:p>
          <a:p>
            <a:r>
              <a:rPr lang="en-US" sz="2000" dirty="0"/>
              <a:t>Tamper Protection (cannot be uninstalled)</a:t>
            </a:r>
          </a:p>
          <a:p>
            <a:r>
              <a:rPr lang="en-US" sz="2000" dirty="0"/>
              <a:t>Always-On: with an option to allow users to disable it for a period of time (back on automatically)</a:t>
            </a:r>
          </a:p>
          <a:p>
            <a:endParaRPr lang="en-US" sz="2000" dirty="0"/>
          </a:p>
          <a:p>
            <a:pPr marL="0" indent="0">
              <a:buNone/>
            </a:pPr>
            <a:r>
              <a:rPr lang="en-US" sz="2400" dirty="0"/>
              <a:t>Advanced Configuration available for remote access </a:t>
            </a:r>
          </a:p>
        </p:txBody>
      </p:sp>
    </p:spTree>
    <p:extLst>
      <p:ext uri="{BB962C8B-B14F-4D97-AF65-F5344CB8AC3E}">
        <p14:creationId xmlns:p14="http://schemas.microsoft.com/office/powerpoint/2010/main" val="4220154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F261B-EFAE-0F55-89B5-82BF405E46D5}"/>
              </a:ext>
            </a:extLst>
          </p:cNvPr>
          <p:cNvSpPr>
            <a:spLocks noGrp="1"/>
          </p:cNvSpPr>
          <p:nvPr>
            <p:ph type="title"/>
          </p:nvPr>
        </p:nvSpPr>
        <p:spPr/>
        <p:txBody>
          <a:bodyPr>
            <a:normAutofit/>
          </a:bodyPr>
          <a:lstStyle/>
          <a:p>
            <a:r>
              <a:rPr lang="en-US" sz="4000" dirty="0"/>
              <a:t>Always-On-VPN with Cloud-Based Firewall</a:t>
            </a:r>
          </a:p>
        </p:txBody>
      </p:sp>
      <p:sp>
        <p:nvSpPr>
          <p:cNvPr id="3" name="Content Placeholder 2">
            <a:extLst>
              <a:ext uri="{FF2B5EF4-FFF2-40B4-BE49-F238E27FC236}">
                <a16:creationId xmlns:a16="http://schemas.microsoft.com/office/drawing/2014/main" id="{F138B225-2542-DCBB-B7D0-79CDB170E3A4}"/>
              </a:ext>
            </a:extLst>
          </p:cNvPr>
          <p:cNvSpPr>
            <a:spLocks noGrp="1"/>
          </p:cNvSpPr>
          <p:nvPr>
            <p:ph idx="1"/>
          </p:nvPr>
        </p:nvSpPr>
        <p:spPr/>
        <p:txBody>
          <a:bodyPr>
            <a:normAutofit fontScale="55000" lnSpcReduction="20000"/>
          </a:bodyPr>
          <a:lstStyle/>
          <a:p>
            <a:pPr marL="0" indent="0">
              <a:lnSpc>
                <a:spcPct val="120000"/>
              </a:lnSpc>
              <a:buNone/>
            </a:pPr>
            <a:r>
              <a:rPr lang="en-US" dirty="0"/>
              <a:t>Always-On VPN with Cloud-Based Firewall (SASE) provides secure remote network communications by routing user traffic through a centralized cloud security service instead of relying on an on-premises firewall. The VPN is designed to stay active whenever the Device is online, reducing exposure caused by users forgetting to connect and ensuring consistent enforcement for remote and roaming users. With optional advanced configuration, the service can also support conditional access so only Devices meeting defined security conditions can access Firm resources.</a:t>
            </a:r>
          </a:p>
          <a:p>
            <a:pPr marL="0" indent="0">
              <a:lnSpc>
                <a:spcPct val="120000"/>
              </a:lnSpc>
              <a:buNone/>
            </a:pPr>
            <a:r>
              <a:rPr lang="en-US" dirty="0"/>
              <a:t>Once traffic is routed through the service, cloud-delivered security controls provide capabilities typically expected from a modern firewall stack, including next-generation firewall controls, secure web gateway protections, intrusion prevention (IPS), URL and content filtering, and full SSL inspection where required and appropriate. Centralized policy management allows changes to be applied consistently across users and Devices, and centralized logging with defined retention supports audit needs, monitoring, and incident investigations.</a:t>
            </a:r>
          </a:p>
          <a:p>
            <a:pPr marL="0" indent="0">
              <a:lnSpc>
                <a:spcPct val="120000"/>
              </a:lnSpc>
              <a:buNone/>
            </a:pPr>
            <a:r>
              <a:rPr lang="en-US" dirty="0"/>
              <a:t>Operationally, the offering is designed to minimize user administration. The software is installed automatically via FCI </a:t>
            </a:r>
            <a:r>
              <a:rPr lang="en-US" dirty="0" err="1"/>
              <a:t>Protectit</a:t>
            </a:r>
            <a:r>
              <a:rPr lang="en-US" dirty="0"/>
              <a:t>, and tamper protection helps prevent users from disabling protections; if temporary disablement is permitted, it is time-limited and re-enables automatically. Compared to basic commercial VPNs that primarily provide encryption, this approach adds security inspection, policy enforcement, and logging aligned with regulated environment expectations.</a:t>
            </a:r>
          </a:p>
        </p:txBody>
      </p:sp>
      <p:pic>
        <p:nvPicPr>
          <p:cNvPr id="4" name="Google Shape;14;p2">
            <a:extLst>
              <a:ext uri="{FF2B5EF4-FFF2-40B4-BE49-F238E27FC236}">
                <a16:creationId xmlns:a16="http://schemas.microsoft.com/office/drawing/2014/main" id="{87410318-18B3-39F4-F03F-5D10F333F480}"/>
              </a:ext>
            </a:extLst>
          </p:cNvPr>
          <p:cNvPicPr preferRelativeResize="0"/>
          <p:nvPr/>
        </p:nvPicPr>
        <p:blipFill rotWithShape="1">
          <a:blip r:embed="rId2" cstate="print">
            <a:alphaModFix/>
            <a:extLst>
              <a:ext uri="{28A0092B-C50C-407E-A947-70E740481C1C}">
                <a14:useLocalDpi xmlns:a14="http://schemas.microsoft.com/office/drawing/2010/main"/>
              </a:ext>
            </a:extLst>
          </a:blip>
          <a:srcRect/>
          <a:stretch/>
        </p:blipFill>
        <p:spPr>
          <a:xfrm>
            <a:off x="10897985" y="612777"/>
            <a:ext cx="752422" cy="830258"/>
          </a:xfrm>
          <a:prstGeom prst="rect">
            <a:avLst/>
          </a:prstGeom>
          <a:noFill/>
          <a:ln>
            <a:noFill/>
          </a:ln>
        </p:spPr>
      </p:pic>
    </p:spTree>
    <p:extLst>
      <p:ext uri="{BB962C8B-B14F-4D97-AF65-F5344CB8AC3E}">
        <p14:creationId xmlns:p14="http://schemas.microsoft.com/office/powerpoint/2010/main" val="763227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527C-162E-714C-B73B-F3EB10BF4BA9}"/>
              </a:ext>
            </a:extLst>
          </p:cNvPr>
          <p:cNvSpPr>
            <a:spLocks noGrp="1"/>
          </p:cNvSpPr>
          <p:nvPr>
            <p:ph type="title"/>
          </p:nvPr>
        </p:nvSpPr>
        <p:spPr>
          <a:xfrm>
            <a:off x="348006" y="269496"/>
            <a:ext cx="10515600" cy="716387"/>
          </a:xfrm>
        </p:spPr>
        <p:txBody>
          <a:bodyPr>
            <a:normAutofit/>
          </a:bodyPr>
          <a:lstStyle/>
          <a:p>
            <a:r>
              <a:rPr lang="en-US" sz="3600" dirty="0"/>
              <a:t>VPN Selection Criteria</a:t>
            </a:r>
          </a:p>
        </p:txBody>
      </p:sp>
      <p:graphicFrame>
        <p:nvGraphicFramePr>
          <p:cNvPr id="4" name="Table 3">
            <a:extLst>
              <a:ext uri="{FF2B5EF4-FFF2-40B4-BE49-F238E27FC236}">
                <a16:creationId xmlns:a16="http://schemas.microsoft.com/office/drawing/2014/main" id="{D21C6E93-4EF4-90ED-EA32-F20A8E9E2710}"/>
              </a:ext>
            </a:extLst>
          </p:cNvPr>
          <p:cNvGraphicFramePr>
            <a:graphicFrameLocks noGrp="1"/>
          </p:cNvGraphicFramePr>
          <p:nvPr/>
        </p:nvGraphicFramePr>
        <p:xfrm>
          <a:off x="283437" y="1028001"/>
          <a:ext cx="11588838" cy="5630026"/>
        </p:xfrm>
        <a:graphic>
          <a:graphicData uri="http://schemas.openxmlformats.org/drawingml/2006/table">
            <a:tbl>
              <a:tblPr firstRow="1" bandRow="1">
                <a:tableStyleId>{F5AB1C69-6EDB-4FF4-983F-18BD219EF322}</a:tableStyleId>
              </a:tblPr>
              <a:tblGrid>
                <a:gridCol w="3214182">
                  <a:extLst>
                    <a:ext uri="{9D8B030D-6E8A-4147-A177-3AD203B41FA5}">
                      <a16:colId xmlns:a16="http://schemas.microsoft.com/office/drawing/2014/main" val="3630083560"/>
                    </a:ext>
                  </a:extLst>
                </a:gridCol>
                <a:gridCol w="2791552">
                  <a:extLst>
                    <a:ext uri="{9D8B030D-6E8A-4147-A177-3AD203B41FA5}">
                      <a16:colId xmlns:a16="http://schemas.microsoft.com/office/drawing/2014/main" val="1031742491"/>
                    </a:ext>
                  </a:extLst>
                </a:gridCol>
                <a:gridCol w="2791552">
                  <a:extLst>
                    <a:ext uri="{9D8B030D-6E8A-4147-A177-3AD203B41FA5}">
                      <a16:colId xmlns:a16="http://schemas.microsoft.com/office/drawing/2014/main" val="3128444885"/>
                    </a:ext>
                  </a:extLst>
                </a:gridCol>
                <a:gridCol w="2791552">
                  <a:extLst>
                    <a:ext uri="{9D8B030D-6E8A-4147-A177-3AD203B41FA5}">
                      <a16:colId xmlns:a16="http://schemas.microsoft.com/office/drawing/2014/main" val="3622852742"/>
                    </a:ext>
                  </a:extLst>
                </a:gridCol>
              </a:tblGrid>
              <a:tr h="641231">
                <a:tc>
                  <a:txBody>
                    <a:bodyPr/>
                    <a:lstStyle/>
                    <a:p>
                      <a:endParaRPr lang="en-US" sz="1200" dirty="0"/>
                    </a:p>
                  </a:txBody>
                  <a:tcPr>
                    <a:solidFill>
                      <a:srgbClr val="0162FF"/>
                    </a:solidFill>
                  </a:tcPr>
                </a:tc>
                <a:tc>
                  <a:txBody>
                    <a:bodyPr/>
                    <a:lstStyle/>
                    <a:p>
                      <a:pPr algn="ctr"/>
                      <a:r>
                        <a:rPr lang="en-US" sz="1600" dirty="0"/>
                        <a:t>Local Hardware Firewall</a:t>
                      </a:r>
                    </a:p>
                    <a:p>
                      <a:pPr algn="ctr"/>
                      <a:r>
                        <a:rPr lang="en-US" sz="1600" dirty="0"/>
                        <a:t>with Gateway VPN</a:t>
                      </a:r>
                    </a:p>
                  </a:txBody>
                  <a:tcPr anchor="b">
                    <a:solidFill>
                      <a:srgbClr val="0162FF"/>
                    </a:solidFill>
                  </a:tcPr>
                </a:tc>
                <a:tc>
                  <a:txBody>
                    <a:bodyPr/>
                    <a:lstStyle/>
                    <a:p>
                      <a:pPr algn="ctr"/>
                      <a:r>
                        <a:rPr lang="en-US" sz="1600" dirty="0"/>
                        <a:t>Retail VPN</a:t>
                      </a:r>
                      <a:br>
                        <a:rPr lang="en-US" sz="1600" dirty="0"/>
                      </a:br>
                      <a:r>
                        <a:rPr lang="en-US" sz="1600" dirty="0"/>
                        <a:t>(example: </a:t>
                      </a:r>
                      <a:r>
                        <a:rPr lang="en-US" sz="1600" dirty="0" err="1"/>
                        <a:t>NordVPN</a:t>
                      </a:r>
                      <a:r>
                        <a:rPr lang="en-US" sz="1600" dirty="0"/>
                        <a:t>)</a:t>
                      </a:r>
                    </a:p>
                  </a:txBody>
                  <a:tcPr anchor="b">
                    <a:solidFill>
                      <a:srgbClr val="0162FF"/>
                    </a:solidFill>
                  </a:tcPr>
                </a:tc>
                <a:tc>
                  <a:txBody>
                    <a:bodyPr/>
                    <a:lstStyle/>
                    <a:p>
                      <a:pPr algn="ctr"/>
                      <a:r>
                        <a:rPr lang="en-US" sz="1600" dirty="0"/>
                        <a:t>Cloud-Based Firewall</a:t>
                      </a:r>
                      <a:br>
                        <a:rPr lang="en-US" sz="1600" dirty="0"/>
                      </a:br>
                      <a:r>
                        <a:rPr lang="en-US" sz="1600" dirty="0"/>
                        <a:t>with Always-on VPN</a:t>
                      </a:r>
                    </a:p>
                  </a:txBody>
                  <a:tcPr anchor="b">
                    <a:solidFill>
                      <a:srgbClr val="0162FF"/>
                    </a:solidFill>
                  </a:tcPr>
                </a:tc>
                <a:extLst>
                  <a:ext uri="{0D108BD9-81ED-4DB2-BD59-A6C34878D82A}">
                    <a16:rowId xmlns:a16="http://schemas.microsoft.com/office/drawing/2014/main" val="1837661827"/>
                  </a:ext>
                </a:extLst>
              </a:tr>
              <a:tr h="269992">
                <a:tc>
                  <a:txBody>
                    <a:bodyPr/>
                    <a:lstStyle/>
                    <a:p>
                      <a:r>
                        <a:rPr lang="en-US" sz="1000" dirty="0"/>
                        <a:t>Managed Service</a:t>
                      </a:r>
                    </a:p>
                  </a:txBody>
                  <a:tcPr anchor="ctr"/>
                </a:tc>
                <a:tc>
                  <a:txBody>
                    <a:bodyPr/>
                    <a:lstStyle/>
                    <a:p>
                      <a:pPr algn="ctr"/>
                      <a:r>
                        <a:rPr lang="en-US" sz="1000" dirty="0"/>
                        <a:t>No</a:t>
                      </a:r>
                    </a:p>
                  </a:txBody>
                  <a:tcPr anchor="ctr"/>
                </a:tc>
                <a:tc>
                  <a:txBody>
                    <a:bodyPr/>
                    <a:lstStyle/>
                    <a:p>
                      <a:pPr algn="ctr"/>
                      <a:r>
                        <a:rPr lang="en-US" sz="1000" dirty="0"/>
                        <a:t>No</a:t>
                      </a:r>
                    </a:p>
                  </a:txBody>
                  <a:tcPr anchor="ctr"/>
                </a:tc>
                <a:tc>
                  <a:txBody>
                    <a:bodyPr/>
                    <a:lstStyle/>
                    <a:p>
                      <a:pPr algn="ctr"/>
                      <a:r>
                        <a:rPr lang="en-US" sz="1000" dirty="0"/>
                        <a:t>Yes</a:t>
                      </a:r>
                    </a:p>
                  </a:txBody>
                  <a:tcPr anchor="ctr"/>
                </a:tc>
                <a:extLst>
                  <a:ext uri="{0D108BD9-81ED-4DB2-BD59-A6C34878D82A}">
                    <a16:rowId xmlns:a16="http://schemas.microsoft.com/office/drawing/2014/main" val="410520122"/>
                  </a:ext>
                </a:extLst>
              </a:tr>
              <a:tr h="304893">
                <a:tc>
                  <a:txBody>
                    <a:bodyPr/>
                    <a:lstStyle/>
                    <a:p>
                      <a:r>
                        <a:rPr lang="en-US" sz="1000" dirty="0"/>
                        <a:t>Installation</a:t>
                      </a:r>
                    </a:p>
                  </a:txBody>
                  <a:tcPr anchor="ctr"/>
                </a:tc>
                <a:tc>
                  <a:txBody>
                    <a:bodyPr/>
                    <a:lstStyle/>
                    <a:p>
                      <a:pPr algn="ctr"/>
                      <a:r>
                        <a:rPr lang="en-US" sz="1000" dirty="0"/>
                        <a:t>Manual on each computer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Manual on each computer</a:t>
                      </a:r>
                    </a:p>
                  </a:txBody>
                  <a:tcPr anchor="ctr"/>
                </a:tc>
                <a:tc>
                  <a:txBody>
                    <a:bodyPr/>
                    <a:lstStyle/>
                    <a:p>
                      <a:pPr algn="ctr"/>
                      <a:r>
                        <a:rPr lang="en-US" sz="1000" dirty="0"/>
                        <a:t>Automated by FCI</a:t>
                      </a:r>
                    </a:p>
                  </a:txBody>
                  <a:tcPr anchor="ctr"/>
                </a:tc>
                <a:extLst>
                  <a:ext uri="{0D108BD9-81ED-4DB2-BD59-A6C34878D82A}">
                    <a16:rowId xmlns:a16="http://schemas.microsoft.com/office/drawing/2014/main" val="4124086113"/>
                  </a:ext>
                </a:extLst>
              </a:tr>
              <a:tr h="518316">
                <a:tc>
                  <a:txBody>
                    <a:bodyPr/>
                    <a:lstStyle/>
                    <a:p>
                      <a:r>
                        <a:rPr lang="en-US" sz="1000" dirty="0"/>
                        <a:t>Tamper Protection: Users and Hackers cannot uninstall it</a:t>
                      </a:r>
                    </a:p>
                  </a:txBody>
                  <a:tcPr anchor="ctr"/>
                </a:tc>
                <a:tc>
                  <a:txBody>
                    <a:bodyPr/>
                    <a:lstStyle/>
                    <a:p>
                      <a:pPr algn="ctr"/>
                      <a:r>
                        <a:rPr lang="en-US" sz="1000" dirty="0"/>
                        <a:t>No</a:t>
                      </a:r>
                    </a:p>
                  </a:txBody>
                  <a:tcPr anchor="ctr"/>
                </a:tc>
                <a:tc>
                  <a:txBody>
                    <a:bodyPr/>
                    <a:lstStyle/>
                    <a:p>
                      <a:pPr algn="ctr"/>
                      <a:r>
                        <a:rPr lang="en-US" sz="1000" dirty="0"/>
                        <a:t>No</a:t>
                      </a:r>
                    </a:p>
                  </a:txBody>
                  <a:tcPr anchor="ctr"/>
                </a:tc>
                <a:tc>
                  <a:txBody>
                    <a:bodyPr/>
                    <a:lstStyle/>
                    <a:p>
                      <a:pPr algn="ctr"/>
                      <a:r>
                        <a:rPr lang="en-US" sz="1000" dirty="0"/>
                        <a:t>Yes</a:t>
                      </a:r>
                    </a:p>
                  </a:txBody>
                  <a:tcPr anchor="ctr"/>
                </a:tc>
                <a:extLst>
                  <a:ext uri="{0D108BD9-81ED-4DB2-BD59-A6C34878D82A}">
                    <a16:rowId xmlns:a16="http://schemas.microsoft.com/office/drawing/2014/main" val="1497181805"/>
                  </a:ext>
                </a:extLst>
              </a:tr>
              <a:tr h="607482">
                <a:tc>
                  <a:txBody>
                    <a:bodyPr/>
                    <a:lstStyle/>
                    <a:p>
                      <a:r>
                        <a:rPr lang="en-US" sz="1000" dirty="0"/>
                        <a:t>Always-On-VPN</a:t>
                      </a:r>
                    </a:p>
                  </a:txBody>
                  <a:tcPr anchor="ctr"/>
                </a:tc>
                <a:tc>
                  <a:txBody>
                    <a:bodyPr/>
                    <a:lstStyle/>
                    <a:p>
                      <a:pPr algn="ctr"/>
                      <a:r>
                        <a:rPr lang="en-US" sz="1000" dirty="0"/>
                        <a:t>No, users need to connect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kern="1200" dirty="0">
                          <a:solidFill>
                            <a:schemeClr val="dk1"/>
                          </a:solidFill>
                        </a:rPr>
                        <a:t>No, users need to connect</a:t>
                      </a:r>
                      <a:endParaRPr lang="en-US" sz="1000" kern="1200" dirty="0">
                        <a:solidFill>
                          <a:schemeClr val="dk1"/>
                        </a:solidFill>
                        <a:latin typeface="+mn-lt"/>
                        <a:ea typeface="+mn-ea"/>
                        <a:cs typeface="+mn-cs"/>
                      </a:endParaRPr>
                    </a:p>
                  </a:txBody>
                  <a:tcPr anchor="ctr"/>
                </a:tc>
                <a:tc>
                  <a:txBody>
                    <a:bodyPr/>
                    <a:lstStyle/>
                    <a:p>
                      <a:pPr algn="ctr"/>
                      <a:r>
                        <a:rPr lang="en-US" sz="1000" dirty="0"/>
                        <a:t>Yes, always connected</a:t>
                      </a:r>
                      <a:br>
                        <a:rPr lang="en-US" sz="1000" dirty="0"/>
                      </a:br>
                      <a:r>
                        <a:rPr lang="en-US" sz="1000" kern="1200" dirty="0">
                          <a:solidFill>
                            <a:schemeClr val="tx1">
                              <a:lumMod val="50000"/>
                              <a:lumOff val="50000"/>
                            </a:schemeClr>
                          </a:solidFill>
                        </a:rPr>
                        <a:t>with configuration option to allow temporary disablement with automated reactivation</a:t>
                      </a:r>
                      <a:endParaRPr lang="en-US" sz="1000" kern="1200" dirty="0">
                        <a:solidFill>
                          <a:schemeClr val="tx1">
                            <a:lumMod val="50000"/>
                            <a:lumOff val="50000"/>
                          </a:schemeClr>
                        </a:solidFill>
                        <a:latin typeface="+mn-lt"/>
                        <a:ea typeface="+mn-ea"/>
                        <a:cs typeface="+mn-cs"/>
                      </a:endParaRPr>
                    </a:p>
                  </a:txBody>
                  <a:tcPr anchor="ctr"/>
                </a:tc>
                <a:extLst>
                  <a:ext uri="{0D108BD9-81ED-4DB2-BD59-A6C34878D82A}">
                    <a16:rowId xmlns:a16="http://schemas.microsoft.com/office/drawing/2014/main" val="3177571893"/>
                  </a:ext>
                </a:extLst>
              </a:tr>
              <a:tr h="762229">
                <a:tc>
                  <a:txBody>
                    <a:bodyPr/>
                    <a:lstStyle/>
                    <a:p>
                      <a:pPr marL="0" algn="l" defTabSz="914400" rtl="0" eaLnBrk="1" latinLnBrk="0" hangingPunct="1"/>
                      <a:r>
                        <a:rPr lang="en-US" sz="1000" kern="1200" dirty="0">
                          <a:solidFill>
                            <a:schemeClr val="dk1"/>
                          </a:solidFill>
                          <a:latin typeface="+mn-lt"/>
                          <a:ea typeface="+mn-ea"/>
                          <a:cs typeface="+mn-cs"/>
                        </a:rPr>
                        <a:t>VPN Connection</a:t>
                      </a:r>
                    </a:p>
                  </a:txBody>
                  <a:tcPr anchor="ctr"/>
                </a:tc>
                <a:tc>
                  <a:txBody>
                    <a:bodyPr/>
                    <a:lstStyle/>
                    <a:p>
                      <a:pPr marL="0" algn="ctr" defTabSz="914400" rtl="0" eaLnBrk="1" latinLnBrk="0" hangingPunct="1"/>
                      <a:r>
                        <a:rPr lang="en-US" sz="1000" kern="1200" dirty="0">
                          <a:solidFill>
                            <a:schemeClr val="dk1"/>
                          </a:solidFill>
                          <a:latin typeface="+mn-lt"/>
                          <a:ea typeface="+mn-ea"/>
                          <a:cs typeface="+mn-cs"/>
                        </a:rPr>
                        <a:t>Gateway VPN connects to the local Hardware Firewall (VPN not available if Firewall is not available)</a:t>
                      </a:r>
                    </a:p>
                  </a:txBody>
                  <a:tcPr anchor="ctr"/>
                </a:tc>
                <a:tc>
                  <a:txBody>
                    <a:bodyPr/>
                    <a:lstStyle/>
                    <a:p>
                      <a:pPr marL="0" algn="ctr" defTabSz="914400" rtl="0" eaLnBrk="1" latinLnBrk="0" hangingPunct="1"/>
                      <a:r>
                        <a:rPr lang="en-US" sz="1000" kern="1200" dirty="0">
                          <a:solidFill>
                            <a:schemeClr val="dk1"/>
                          </a:solidFill>
                          <a:latin typeface="+mn-lt"/>
                          <a:ea typeface="+mn-ea"/>
                          <a:cs typeface="+mn-cs"/>
                        </a:rPr>
                        <a:t>VPN connects to the VPN provider</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kern="1200" dirty="0">
                          <a:solidFill>
                            <a:schemeClr val="dk1"/>
                          </a:solidFill>
                          <a:latin typeface="+mn-lt"/>
                          <a:ea typeface="+mn-ea"/>
                          <a:cs typeface="+mn-cs"/>
                        </a:rPr>
                        <a:t>Always-On-VPN connects to the Cloud-Based Firewall</a:t>
                      </a:r>
                    </a:p>
                  </a:txBody>
                  <a:tcPr anchor="ctr"/>
                </a:tc>
                <a:extLst>
                  <a:ext uri="{0D108BD9-81ED-4DB2-BD59-A6C34878D82A}">
                    <a16:rowId xmlns:a16="http://schemas.microsoft.com/office/drawing/2014/main" val="224538348"/>
                  </a:ext>
                </a:extLst>
              </a:tr>
              <a:tr h="776227">
                <a:tc>
                  <a:txBody>
                    <a:bodyPr/>
                    <a:lstStyle/>
                    <a:p>
                      <a:r>
                        <a:rPr lang="en-US" sz="1000" dirty="0"/>
                        <a:t>Meet Regulatory Firewall Requirements</a:t>
                      </a:r>
                    </a:p>
                    <a:p>
                      <a:r>
                        <a:rPr lang="en-US" sz="1000" dirty="0">
                          <a:solidFill>
                            <a:schemeClr val="tx1">
                              <a:lumMod val="50000"/>
                              <a:lumOff val="50000"/>
                            </a:schemeClr>
                          </a:solidFill>
                        </a:rPr>
                        <a:t>Remote Communications (Intrusion Prevention System (IPS), Secure Web Gateway, Full SSL Inspection, URL and Content Filtering</a:t>
                      </a:r>
                    </a:p>
                  </a:txBody>
                  <a:tcPr anchor="ctr"/>
                </a:tc>
                <a:tc>
                  <a:txBody>
                    <a:bodyPr/>
                    <a:lstStyle/>
                    <a:p>
                      <a:pPr algn="ctr"/>
                      <a:r>
                        <a:rPr lang="en-US" sz="1000" dirty="0"/>
                        <a:t>Yes</a:t>
                      </a:r>
                    </a:p>
                  </a:txBody>
                  <a:tcPr anchor="ctr"/>
                </a:tc>
                <a:tc>
                  <a:txBody>
                    <a:bodyPr/>
                    <a:lstStyle/>
                    <a:p>
                      <a:pPr algn="ctr"/>
                      <a:r>
                        <a:rPr lang="en-US" sz="1000" dirty="0"/>
                        <a:t>No</a:t>
                      </a:r>
                    </a:p>
                  </a:txBody>
                  <a:tcPr anchor="ctr"/>
                </a:tc>
                <a:tc>
                  <a:txBody>
                    <a:bodyPr/>
                    <a:lstStyle/>
                    <a:p>
                      <a:pPr algn="ctr"/>
                      <a:r>
                        <a:rPr lang="en-US" sz="1000"/>
                        <a:t>Yes</a:t>
                      </a:r>
                    </a:p>
                  </a:txBody>
                  <a:tcPr anchor="ctr"/>
                </a:tc>
                <a:extLst>
                  <a:ext uri="{0D108BD9-81ED-4DB2-BD59-A6C34878D82A}">
                    <a16:rowId xmlns:a16="http://schemas.microsoft.com/office/drawing/2014/main" val="3387226587"/>
                  </a:ext>
                </a:extLst>
              </a:tr>
              <a:tr h="304893">
                <a:tc>
                  <a:txBody>
                    <a:bodyPr/>
                    <a:lstStyle/>
                    <a:p>
                      <a:r>
                        <a:rPr lang="en-US" sz="1000"/>
                        <a:t>Log Retention Control</a:t>
                      </a:r>
                    </a:p>
                  </a:txBody>
                  <a:tcPr anchor="ctr"/>
                </a:tc>
                <a:tc>
                  <a:txBody>
                    <a:bodyPr/>
                    <a:lstStyle/>
                    <a:p>
                      <a:pPr algn="ctr"/>
                      <a:r>
                        <a:rPr lang="en-US" sz="1000" dirty="0"/>
                        <a:t>Yes, in the Firewall</a:t>
                      </a:r>
                    </a:p>
                  </a:txBody>
                  <a:tcPr anchor="ctr"/>
                </a:tc>
                <a:tc>
                  <a:txBody>
                    <a:bodyPr/>
                    <a:lstStyle/>
                    <a:p>
                      <a:pPr algn="ctr"/>
                      <a:r>
                        <a:rPr lang="en-US" sz="1000" dirty="0"/>
                        <a:t>No</a:t>
                      </a:r>
                    </a:p>
                  </a:txBody>
                  <a:tcPr anchor="ctr"/>
                </a:tc>
                <a:tc>
                  <a:txBody>
                    <a:bodyPr/>
                    <a:lstStyle/>
                    <a:p>
                      <a:pPr algn="ctr"/>
                      <a:r>
                        <a:rPr lang="en-US" sz="1000" dirty="0"/>
                        <a:t>Yes, Offsite for define period</a:t>
                      </a:r>
                    </a:p>
                  </a:txBody>
                  <a:tcPr anchor="ctr"/>
                </a:tc>
                <a:extLst>
                  <a:ext uri="{0D108BD9-81ED-4DB2-BD59-A6C34878D82A}">
                    <a16:rowId xmlns:a16="http://schemas.microsoft.com/office/drawing/2014/main" val="2348316704"/>
                  </a:ext>
                </a:extLst>
              </a:tr>
              <a:tr h="304893">
                <a:tc>
                  <a:txBody>
                    <a:bodyPr/>
                    <a:lstStyle/>
                    <a:p>
                      <a:r>
                        <a:rPr lang="en-US" sz="1000"/>
                        <a:t>Server and Traffic Locations</a:t>
                      </a:r>
                    </a:p>
                  </a:txBody>
                  <a:tcPr anchor="ctr"/>
                </a:tc>
                <a:tc>
                  <a:txBody>
                    <a:bodyPr/>
                    <a:lstStyle/>
                    <a:p>
                      <a:pPr algn="ctr"/>
                      <a:r>
                        <a:rPr lang="en-US" sz="1000" dirty="0"/>
                        <a:t>Yes</a:t>
                      </a:r>
                    </a:p>
                  </a:txBody>
                  <a:tcPr anchor="ctr"/>
                </a:tc>
                <a:tc>
                  <a:txBody>
                    <a:bodyPr/>
                    <a:lstStyle/>
                    <a:p>
                      <a:pPr algn="ctr"/>
                      <a:r>
                        <a:rPr lang="en-US" sz="1000" dirty="0"/>
                        <a:t>No</a:t>
                      </a:r>
                    </a:p>
                  </a:txBody>
                  <a:tcPr anchor="ctr"/>
                </a:tc>
                <a:tc>
                  <a:txBody>
                    <a:bodyPr/>
                    <a:lstStyle/>
                    <a:p>
                      <a:pPr algn="ctr"/>
                      <a:r>
                        <a:rPr lang="en-US" sz="1000" dirty="0"/>
                        <a:t>Yes, configured centrally</a:t>
                      </a:r>
                    </a:p>
                  </a:txBody>
                  <a:tcPr anchor="ctr"/>
                </a:tc>
                <a:extLst>
                  <a:ext uri="{0D108BD9-81ED-4DB2-BD59-A6C34878D82A}">
                    <a16:rowId xmlns:a16="http://schemas.microsoft.com/office/drawing/2014/main" val="1845943995"/>
                  </a:ext>
                </a:extLst>
              </a:tr>
              <a:tr h="304893">
                <a:tc>
                  <a:txBody>
                    <a:bodyPr/>
                    <a:lstStyle/>
                    <a:p>
                      <a:r>
                        <a:rPr lang="en-US" sz="1000"/>
                        <a:t>Centralized User Management</a:t>
                      </a:r>
                    </a:p>
                  </a:txBody>
                  <a:tcPr anchor="ctr"/>
                </a:tc>
                <a:tc>
                  <a:txBody>
                    <a:bodyPr/>
                    <a:lstStyle/>
                    <a:p>
                      <a:pPr algn="ctr"/>
                      <a:r>
                        <a:rPr lang="en-US" sz="1000" dirty="0"/>
                        <a:t>Yes, manually in the Firewall management portal</a:t>
                      </a:r>
                    </a:p>
                  </a:txBody>
                  <a:tcPr anchor="ctr"/>
                </a:tc>
                <a:tc>
                  <a:txBody>
                    <a:bodyPr/>
                    <a:lstStyle/>
                    <a:p>
                      <a:pPr algn="ctr"/>
                      <a:r>
                        <a:rPr lang="en-US" sz="1000" dirty="0"/>
                        <a:t>Yes, manually in the Retail VPN Portal</a:t>
                      </a:r>
                    </a:p>
                  </a:txBody>
                  <a:tcPr anchor="ctr"/>
                </a:tc>
                <a:tc>
                  <a:txBody>
                    <a:bodyPr/>
                    <a:lstStyle/>
                    <a:p>
                      <a:pPr algn="ctr"/>
                      <a:r>
                        <a:rPr lang="en-US" sz="1000" dirty="0"/>
                        <a:t>Yes, automated by FCI</a:t>
                      </a:r>
                    </a:p>
                  </a:txBody>
                  <a:tcPr anchor="ctr"/>
                </a:tc>
                <a:extLst>
                  <a:ext uri="{0D108BD9-81ED-4DB2-BD59-A6C34878D82A}">
                    <a16:rowId xmlns:a16="http://schemas.microsoft.com/office/drawing/2014/main" val="1950558517"/>
                  </a:ext>
                </a:extLst>
              </a:tr>
              <a:tr h="438737">
                <a:tc>
                  <a:txBody>
                    <a:bodyPr/>
                    <a:lstStyle/>
                    <a:p>
                      <a:r>
                        <a:rPr lang="en-US" sz="1000" dirty="0"/>
                        <a:t>Vendor Risk Management &amp; Due Diligence</a:t>
                      </a:r>
                    </a:p>
                  </a:txBody>
                  <a:tcPr anchor="ctr"/>
                </a:tc>
                <a:tc>
                  <a:txBody>
                    <a:bodyPr/>
                    <a:lstStyle/>
                    <a:p>
                      <a:pPr algn="ctr"/>
                      <a:r>
                        <a:rPr lang="en-US" sz="1000" dirty="0"/>
                        <a:t>During the purchasing process of the firewall hardware</a:t>
                      </a:r>
                    </a:p>
                  </a:txBody>
                  <a:tcPr anchor="ctr"/>
                </a:tc>
                <a:tc>
                  <a:txBody>
                    <a:bodyPr/>
                    <a:lstStyle/>
                    <a:p>
                      <a:pPr algn="ctr"/>
                      <a:r>
                        <a:rPr lang="en-US" sz="1000" dirty="0"/>
                        <a:t>Client need to do</a:t>
                      </a:r>
                    </a:p>
                  </a:txBody>
                  <a:tcPr anchor="ctr"/>
                </a:tc>
                <a:tc>
                  <a:txBody>
                    <a:bodyPr/>
                    <a:lstStyle/>
                    <a:p>
                      <a:pPr algn="ctr"/>
                      <a:r>
                        <a:rPr lang="en-US" sz="1000" dirty="0"/>
                        <a:t>FCI does</a:t>
                      </a:r>
                    </a:p>
                  </a:txBody>
                  <a:tcPr anchor="ctr"/>
                </a:tc>
                <a:extLst>
                  <a:ext uri="{0D108BD9-81ED-4DB2-BD59-A6C34878D82A}">
                    <a16:rowId xmlns:a16="http://schemas.microsoft.com/office/drawing/2014/main" val="2606668696"/>
                  </a:ext>
                </a:extLst>
              </a:tr>
              <a:tr h="304893">
                <a:tc>
                  <a:txBody>
                    <a:bodyPr/>
                    <a:lstStyle/>
                    <a:p>
                      <a:r>
                        <a:rPr lang="en-US" sz="1000" dirty="0"/>
                        <a:t>Advanced configuration for Remote Access</a:t>
                      </a:r>
                    </a:p>
                  </a:txBody>
                  <a:tcPr anchor="ctr"/>
                </a:tc>
                <a:tc>
                  <a:txBody>
                    <a:bodyPr/>
                    <a:lstStyle/>
                    <a:p>
                      <a:pPr algn="ctr"/>
                      <a:r>
                        <a:rPr lang="en-US" sz="1000" dirty="0"/>
                        <a:t>Yes</a:t>
                      </a:r>
                    </a:p>
                  </a:txBody>
                  <a:tcPr anchor="ctr"/>
                </a:tc>
                <a:tc>
                  <a:txBody>
                    <a:bodyPr/>
                    <a:lstStyle/>
                    <a:p>
                      <a:pPr algn="ctr"/>
                      <a:r>
                        <a:rPr lang="en-US" sz="1000" dirty="0"/>
                        <a:t>Yes, with Enterprise version</a:t>
                      </a:r>
                    </a:p>
                  </a:txBody>
                  <a:tcPr anchor="ctr"/>
                </a:tc>
                <a:tc>
                  <a:txBody>
                    <a:bodyPr/>
                    <a:lstStyle/>
                    <a:p>
                      <a:pPr algn="ctr"/>
                      <a:r>
                        <a:rPr lang="en-US" sz="1000" dirty="0"/>
                        <a:t>Yes</a:t>
                      </a:r>
                    </a:p>
                  </a:txBody>
                  <a:tcPr anchor="ctr"/>
                </a:tc>
                <a:extLst>
                  <a:ext uri="{0D108BD9-81ED-4DB2-BD59-A6C34878D82A}">
                    <a16:rowId xmlns:a16="http://schemas.microsoft.com/office/drawing/2014/main" val="921143361"/>
                  </a:ext>
                </a:extLst>
              </a:tr>
            </a:tbl>
          </a:graphicData>
        </a:graphic>
      </p:graphicFrame>
      <p:pic>
        <p:nvPicPr>
          <p:cNvPr id="7" name="Google Shape;14;p2">
            <a:extLst>
              <a:ext uri="{FF2B5EF4-FFF2-40B4-BE49-F238E27FC236}">
                <a16:creationId xmlns:a16="http://schemas.microsoft.com/office/drawing/2014/main" id="{3186C448-5B24-1D95-1C84-AD55FC72C1CB}"/>
              </a:ext>
            </a:extLst>
          </p:cNvPr>
          <p:cNvPicPr preferRelativeResize="0"/>
          <p:nvPr/>
        </p:nvPicPr>
        <p:blipFill rotWithShape="1">
          <a:blip r:embed="rId2" cstate="print">
            <a:alphaModFix/>
            <a:extLst>
              <a:ext uri="{28A0092B-C50C-407E-A947-70E740481C1C}">
                <a14:useLocalDpi xmlns:a14="http://schemas.microsoft.com/office/drawing/2010/main"/>
              </a:ext>
            </a:extLst>
          </a:blip>
          <a:srcRect/>
          <a:stretch/>
        </p:blipFill>
        <p:spPr>
          <a:xfrm>
            <a:off x="10120729" y="291320"/>
            <a:ext cx="497970" cy="609176"/>
          </a:xfrm>
          <a:prstGeom prst="rect">
            <a:avLst/>
          </a:prstGeom>
          <a:noFill/>
          <a:ln>
            <a:noFill/>
          </a:ln>
        </p:spPr>
      </p:pic>
    </p:spTree>
    <p:extLst>
      <p:ext uri="{BB962C8B-B14F-4D97-AF65-F5344CB8AC3E}">
        <p14:creationId xmlns:p14="http://schemas.microsoft.com/office/powerpoint/2010/main" val="747910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C1F51D5-45B4-691C-6AFC-850ABDE6D956}"/>
              </a:ext>
            </a:extLst>
          </p:cNvPr>
          <p:cNvPicPr>
            <a:picLocks noChangeAspect="1"/>
          </p:cNvPicPr>
          <p:nvPr/>
        </p:nvPicPr>
        <p:blipFill>
          <a:blip r:embed="rId2"/>
          <a:stretch>
            <a:fillRect/>
          </a:stretch>
        </p:blipFill>
        <p:spPr>
          <a:xfrm>
            <a:off x="0" y="25298"/>
            <a:ext cx="12192000" cy="6947556"/>
          </a:xfrm>
          <a:prstGeom prst="rect">
            <a:avLst/>
          </a:prstGeom>
        </p:spPr>
      </p:pic>
      <p:grpSp>
        <p:nvGrpSpPr>
          <p:cNvPr id="24" name="Group 23">
            <a:extLst>
              <a:ext uri="{FF2B5EF4-FFF2-40B4-BE49-F238E27FC236}">
                <a16:creationId xmlns:a16="http://schemas.microsoft.com/office/drawing/2014/main" id="{6A8C20E9-3AC0-BEFA-E211-EA618B44D5BD}"/>
              </a:ext>
            </a:extLst>
          </p:cNvPr>
          <p:cNvGrpSpPr/>
          <p:nvPr/>
        </p:nvGrpSpPr>
        <p:grpSpPr>
          <a:xfrm>
            <a:off x="296599" y="1677601"/>
            <a:ext cx="3910657" cy="5155101"/>
            <a:chOff x="0" y="796541"/>
            <a:chExt cx="3697153" cy="4873656"/>
          </a:xfrm>
        </p:grpSpPr>
        <p:pic>
          <p:nvPicPr>
            <p:cNvPr id="4" name="Picture 3">
              <a:extLst>
                <a:ext uri="{FF2B5EF4-FFF2-40B4-BE49-F238E27FC236}">
                  <a16:creationId xmlns:a16="http://schemas.microsoft.com/office/drawing/2014/main" id="{BC191E2D-323D-A384-6700-4FEB5A5E1E2A}"/>
                </a:ext>
              </a:extLst>
            </p:cNvPr>
            <p:cNvPicPr>
              <a:picLocks noChangeAspect="1"/>
            </p:cNvPicPr>
            <p:nvPr/>
          </p:nvPicPr>
          <p:blipFill>
            <a:blip r:embed="rId3"/>
            <a:srcRect t="5574" b="60119"/>
            <a:stretch>
              <a:fillRect/>
            </a:stretch>
          </p:blipFill>
          <p:spPr>
            <a:xfrm>
              <a:off x="0" y="796541"/>
              <a:ext cx="3697153" cy="4873656"/>
            </a:xfrm>
            <a:prstGeom prst="rect">
              <a:avLst/>
            </a:prstGeom>
          </p:spPr>
        </p:pic>
        <p:pic>
          <p:nvPicPr>
            <p:cNvPr id="8" name="Picture 7">
              <a:extLst>
                <a:ext uri="{FF2B5EF4-FFF2-40B4-BE49-F238E27FC236}">
                  <a16:creationId xmlns:a16="http://schemas.microsoft.com/office/drawing/2014/main" id="{C437D211-994F-8195-7B27-567C94D3162A}"/>
                </a:ext>
              </a:extLst>
            </p:cNvPr>
            <p:cNvPicPr>
              <a:picLocks noChangeAspect="1"/>
            </p:cNvPicPr>
            <p:nvPr/>
          </p:nvPicPr>
          <p:blipFill>
            <a:blip r:embed="rId4"/>
            <a:stretch>
              <a:fillRect/>
            </a:stretch>
          </p:blipFill>
          <p:spPr>
            <a:xfrm>
              <a:off x="677085" y="3085515"/>
              <a:ext cx="860984" cy="193900"/>
            </a:xfrm>
            <a:prstGeom prst="rect">
              <a:avLst/>
            </a:prstGeom>
          </p:spPr>
        </p:pic>
        <p:pic>
          <p:nvPicPr>
            <p:cNvPr id="10" name="Picture 9">
              <a:extLst>
                <a:ext uri="{FF2B5EF4-FFF2-40B4-BE49-F238E27FC236}">
                  <a16:creationId xmlns:a16="http://schemas.microsoft.com/office/drawing/2014/main" id="{7CDAD067-976A-94EA-F27C-9444BAFFE5B6}"/>
                </a:ext>
              </a:extLst>
            </p:cNvPr>
            <p:cNvPicPr>
              <a:picLocks noChangeAspect="1"/>
            </p:cNvPicPr>
            <p:nvPr/>
          </p:nvPicPr>
          <p:blipFill>
            <a:blip r:embed="rId4"/>
            <a:stretch>
              <a:fillRect/>
            </a:stretch>
          </p:blipFill>
          <p:spPr>
            <a:xfrm>
              <a:off x="677085" y="3910818"/>
              <a:ext cx="860984" cy="193900"/>
            </a:xfrm>
            <a:prstGeom prst="rect">
              <a:avLst/>
            </a:prstGeom>
          </p:spPr>
        </p:pic>
        <p:pic>
          <p:nvPicPr>
            <p:cNvPr id="11" name="Picture 10">
              <a:extLst>
                <a:ext uri="{FF2B5EF4-FFF2-40B4-BE49-F238E27FC236}">
                  <a16:creationId xmlns:a16="http://schemas.microsoft.com/office/drawing/2014/main" id="{C5DD4619-CFF2-98B0-7221-8A21D2B14910}"/>
                </a:ext>
              </a:extLst>
            </p:cNvPr>
            <p:cNvPicPr>
              <a:picLocks noChangeAspect="1"/>
            </p:cNvPicPr>
            <p:nvPr/>
          </p:nvPicPr>
          <p:blipFill>
            <a:blip r:embed="rId4"/>
            <a:stretch>
              <a:fillRect/>
            </a:stretch>
          </p:blipFill>
          <p:spPr>
            <a:xfrm>
              <a:off x="644262" y="4609514"/>
              <a:ext cx="860984" cy="193900"/>
            </a:xfrm>
            <a:prstGeom prst="rect">
              <a:avLst/>
            </a:prstGeom>
          </p:spPr>
        </p:pic>
        <p:pic>
          <p:nvPicPr>
            <p:cNvPr id="12" name="Picture 11">
              <a:extLst>
                <a:ext uri="{FF2B5EF4-FFF2-40B4-BE49-F238E27FC236}">
                  <a16:creationId xmlns:a16="http://schemas.microsoft.com/office/drawing/2014/main" id="{D22DB9FC-8BE2-58AF-7631-D947510F52A6}"/>
                </a:ext>
              </a:extLst>
            </p:cNvPr>
            <p:cNvPicPr>
              <a:picLocks noChangeAspect="1"/>
            </p:cNvPicPr>
            <p:nvPr/>
          </p:nvPicPr>
          <p:blipFill>
            <a:blip r:embed="rId4"/>
            <a:stretch>
              <a:fillRect/>
            </a:stretch>
          </p:blipFill>
          <p:spPr>
            <a:xfrm>
              <a:off x="644262" y="5294143"/>
              <a:ext cx="860984" cy="193900"/>
            </a:xfrm>
            <a:prstGeom prst="rect">
              <a:avLst/>
            </a:prstGeom>
          </p:spPr>
        </p:pic>
      </p:grpSp>
      <p:grpSp>
        <p:nvGrpSpPr>
          <p:cNvPr id="26" name="Group 25">
            <a:extLst>
              <a:ext uri="{FF2B5EF4-FFF2-40B4-BE49-F238E27FC236}">
                <a16:creationId xmlns:a16="http://schemas.microsoft.com/office/drawing/2014/main" id="{E07AA884-2EAD-1E3A-2842-D2A8ED153B81}"/>
              </a:ext>
            </a:extLst>
          </p:cNvPr>
          <p:cNvGrpSpPr/>
          <p:nvPr/>
        </p:nvGrpSpPr>
        <p:grpSpPr>
          <a:xfrm>
            <a:off x="4142210" y="1672913"/>
            <a:ext cx="3910657" cy="4646573"/>
            <a:chOff x="4042318" y="791852"/>
            <a:chExt cx="3697153" cy="4392891"/>
          </a:xfrm>
        </p:grpSpPr>
        <p:pic>
          <p:nvPicPr>
            <p:cNvPr id="5" name="Picture 4">
              <a:extLst>
                <a:ext uri="{FF2B5EF4-FFF2-40B4-BE49-F238E27FC236}">
                  <a16:creationId xmlns:a16="http://schemas.microsoft.com/office/drawing/2014/main" id="{28DBFC7C-DEB5-2A14-A817-E23413B8CD4C}"/>
                </a:ext>
              </a:extLst>
            </p:cNvPr>
            <p:cNvPicPr>
              <a:picLocks noChangeAspect="1"/>
            </p:cNvPicPr>
            <p:nvPr/>
          </p:nvPicPr>
          <p:blipFill>
            <a:blip r:embed="rId3"/>
            <a:srcRect t="38970" b="30107"/>
            <a:stretch>
              <a:fillRect/>
            </a:stretch>
          </p:blipFill>
          <p:spPr>
            <a:xfrm>
              <a:off x="4042318" y="791852"/>
              <a:ext cx="3697153" cy="4392891"/>
            </a:xfrm>
            <a:prstGeom prst="rect">
              <a:avLst/>
            </a:prstGeom>
          </p:spPr>
        </p:pic>
        <p:pic>
          <p:nvPicPr>
            <p:cNvPr id="13" name="Picture 12">
              <a:extLst>
                <a:ext uri="{FF2B5EF4-FFF2-40B4-BE49-F238E27FC236}">
                  <a16:creationId xmlns:a16="http://schemas.microsoft.com/office/drawing/2014/main" id="{48E71896-939F-0FAA-54BB-18B07F878784}"/>
                </a:ext>
              </a:extLst>
            </p:cNvPr>
            <p:cNvPicPr>
              <a:picLocks noChangeAspect="1"/>
            </p:cNvPicPr>
            <p:nvPr/>
          </p:nvPicPr>
          <p:blipFill>
            <a:blip r:embed="rId4"/>
            <a:stretch>
              <a:fillRect/>
            </a:stretch>
          </p:blipFill>
          <p:spPr>
            <a:xfrm>
              <a:off x="4677000" y="4919004"/>
              <a:ext cx="860984" cy="193900"/>
            </a:xfrm>
            <a:prstGeom prst="rect">
              <a:avLst/>
            </a:prstGeom>
          </p:spPr>
        </p:pic>
        <p:pic>
          <p:nvPicPr>
            <p:cNvPr id="14" name="Picture 13">
              <a:extLst>
                <a:ext uri="{FF2B5EF4-FFF2-40B4-BE49-F238E27FC236}">
                  <a16:creationId xmlns:a16="http://schemas.microsoft.com/office/drawing/2014/main" id="{EA2931EF-9AF7-0460-C612-4FF464760628}"/>
                </a:ext>
              </a:extLst>
            </p:cNvPr>
            <p:cNvPicPr>
              <a:picLocks noChangeAspect="1"/>
            </p:cNvPicPr>
            <p:nvPr/>
          </p:nvPicPr>
          <p:blipFill>
            <a:blip r:embed="rId4"/>
            <a:stretch>
              <a:fillRect/>
            </a:stretch>
          </p:blipFill>
          <p:spPr>
            <a:xfrm>
              <a:off x="4677000" y="4234376"/>
              <a:ext cx="860984" cy="193900"/>
            </a:xfrm>
            <a:prstGeom prst="rect">
              <a:avLst/>
            </a:prstGeom>
          </p:spPr>
        </p:pic>
        <p:pic>
          <p:nvPicPr>
            <p:cNvPr id="15" name="Picture 14">
              <a:extLst>
                <a:ext uri="{FF2B5EF4-FFF2-40B4-BE49-F238E27FC236}">
                  <a16:creationId xmlns:a16="http://schemas.microsoft.com/office/drawing/2014/main" id="{AE63DA04-0614-B236-8BD3-59F763463C41}"/>
                </a:ext>
              </a:extLst>
            </p:cNvPr>
            <p:cNvPicPr>
              <a:picLocks noChangeAspect="1"/>
            </p:cNvPicPr>
            <p:nvPr/>
          </p:nvPicPr>
          <p:blipFill>
            <a:blip r:embed="rId4"/>
            <a:stretch>
              <a:fillRect/>
            </a:stretch>
          </p:blipFill>
          <p:spPr>
            <a:xfrm>
              <a:off x="4676999" y="3310597"/>
              <a:ext cx="1353351" cy="389206"/>
            </a:xfrm>
            <a:prstGeom prst="rect">
              <a:avLst/>
            </a:prstGeom>
          </p:spPr>
        </p:pic>
        <p:pic>
          <p:nvPicPr>
            <p:cNvPr id="16" name="Picture 15">
              <a:extLst>
                <a:ext uri="{FF2B5EF4-FFF2-40B4-BE49-F238E27FC236}">
                  <a16:creationId xmlns:a16="http://schemas.microsoft.com/office/drawing/2014/main" id="{311681FD-6FA9-B6C0-E69A-5B305B33A7CD}"/>
                </a:ext>
              </a:extLst>
            </p:cNvPr>
            <p:cNvPicPr>
              <a:picLocks noChangeAspect="1"/>
            </p:cNvPicPr>
            <p:nvPr/>
          </p:nvPicPr>
          <p:blipFill>
            <a:blip r:embed="rId4"/>
            <a:stretch>
              <a:fillRect/>
            </a:stretch>
          </p:blipFill>
          <p:spPr>
            <a:xfrm>
              <a:off x="4677000" y="2583766"/>
              <a:ext cx="860984" cy="193900"/>
            </a:xfrm>
            <a:prstGeom prst="rect">
              <a:avLst/>
            </a:prstGeom>
          </p:spPr>
        </p:pic>
        <p:pic>
          <p:nvPicPr>
            <p:cNvPr id="17" name="Picture 16">
              <a:extLst>
                <a:ext uri="{FF2B5EF4-FFF2-40B4-BE49-F238E27FC236}">
                  <a16:creationId xmlns:a16="http://schemas.microsoft.com/office/drawing/2014/main" id="{423E3104-B0AF-5E05-DFB1-BC32E547FB73}"/>
                </a:ext>
              </a:extLst>
            </p:cNvPr>
            <p:cNvPicPr>
              <a:picLocks noChangeAspect="1"/>
            </p:cNvPicPr>
            <p:nvPr/>
          </p:nvPicPr>
          <p:blipFill>
            <a:blip r:embed="rId4"/>
            <a:stretch>
              <a:fillRect/>
            </a:stretch>
          </p:blipFill>
          <p:spPr>
            <a:xfrm>
              <a:off x="4677000" y="1927273"/>
              <a:ext cx="860984" cy="193900"/>
            </a:xfrm>
            <a:prstGeom prst="rect">
              <a:avLst/>
            </a:prstGeom>
          </p:spPr>
        </p:pic>
      </p:grpSp>
      <p:grpSp>
        <p:nvGrpSpPr>
          <p:cNvPr id="27" name="Group 26">
            <a:extLst>
              <a:ext uri="{FF2B5EF4-FFF2-40B4-BE49-F238E27FC236}">
                <a16:creationId xmlns:a16="http://schemas.microsoft.com/office/drawing/2014/main" id="{5A1B0A93-CC00-B5FF-86D7-C98FF1929447}"/>
              </a:ext>
            </a:extLst>
          </p:cNvPr>
          <p:cNvGrpSpPr/>
          <p:nvPr/>
        </p:nvGrpSpPr>
        <p:grpSpPr>
          <a:xfrm>
            <a:off x="7987821" y="1672912"/>
            <a:ext cx="3910657" cy="3685963"/>
            <a:chOff x="8084636" y="791852"/>
            <a:chExt cx="3697153" cy="3484726"/>
          </a:xfrm>
        </p:grpSpPr>
        <p:pic>
          <p:nvPicPr>
            <p:cNvPr id="6" name="Picture 5">
              <a:extLst>
                <a:ext uri="{FF2B5EF4-FFF2-40B4-BE49-F238E27FC236}">
                  <a16:creationId xmlns:a16="http://schemas.microsoft.com/office/drawing/2014/main" id="{16009CB7-F6BE-FC41-C51E-E8BE10D9AE9E}"/>
                </a:ext>
              </a:extLst>
            </p:cNvPr>
            <p:cNvPicPr>
              <a:picLocks noChangeAspect="1"/>
            </p:cNvPicPr>
            <p:nvPr/>
          </p:nvPicPr>
          <p:blipFill>
            <a:blip r:embed="rId3"/>
            <a:srcRect t="70404" b="5066"/>
            <a:stretch>
              <a:fillRect/>
            </a:stretch>
          </p:blipFill>
          <p:spPr>
            <a:xfrm>
              <a:off x="8084636" y="791852"/>
              <a:ext cx="3697153" cy="3484726"/>
            </a:xfrm>
            <a:prstGeom prst="rect">
              <a:avLst/>
            </a:prstGeom>
          </p:spPr>
        </p:pic>
        <p:pic>
          <p:nvPicPr>
            <p:cNvPr id="18" name="Picture 17">
              <a:extLst>
                <a:ext uri="{FF2B5EF4-FFF2-40B4-BE49-F238E27FC236}">
                  <a16:creationId xmlns:a16="http://schemas.microsoft.com/office/drawing/2014/main" id="{EEEE17D6-7127-F587-3D15-33CB066D4261}"/>
                </a:ext>
              </a:extLst>
            </p:cNvPr>
            <p:cNvPicPr>
              <a:picLocks noChangeAspect="1"/>
            </p:cNvPicPr>
            <p:nvPr/>
          </p:nvPicPr>
          <p:blipFill>
            <a:blip r:embed="rId4"/>
            <a:stretch>
              <a:fillRect/>
            </a:stretch>
          </p:blipFill>
          <p:spPr>
            <a:xfrm>
              <a:off x="8751941" y="1806878"/>
              <a:ext cx="1173526" cy="193900"/>
            </a:xfrm>
            <a:prstGeom prst="rect">
              <a:avLst/>
            </a:prstGeom>
          </p:spPr>
        </p:pic>
        <p:pic>
          <p:nvPicPr>
            <p:cNvPr id="19" name="Picture 18">
              <a:extLst>
                <a:ext uri="{FF2B5EF4-FFF2-40B4-BE49-F238E27FC236}">
                  <a16:creationId xmlns:a16="http://schemas.microsoft.com/office/drawing/2014/main" id="{35B10B10-47A2-41B5-88F1-C9BBD298B7FA}"/>
                </a:ext>
              </a:extLst>
            </p:cNvPr>
            <p:cNvPicPr>
              <a:picLocks noChangeAspect="1"/>
            </p:cNvPicPr>
            <p:nvPr/>
          </p:nvPicPr>
          <p:blipFill>
            <a:blip r:embed="rId4"/>
            <a:stretch>
              <a:fillRect/>
            </a:stretch>
          </p:blipFill>
          <p:spPr>
            <a:xfrm>
              <a:off x="8751941" y="1122252"/>
              <a:ext cx="1173526" cy="193900"/>
            </a:xfrm>
            <a:prstGeom prst="rect">
              <a:avLst/>
            </a:prstGeom>
          </p:spPr>
        </p:pic>
        <p:pic>
          <p:nvPicPr>
            <p:cNvPr id="20" name="Picture 19">
              <a:extLst>
                <a:ext uri="{FF2B5EF4-FFF2-40B4-BE49-F238E27FC236}">
                  <a16:creationId xmlns:a16="http://schemas.microsoft.com/office/drawing/2014/main" id="{5C5B9630-B971-C3ED-C0AD-B39D2EB0BEBF}"/>
                </a:ext>
              </a:extLst>
            </p:cNvPr>
            <p:cNvPicPr>
              <a:picLocks noChangeAspect="1"/>
            </p:cNvPicPr>
            <p:nvPr/>
          </p:nvPicPr>
          <p:blipFill>
            <a:blip r:embed="rId4"/>
            <a:stretch>
              <a:fillRect/>
            </a:stretch>
          </p:blipFill>
          <p:spPr>
            <a:xfrm>
              <a:off x="8751941" y="2482127"/>
              <a:ext cx="1173526" cy="193900"/>
            </a:xfrm>
            <a:prstGeom prst="rect">
              <a:avLst/>
            </a:prstGeom>
          </p:spPr>
        </p:pic>
        <p:pic>
          <p:nvPicPr>
            <p:cNvPr id="21" name="Picture 20">
              <a:extLst>
                <a:ext uri="{FF2B5EF4-FFF2-40B4-BE49-F238E27FC236}">
                  <a16:creationId xmlns:a16="http://schemas.microsoft.com/office/drawing/2014/main" id="{5E26C2E8-197F-865A-FF13-BFB9191CEBA3}"/>
                </a:ext>
              </a:extLst>
            </p:cNvPr>
            <p:cNvPicPr>
              <a:picLocks noChangeAspect="1"/>
            </p:cNvPicPr>
            <p:nvPr/>
          </p:nvPicPr>
          <p:blipFill>
            <a:blip r:embed="rId4"/>
            <a:stretch>
              <a:fillRect/>
            </a:stretch>
          </p:blipFill>
          <p:spPr>
            <a:xfrm>
              <a:off x="8751941" y="3157375"/>
              <a:ext cx="1173526" cy="193900"/>
            </a:xfrm>
            <a:prstGeom prst="rect">
              <a:avLst/>
            </a:prstGeom>
          </p:spPr>
        </p:pic>
        <p:pic>
          <p:nvPicPr>
            <p:cNvPr id="22" name="Picture 21">
              <a:extLst>
                <a:ext uri="{FF2B5EF4-FFF2-40B4-BE49-F238E27FC236}">
                  <a16:creationId xmlns:a16="http://schemas.microsoft.com/office/drawing/2014/main" id="{11193C01-12AC-5ED6-A313-1CA1DC63EFFC}"/>
                </a:ext>
              </a:extLst>
            </p:cNvPr>
            <p:cNvPicPr>
              <a:picLocks noChangeAspect="1"/>
            </p:cNvPicPr>
            <p:nvPr/>
          </p:nvPicPr>
          <p:blipFill>
            <a:blip r:embed="rId4"/>
            <a:stretch>
              <a:fillRect/>
            </a:stretch>
          </p:blipFill>
          <p:spPr>
            <a:xfrm>
              <a:off x="8751941" y="3865445"/>
              <a:ext cx="1173526" cy="193900"/>
            </a:xfrm>
            <a:prstGeom prst="rect">
              <a:avLst/>
            </a:prstGeom>
          </p:spPr>
        </p:pic>
      </p:grpSp>
      <p:pic>
        <p:nvPicPr>
          <p:cNvPr id="28" name="Google Shape;14;p2">
            <a:extLst>
              <a:ext uri="{FF2B5EF4-FFF2-40B4-BE49-F238E27FC236}">
                <a16:creationId xmlns:a16="http://schemas.microsoft.com/office/drawing/2014/main" id="{BFB20102-CFBC-16D9-C67F-28E7B2BDF6D4}"/>
              </a:ext>
            </a:extLst>
          </p:cNvPr>
          <p:cNvPicPr preferRelativeResize="0"/>
          <p:nvPr/>
        </p:nvPicPr>
        <p:blipFill rotWithShape="1">
          <a:blip r:embed="rId5" cstate="print">
            <a:alphaModFix/>
            <a:extLst>
              <a:ext uri="{28A0092B-C50C-407E-A947-70E740481C1C}">
                <a14:useLocalDpi xmlns:a14="http://schemas.microsoft.com/office/drawing/2010/main"/>
              </a:ext>
            </a:extLst>
          </a:blip>
          <a:srcRect/>
          <a:stretch/>
        </p:blipFill>
        <p:spPr>
          <a:xfrm>
            <a:off x="10897985" y="612777"/>
            <a:ext cx="752422" cy="830258"/>
          </a:xfrm>
          <a:prstGeom prst="rect">
            <a:avLst/>
          </a:prstGeom>
          <a:noFill/>
          <a:ln>
            <a:noFill/>
          </a:ln>
        </p:spPr>
      </p:pic>
      <p:sp>
        <p:nvSpPr>
          <p:cNvPr id="29" name="Title 1">
            <a:extLst>
              <a:ext uri="{FF2B5EF4-FFF2-40B4-BE49-F238E27FC236}">
                <a16:creationId xmlns:a16="http://schemas.microsoft.com/office/drawing/2014/main" id="{38731E46-83DF-0F6A-CDA1-8E21A14765F2}"/>
              </a:ext>
            </a:extLst>
          </p:cNvPr>
          <p:cNvSpPr>
            <a:spLocks noGrp="1"/>
          </p:cNvSpPr>
          <p:nvPr>
            <p:ph type="title"/>
          </p:nvPr>
        </p:nvSpPr>
        <p:spPr>
          <a:xfrm>
            <a:off x="838200" y="365125"/>
            <a:ext cx="10515600" cy="1325563"/>
          </a:xfrm>
        </p:spPr>
        <p:txBody>
          <a:bodyPr>
            <a:normAutofit/>
          </a:bodyPr>
          <a:lstStyle/>
          <a:p>
            <a:r>
              <a:rPr lang="en-US" sz="4000" dirty="0"/>
              <a:t>Form</a:t>
            </a:r>
          </a:p>
        </p:txBody>
      </p:sp>
    </p:spTree>
    <p:extLst>
      <p:ext uri="{BB962C8B-B14F-4D97-AF65-F5344CB8AC3E}">
        <p14:creationId xmlns:p14="http://schemas.microsoft.com/office/powerpoint/2010/main" val="137978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AF27-2C76-1E21-4034-ABC09F4E89EA}"/>
              </a:ext>
            </a:extLst>
          </p:cNvPr>
          <p:cNvSpPr>
            <a:spLocks noGrp="1"/>
          </p:cNvSpPr>
          <p:nvPr>
            <p:ph type="title"/>
          </p:nvPr>
        </p:nvSpPr>
        <p:spPr/>
        <p:txBody>
          <a:bodyPr/>
          <a:lstStyle/>
          <a:p>
            <a:r>
              <a:rPr lang="en-US" dirty="0"/>
              <a:t>Pricing</a:t>
            </a:r>
          </a:p>
        </p:txBody>
      </p:sp>
      <p:sp>
        <p:nvSpPr>
          <p:cNvPr id="3" name="Content Placeholder 2">
            <a:extLst>
              <a:ext uri="{FF2B5EF4-FFF2-40B4-BE49-F238E27FC236}">
                <a16:creationId xmlns:a16="http://schemas.microsoft.com/office/drawing/2014/main" id="{65A96D76-16C8-E108-69A1-1821F5B62B96}"/>
              </a:ext>
            </a:extLst>
          </p:cNvPr>
          <p:cNvSpPr>
            <a:spLocks noGrp="1"/>
          </p:cNvSpPr>
          <p:nvPr>
            <p:ph idx="1"/>
          </p:nvPr>
        </p:nvSpPr>
        <p:spPr/>
        <p:txBody>
          <a:bodyPr>
            <a:normAutofit/>
          </a:bodyPr>
          <a:lstStyle/>
          <a:p>
            <a:pPr marL="0" indent="0">
              <a:buNone/>
            </a:pPr>
            <a:r>
              <a:rPr lang="en-US" sz="2000" dirty="0"/>
              <a:t>Implementation &amp; Advanced Configuration</a:t>
            </a:r>
          </a:p>
          <a:p>
            <a:r>
              <a:rPr lang="en-US" sz="1800" dirty="0"/>
              <a:t>VPN One-Time Implementation: $1039</a:t>
            </a:r>
          </a:p>
          <a:p>
            <a:r>
              <a:rPr lang="en-US" sz="1800" dirty="0"/>
              <a:t>Advanced Configuration One-Time Implementation and when required: Charged per Hour</a:t>
            </a:r>
          </a:p>
          <a:p>
            <a:pPr marL="0" indent="0">
              <a:buNone/>
            </a:pPr>
            <a:endParaRPr lang="en-US" sz="2000" dirty="0"/>
          </a:p>
          <a:p>
            <a:pPr marL="0" indent="0">
              <a:buNone/>
            </a:pPr>
            <a:r>
              <a:rPr lang="en-US" sz="2000" dirty="0"/>
              <a:t>Monthly, per Endpoints</a:t>
            </a:r>
          </a:p>
          <a:p>
            <a:r>
              <a:rPr lang="en-US" sz="1800" dirty="0"/>
              <a:t>VPN, Cloud-Based Firewall, per Computer, Monthly: $20</a:t>
            </a:r>
          </a:p>
          <a:p>
            <a:r>
              <a:rPr lang="en-US" sz="1800" dirty="0"/>
              <a:t>VPN, Cloud-Based Firewall, per Smartphone &amp; Tablet, Monthly: $13</a:t>
            </a:r>
          </a:p>
          <a:p>
            <a:endParaRPr lang="en-US" sz="2000" dirty="0"/>
          </a:p>
          <a:p>
            <a:pPr marL="0" indent="0">
              <a:buNone/>
            </a:pPr>
            <a:r>
              <a:rPr lang="en-US" sz="2000" dirty="0"/>
              <a:t>Monthly, For Advanced Configuration</a:t>
            </a:r>
          </a:p>
          <a:p>
            <a:r>
              <a:rPr lang="en-US" sz="1800" dirty="0"/>
              <a:t>Network VPN Tunnel, per Tunnel: $100</a:t>
            </a:r>
          </a:p>
          <a:p>
            <a:r>
              <a:rPr lang="en-US" sz="1800" dirty="0"/>
              <a:t>Endpoint Static IP, per Static IP: $100</a:t>
            </a:r>
          </a:p>
          <a:p>
            <a:pPr marL="0" indent="0">
              <a:buNone/>
            </a:pPr>
            <a:endParaRPr lang="en-US" sz="2000" dirty="0"/>
          </a:p>
        </p:txBody>
      </p:sp>
      <p:pic>
        <p:nvPicPr>
          <p:cNvPr id="4" name="Google Shape;14;p2">
            <a:extLst>
              <a:ext uri="{FF2B5EF4-FFF2-40B4-BE49-F238E27FC236}">
                <a16:creationId xmlns:a16="http://schemas.microsoft.com/office/drawing/2014/main" id="{7B752670-801B-0969-BE5A-14786A76C4DF}"/>
              </a:ext>
            </a:extLst>
          </p:cNvPr>
          <p:cNvPicPr preferRelativeResize="0"/>
          <p:nvPr/>
        </p:nvPicPr>
        <p:blipFill rotWithShape="1">
          <a:blip r:embed="rId2" cstate="print">
            <a:alphaModFix/>
            <a:extLst>
              <a:ext uri="{28A0092B-C50C-407E-A947-70E740481C1C}">
                <a14:useLocalDpi xmlns:a14="http://schemas.microsoft.com/office/drawing/2010/main"/>
              </a:ext>
            </a:extLst>
          </a:blip>
          <a:srcRect/>
          <a:stretch/>
        </p:blipFill>
        <p:spPr>
          <a:xfrm>
            <a:off x="10897985" y="612777"/>
            <a:ext cx="752422" cy="830258"/>
          </a:xfrm>
          <a:prstGeom prst="rect">
            <a:avLst/>
          </a:prstGeom>
          <a:noFill/>
          <a:ln>
            <a:noFill/>
          </a:ln>
        </p:spPr>
      </p:pic>
    </p:spTree>
    <p:extLst>
      <p:ext uri="{BB962C8B-B14F-4D97-AF65-F5344CB8AC3E}">
        <p14:creationId xmlns:p14="http://schemas.microsoft.com/office/powerpoint/2010/main" val="17317861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9728B7CB0AB0F44AD07F77726D618CF" ma:contentTypeVersion="18" ma:contentTypeDescription="Create a new document." ma:contentTypeScope="" ma:versionID="d64584f67956fb6c7123727cde55f32d">
  <xsd:schema xmlns:xsd="http://www.w3.org/2001/XMLSchema" xmlns:xs="http://www.w3.org/2001/XMLSchema" xmlns:p="http://schemas.microsoft.com/office/2006/metadata/properties" xmlns:ns2="702a17bc-2da2-4fb7-a4fb-c10936b8d7de" xmlns:ns3="7e81ff0a-7b47-4573-8501-a4583f78be9e" targetNamespace="http://schemas.microsoft.com/office/2006/metadata/properties" ma:root="true" ma:fieldsID="7e724edce0b58e36071777a41bee58bd" ns2:_="" ns3:_="">
    <xsd:import namespace="702a17bc-2da2-4fb7-a4fb-c10936b8d7de"/>
    <xsd:import namespace="7e81ff0a-7b47-4573-8501-a4583f78be9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2a17bc-2da2-4fb7-a4fb-c10936b8d7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18a034fc-6895-452d-a915-0a000c850d1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e81ff0a-7b47-4573-8501-a4583f78be9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9d230236-568f-48c0-ac19-1179709fa75a}" ma:internalName="TaxCatchAll" ma:showField="CatchAllData" ma:web="7e81ff0a-7b47-4573-8501-a4583f78be9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02a17bc-2da2-4fb7-a4fb-c10936b8d7de">
      <Terms xmlns="http://schemas.microsoft.com/office/infopath/2007/PartnerControls"/>
    </lcf76f155ced4ddcb4097134ff3c332f>
    <TaxCatchAll xmlns="7e81ff0a-7b47-4573-8501-a4583f78be9e" xsi:nil="true"/>
  </documentManagement>
</p:properties>
</file>

<file path=customXml/itemProps1.xml><?xml version="1.0" encoding="utf-8"?>
<ds:datastoreItem xmlns:ds="http://schemas.openxmlformats.org/officeDocument/2006/customXml" ds:itemID="{F1E031A1-5312-48A8-B2A6-0ACECC48E7B7}"/>
</file>

<file path=customXml/itemProps2.xml><?xml version="1.0" encoding="utf-8"?>
<ds:datastoreItem xmlns:ds="http://schemas.openxmlformats.org/officeDocument/2006/customXml" ds:itemID="{172918A7-81FC-41EF-9F04-062904361284}">
  <ds:schemaRefs>
    <ds:schemaRef ds:uri="http://schemas.microsoft.com/sharepoint/v3/contenttype/forms"/>
  </ds:schemaRefs>
</ds:datastoreItem>
</file>

<file path=customXml/itemProps3.xml><?xml version="1.0" encoding="utf-8"?>
<ds:datastoreItem xmlns:ds="http://schemas.openxmlformats.org/officeDocument/2006/customXml" ds:itemID="{A9D7D359-AB11-4767-8451-E53BD8305B15}">
  <ds:schemaRefs>
    <ds:schemaRef ds:uri="http://purl.org/dc/terms/"/>
    <ds:schemaRef ds:uri="http://purl.org/dc/dcmitype/"/>
    <ds:schemaRef ds:uri="7e81ff0a-7b47-4573-8501-a4583f78be9e"/>
    <ds:schemaRef ds:uri="http://purl.org/dc/elements/1.1/"/>
    <ds:schemaRef ds:uri="http://schemas.microsoft.com/office/2006/documentManagement/types"/>
    <ds:schemaRef ds:uri="http://schemas.microsoft.com/office/2006/metadata/properties"/>
    <ds:schemaRef ds:uri="702a17bc-2da2-4fb7-a4fb-c10936b8d7de"/>
    <ds:schemaRef ds:uri="http://schemas.microsoft.com/office/infopath/2007/PartnerControls"/>
    <ds:schemaRef ds:uri="http://schemas.openxmlformats.org/package/2006/metadata/core-properties"/>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26</TotalTime>
  <Words>629</Words>
  <Application>Microsoft Macintosh PowerPoint</Application>
  <PresentationFormat>Widescreen</PresentationFormat>
  <Paragraphs>84</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Always-On-VPN with Cloud-Based Firewall</vt:lpstr>
      <vt:lpstr>Always-On-VPN with Cloud-Based Firewall</vt:lpstr>
      <vt:lpstr>VPN Selection Criteria</vt:lpstr>
      <vt:lpstr>Form</vt:lpstr>
      <vt:lpstr>Pricing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Vincent Guyaux</dc:creator>
  <cp:lastModifiedBy>Vincent Guyaux</cp:lastModifiedBy>
  <cp:revision>1</cp:revision>
  <dcterms:created xsi:type="dcterms:W3CDTF">2026-01-25T12:44:29Z</dcterms:created>
  <dcterms:modified xsi:type="dcterms:W3CDTF">2026-01-25T13:11:44Z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0x01010029728B7CB0AB0F44AD07F77726D618CF</vt:lpwstr>
  </property>
  <property fmtid="{D5CDD505-2E9C-101B-9397-08002B2CF9AE}" pid="3" name="MediaServiceImageTags">
    <vt:lpwstr/>
  </property>
</Properties>
</file>